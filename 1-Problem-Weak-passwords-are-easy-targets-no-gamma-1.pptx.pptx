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rimo Bold" charset="1" panose="020B0704020202020204"/>
      <p:regular r:id="rId18"/>
    </p:embeddedFont>
    <p:embeddedFont>
      <p:font typeface="Calibri (MS) Bold" charset="1" panose="020F0702030404030204"/>
      <p:regular r:id="rId19"/>
    </p:embeddedFont>
    <p:embeddedFont>
      <p:font typeface="Carlito Bold" charset="1" panose="020F0502020204030204"/>
      <p:regular r:id="rId20"/>
    </p:embeddedFont>
    <p:embeddedFont>
      <p:font typeface="Carlito" charset="1" panose="020F0502020204030204"/>
      <p:regular r:id="rId21"/>
    </p:embeddedFont>
    <p:embeddedFont>
      <p:font typeface="Arimo" charset="1" panose="020B0604020202020204"/>
      <p:regular r:id="rId25"/>
    </p:embeddedFont>
    <p:embeddedFont>
      <p:font typeface="Saira" charset="1" panose="00000500000000000000"/>
      <p:regular r:id="rId26"/>
    </p:embeddedFont>
    <p:embeddedFont>
      <p:font typeface="Barlow" charset="1" panose="00000500000000000000"/>
      <p:regular r:id="rId27"/>
    </p:embeddedFont>
    <p:embeddedFont>
      <p:font typeface="Barlow Bold" charset="1" panose="00000800000000000000"/>
      <p:regular r:id="rId30"/>
    </p:embeddedFont>
    <p:embeddedFont>
      <p:font typeface="Barlow Medium" charset="1" panose="00000600000000000000"/>
      <p:regular r:id="rId31"/>
    </p:embeddedFont>
    <p:embeddedFont>
      <p:font typeface="Consolas" charset="1" panose="020B0609020204030204"/>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Masters/notesMaster1.xml" Type="http://schemas.openxmlformats.org/officeDocument/2006/relationships/notesMaster"/><Relationship Id="rId23" Target="theme/theme2.xml" Type="http://schemas.openxmlformats.org/officeDocument/2006/relationships/theme"/><Relationship Id="rId24" Target="notesSlides/notesSlide1.xml" Type="http://schemas.openxmlformats.org/officeDocument/2006/relationships/note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notesSlides/notesSlide2.xml" Type="http://schemas.openxmlformats.org/officeDocument/2006/relationships/notesSlide"/><Relationship Id="rId29" Target="notesSlides/notesSlide3.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notesSlides/notesSlide4.xml" Type="http://schemas.openxmlformats.org/officeDocument/2006/relationships/notesSlide"/><Relationship Id="rId33" Target="notesSlides/notesSlide5.xml" Type="http://schemas.openxmlformats.org/officeDocument/2006/relationships/notesSlide"/><Relationship Id="rId34" Target="notesSlides/notesSlide6.xml" Type="http://schemas.openxmlformats.org/officeDocument/2006/relationships/notesSlide"/><Relationship Id="rId35" Target="notesSlides/notesSlide7.xml" Type="http://schemas.openxmlformats.org/officeDocument/2006/relationships/notesSlide"/><Relationship Id="rId36" Target="notesSlides/notesSlide8.xml" Type="http://schemas.openxmlformats.org/officeDocument/2006/relationships/notesSlide"/><Relationship Id="rId37" Target="fonts/font37.fntdata" Type="http://schemas.openxmlformats.org/officeDocument/2006/relationships/font"/><Relationship Id="rId38" Target="notesSlides/notesSlide9.xml" Type="http://schemas.openxmlformats.org/officeDocument/2006/relationships/notesSlide"/><Relationship Id="rId39"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Empathy changes the brief. The checker should respect people who are busy, nontechnical, and already carrying a long list of accounts. The test is not only whether advice is correct; it should reduce confusion, explain the trade-off, and help someone choose a safer option in seconds.</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Define the product around a fast moment of understanding. The checker looks at useful signals locally, then turns them into a meter, reasons, and one next step. Emphasize that “strong” is not a mysterious label: the user should understand what improved, what still looks predictable, and what to try next. A sample explanation might say, “Longer helps; a repeated word pattern still lowers confidence.”</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Keep the ideation broad. Each idea makes strength visible in a different way: color gives speed, a checklist gives reasons, suggestions give direction, and passphrases give people a practical alternative.</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vote is not for the most elaborate feature set. It is for the smallest combination that helps someone understand the result and do something safer next.</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Rapid estimation keeps the first version focused: one field, one live meter, one feedback panel, and reset. The password never leaves the device. The interface can teach strength while still reminding users that phishing and stolen credentials are separate threats.</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Show the interaction as a four-step loop. The prototype does not need every rule. It needs to prove that the user can enter fictional sample text, understand the changing result, and try a safer direction without exposing the original input.</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Close by entering the three fictional examples one at a time and asking what the user expects before the meter responds. Observe whether the score changes quickly, the reason is understandable, and the next action is obvious: the prototype should reward length and uniqueness rather than treating mixed case as proof of strength. Likely iterations include clearer reason labels, a calmer warning state, and a stronger suggestion after each result. Keep the lesson practical beyond the checker: use a password manager, unique passwords, and multifactor authentication.</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6.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2.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3.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E0E3F"/>
        </a:solidFill>
      </p:bgPr>
    </p:bg>
    <p:spTree>
      <p:nvGrpSpPr>
        <p:cNvPr id="1" name=""/>
        <p:cNvGrpSpPr/>
        <p:nvPr/>
      </p:nvGrpSpPr>
      <p:grpSpPr>
        <a:xfrm>
          <a:off x="0" y="0"/>
          <a:ext cx="0" cy="0"/>
          <a:chOff x="0" y="0"/>
          <a:chExt cx="0" cy="0"/>
        </a:xfrm>
      </p:grpSpPr>
      <p:sp>
        <p:nvSpPr>
          <p:cNvPr name="Freeform 2" id="2"/>
          <p:cNvSpPr/>
          <p:nvPr/>
        </p:nvSpPr>
        <p:spPr>
          <a:xfrm flipH="false" flipV="false" rot="0">
            <a:off x="11720143" y="5544770"/>
            <a:ext cx="8857701" cy="6333256"/>
          </a:xfrm>
          <a:custGeom>
            <a:avLst/>
            <a:gdLst/>
            <a:ahLst/>
            <a:cxnLst/>
            <a:rect r="r" b="b" t="t" l="l"/>
            <a:pathLst>
              <a:path h="6333256" w="8857701">
                <a:moveTo>
                  <a:pt x="0" y="0"/>
                </a:moveTo>
                <a:lnTo>
                  <a:pt x="8857701" y="0"/>
                </a:lnTo>
                <a:lnTo>
                  <a:pt x="8857701" y="6333256"/>
                </a:lnTo>
                <a:lnTo>
                  <a:pt x="0" y="6333256"/>
                </a:lnTo>
                <a:lnTo>
                  <a:pt x="0" y="0"/>
                </a:lnTo>
                <a:close/>
              </a:path>
            </a:pathLst>
          </a:custGeom>
          <a:blipFill>
            <a:blip r:embed="rId2">
              <a:alphaModFix amt="59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63886" y="-4519374"/>
            <a:ext cx="16795414" cy="17051182"/>
          </a:xfrm>
          <a:custGeom>
            <a:avLst/>
            <a:gdLst/>
            <a:ahLst/>
            <a:cxnLst/>
            <a:rect r="r" b="b" t="t" l="l"/>
            <a:pathLst>
              <a:path h="17051182" w="16795414">
                <a:moveTo>
                  <a:pt x="0" y="0"/>
                </a:moveTo>
                <a:lnTo>
                  <a:pt x="16795414" y="0"/>
                </a:lnTo>
                <a:lnTo>
                  <a:pt x="16795414" y="17051181"/>
                </a:lnTo>
                <a:lnTo>
                  <a:pt x="0" y="17051181"/>
                </a:lnTo>
                <a:lnTo>
                  <a:pt x="0" y="0"/>
                </a:lnTo>
                <a:close/>
              </a:path>
            </a:pathLst>
          </a:custGeom>
          <a:blipFill>
            <a:blip r:embed="rId4">
              <a:alphaModFix amt="21999"/>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934796" y="-1872243"/>
            <a:ext cx="8857701" cy="6333256"/>
          </a:xfrm>
          <a:custGeom>
            <a:avLst/>
            <a:gdLst/>
            <a:ahLst/>
            <a:cxnLst/>
            <a:rect r="r" b="b" t="t" l="l"/>
            <a:pathLst>
              <a:path h="6333256" w="8857701">
                <a:moveTo>
                  <a:pt x="0" y="0"/>
                </a:moveTo>
                <a:lnTo>
                  <a:pt x="8857701" y="0"/>
                </a:lnTo>
                <a:lnTo>
                  <a:pt x="8857701" y="6333256"/>
                </a:lnTo>
                <a:lnTo>
                  <a:pt x="0" y="6333256"/>
                </a:lnTo>
                <a:lnTo>
                  <a:pt x="0" y="0"/>
                </a:lnTo>
                <a:close/>
              </a:path>
            </a:pathLst>
          </a:custGeom>
          <a:blipFill>
            <a:blip r:embed="rId2">
              <a:alphaModFix amt="59000"/>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805958" y="3473327"/>
            <a:ext cx="15137573" cy="3965354"/>
          </a:xfrm>
          <a:prstGeom prst="rect">
            <a:avLst/>
          </a:prstGeom>
        </p:spPr>
        <p:txBody>
          <a:bodyPr anchor="t" rtlCol="false" tIns="0" lIns="0" bIns="0" rIns="0">
            <a:spAutoFit/>
          </a:bodyPr>
          <a:lstStyle/>
          <a:p>
            <a:pPr algn="l">
              <a:lnSpc>
                <a:spcPts val="10004"/>
              </a:lnSpc>
            </a:pPr>
            <a:r>
              <a:rPr lang="en-US" b="true" sz="9808">
                <a:solidFill>
                  <a:srgbClr val="FFFFFF"/>
                </a:solidFill>
                <a:latin typeface="Arimo Bold"/>
                <a:ea typeface="Arimo Bold"/>
                <a:cs typeface="Arimo Bold"/>
                <a:sym typeface="Arimo Bold"/>
              </a:rPr>
              <a:t>PASSWORD STRENGTH</a:t>
            </a:r>
          </a:p>
          <a:p>
            <a:pPr algn="l">
              <a:lnSpc>
                <a:spcPts val="10004"/>
              </a:lnSpc>
            </a:pPr>
            <a:r>
              <a:rPr lang="en-US" b="true" sz="9808">
                <a:solidFill>
                  <a:srgbClr val="FFFFFF"/>
                </a:solidFill>
                <a:latin typeface="Arimo Bold"/>
                <a:ea typeface="Arimo Bold"/>
                <a:cs typeface="Arimo Bold"/>
                <a:sym typeface="Arimo Bold"/>
              </a:rPr>
              <a:t>CHECKER </a:t>
            </a:r>
          </a:p>
          <a:p>
            <a:pPr algn="l">
              <a:lnSpc>
                <a:spcPts val="5187"/>
              </a:lnSpc>
            </a:pPr>
            <a:r>
              <a:rPr lang="en-US" b="true" sz="5085">
                <a:solidFill>
                  <a:srgbClr val="FFFFFF"/>
                </a:solidFill>
                <a:latin typeface="Calibri (MS) Bold"/>
                <a:ea typeface="Calibri (MS) Bold"/>
                <a:cs typeface="Calibri (MS) Bold"/>
                <a:sym typeface="Calibri (MS) Bold"/>
              </a:rPr>
              <a:t>CYBER SECURITY AND BLOCKCHAIN :</a:t>
            </a:r>
          </a:p>
          <a:p>
            <a:pPr algn="l">
              <a:lnSpc>
                <a:spcPts val="6102"/>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E0E3F"/>
        </a:solidFill>
      </p:bgPr>
    </p:bg>
    <p:spTree>
      <p:nvGrpSpPr>
        <p:cNvPr id="1" name=""/>
        <p:cNvGrpSpPr/>
        <p:nvPr/>
      </p:nvGrpSpPr>
      <p:grpSpPr>
        <a:xfrm>
          <a:off x="0" y="0"/>
          <a:ext cx="0" cy="0"/>
          <a:chOff x="0" y="0"/>
          <a:chExt cx="0" cy="0"/>
        </a:xfrm>
      </p:grpSpPr>
      <p:sp>
        <p:nvSpPr>
          <p:cNvPr name="TextBox 2" id="2"/>
          <p:cNvSpPr txBox="true"/>
          <p:nvPr/>
        </p:nvSpPr>
        <p:spPr>
          <a:xfrm rot="0">
            <a:off x="749246" y="702945"/>
            <a:ext cx="8151609" cy="2725588"/>
          </a:xfrm>
          <a:prstGeom prst="rect">
            <a:avLst/>
          </a:prstGeom>
        </p:spPr>
        <p:txBody>
          <a:bodyPr anchor="t" rtlCol="false" tIns="0" lIns="0" bIns="0" rIns="0">
            <a:spAutoFit/>
          </a:bodyPr>
          <a:lstStyle/>
          <a:p>
            <a:pPr algn="l">
              <a:lnSpc>
                <a:spcPts val="6732"/>
              </a:lnSpc>
            </a:pPr>
            <a:r>
              <a:rPr lang="en-US" sz="6600" b="true">
                <a:solidFill>
                  <a:srgbClr val="FFFFFF"/>
                </a:solidFill>
                <a:latin typeface="Carlito Bold"/>
                <a:ea typeface="Carlito Bold"/>
                <a:cs typeface="Carlito Bold"/>
                <a:sym typeface="Carlito Bold"/>
              </a:rPr>
              <a:t>PASSWORD STRENGTH</a:t>
            </a:r>
          </a:p>
          <a:p>
            <a:pPr algn="l">
              <a:lnSpc>
                <a:spcPts val="6732"/>
              </a:lnSpc>
            </a:pPr>
            <a:r>
              <a:rPr lang="en-US" sz="6600" b="true">
                <a:solidFill>
                  <a:srgbClr val="FFFFFF"/>
                </a:solidFill>
                <a:latin typeface="Carlito Bold"/>
                <a:ea typeface="Carlito Bold"/>
                <a:cs typeface="Carlito Bold"/>
                <a:sym typeface="Carlito Bold"/>
              </a:rPr>
              <a:t>CHECKER :</a:t>
            </a:r>
          </a:p>
          <a:p>
            <a:pPr algn="l">
              <a:lnSpc>
                <a:spcPts val="7920"/>
              </a:lnSpc>
            </a:pPr>
          </a:p>
        </p:txBody>
      </p:sp>
      <p:graphicFrame>
        <p:nvGraphicFramePr>
          <p:cNvPr name="Table 3" id="3"/>
          <p:cNvGraphicFramePr>
            <a:graphicFrameLocks noGrp="true"/>
          </p:cNvGraphicFramePr>
          <p:nvPr/>
        </p:nvGraphicFramePr>
        <p:xfrm>
          <a:off x="657808" y="3474255"/>
          <a:ext cx="10744200" cy="5924550"/>
        </p:xfrm>
        <a:graphic>
          <a:graphicData uri="http://schemas.openxmlformats.org/drawingml/2006/table">
            <a:tbl>
              <a:tblPr/>
              <a:tblGrid>
                <a:gridCol w="5372100"/>
                <a:gridCol w="5372100"/>
              </a:tblGrid>
              <a:tr h="806598">
                <a:tc>
                  <a:txBody>
                    <a:bodyPr anchor="t" rtlCol="false"/>
                    <a:lstStyle/>
                    <a:p>
                      <a:pPr algn="l">
                        <a:lnSpc>
                          <a:spcPts val="2340"/>
                        </a:lnSpc>
                        <a:defRPr/>
                      </a:pPr>
                      <a:r>
                        <a:rPr lang="en-US" sz="1950" b="true">
                          <a:solidFill>
                            <a:srgbClr val="FFFFFF"/>
                          </a:solidFill>
                          <a:latin typeface="Carlito Bold"/>
                          <a:ea typeface="Carlito Bold"/>
                          <a:cs typeface="Carlito Bold"/>
                          <a:sym typeface="Carlito Bold"/>
                        </a:rPr>
                        <a:t>Presented By</a:t>
                      </a:r>
                      <a:endParaRPr lang="en-US" sz="1100"/>
                    </a:p>
                  </a:txBody>
                  <a:tcPr marL="98423" marR="98423" marT="98423" marB="98423"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340"/>
                        </a:lnSpc>
                        <a:defRPr/>
                      </a:pPr>
                      <a:r>
                        <a:rPr lang="en-US" sz="1950" b="true">
                          <a:solidFill>
                            <a:srgbClr val="FFFFFF"/>
                          </a:solidFill>
                          <a:latin typeface="Carlito Bold"/>
                          <a:ea typeface="Carlito Bold"/>
                          <a:cs typeface="Carlito Bold"/>
                          <a:sym typeface="Carlito Bold"/>
                        </a:rPr>
                        <a:t>Under the Supervision</a:t>
                      </a:r>
                      <a:endParaRPr lang="en-US" sz="1100"/>
                    </a:p>
                  </a:txBody>
                  <a:tcPr marL="98423" marR="98423" marT="98423" marB="98423"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975419">
                <a:tc>
                  <a:txBody>
                    <a:bodyPr anchor="t" rtlCol="false"/>
                    <a:lstStyle/>
                    <a:p>
                      <a:pPr algn="l">
                        <a:lnSpc>
                          <a:spcPts val="2340"/>
                        </a:lnSpc>
                        <a:defRPr/>
                      </a:pPr>
                      <a:r>
                        <a:rPr lang="en-US" sz="1950">
                          <a:solidFill>
                            <a:srgbClr val="FFFFFF"/>
                          </a:solidFill>
                          <a:latin typeface="Carlito"/>
                          <a:ea typeface="Carlito"/>
                          <a:cs typeface="Carlito"/>
                          <a:sym typeface="Carlito"/>
                        </a:rPr>
                        <a:t>GroupNo:1A</a:t>
                      </a:r>
                      <a:endParaRPr lang="en-US" sz="1100"/>
                    </a:p>
                  </a:txBody>
                  <a:tcPr marL="98423" marR="98423" marT="98423" marB="98423"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472C4"/>
                    </a:solidFill>
                  </a:tcPr>
                </a:tc>
                <a:tc>
                  <a:txBody>
                    <a:bodyPr anchor="t" rtlCol="false"/>
                    <a:lstStyle/>
                    <a:p>
                      <a:pPr algn="l">
                        <a:lnSpc>
                          <a:spcPts val="2340"/>
                        </a:lnSpc>
                        <a:defRPr/>
                      </a:pPr>
                      <a:r>
                        <a:rPr lang="en-US" sz="1950">
                          <a:solidFill>
                            <a:srgbClr val="FFFFFF"/>
                          </a:solidFill>
                          <a:latin typeface="Carlito"/>
                          <a:ea typeface="Carlito"/>
                          <a:cs typeface="Carlito"/>
                          <a:sym typeface="Carlito"/>
                        </a:rPr>
                        <a:t>Dr.G.Sudhakar</a:t>
                      </a:r>
                      <a:endParaRPr lang="en-US" sz="1100"/>
                    </a:p>
                  </a:txBody>
                  <a:tcPr marL="98423" marR="98423" marT="98423" marB="98423"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472C4"/>
                    </a:solidFill>
                  </a:tcPr>
                </a:tc>
              </a:tr>
              <a:tr h="935922">
                <a:tc>
                  <a:txBody>
                    <a:bodyPr anchor="t" rtlCol="false"/>
                    <a:lstStyle/>
                    <a:p>
                      <a:pPr algn="l">
                        <a:lnSpc>
                          <a:spcPts val="2340"/>
                        </a:lnSpc>
                        <a:defRPr/>
                      </a:pPr>
                      <a:r>
                        <a:rPr lang="en-US" sz="1950">
                          <a:solidFill>
                            <a:srgbClr val="FFFFFF"/>
                          </a:solidFill>
                          <a:latin typeface="Carlito"/>
                          <a:ea typeface="Carlito"/>
                          <a:cs typeface="Carlito"/>
                          <a:sym typeface="Carlito"/>
                        </a:rPr>
                        <a:t>   1. S.Veena Akshaya - 2620090069</a:t>
                      </a:r>
                      <a:endParaRPr lang="en-US" sz="1100"/>
                    </a:p>
                  </a:txBody>
                  <a:tcPr marL="98423" marR="98423" marT="98423" marB="98423"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340"/>
                        </a:lnSpc>
                        <a:defRPr/>
                      </a:pPr>
                      <a:r>
                        <a:rPr lang="en-US" sz="1950">
                          <a:solidFill>
                            <a:srgbClr val="FFFFFF"/>
                          </a:solidFill>
                          <a:latin typeface="Carlito"/>
                          <a:ea typeface="Carlito"/>
                          <a:cs typeface="Carlito"/>
                          <a:sym typeface="Carlito"/>
                        </a:rPr>
                        <a:t>Assoc.Professor</a:t>
                      </a:r>
                      <a:endParaRPr lang="en-US" sz="1100"/>
                    </a:p>
                  </a:txBody>
                  <a:tcPr marL="98423" marR="98423" marT="98423" marB="98423"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947632">
                <a:tc>
                  <a:txBody>
                    <a:bodyPr anchor="t" rtlCol="false"/>
                    <a:lstStyle/>
                    <a:p>
                      <a:pPr algn="l">
                        <a:lnSpc>
                          <a:spcPts val="2340"/>
                        </a:lnSpc>
                        <a:defRPr/>
                      </a:pPr>
                      <a:r>
                        <a:rPr lang="en-US" sz="1950">
                          <a:solidFill>
                            <a:srgbClr val="FFFFFF"/>
                          </a:solidFill>
                          <a:latin typeface="Carlito"/>
                          <a:ea typeface="Carlito"/>
                          <a:cs typeface="Carlito"/>
                          <a:sym typeface="Carlito"/>
                        </a:rPr>
                        <a:t>2. A.Sowgandhica-2620080045</a:t>
                      </a:r>
                      <a:endParaRPr lang="en-US" sz="1100"/>
                    </a:p>
                  </a:txBody>
                  <a:tcPr marL="98423" marR="98423" marT="98423" marB="98423"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472C4"/>
                    </a:solidFill>
                  </a:tcPr>
                </a:tc>
                <a:tc>
                  <a:txBody>
                    <a:bodyPr anchor="t" rtlCol="false"/>
                    <a:lstStyle/>
                    <a:p>
                      <a:pPr algn="l">
                        <a:lnSpc>
                          <a:spcPts val="2340"/>
                        </a:lnSpc>
                        <a:defRPr/>
                      </a:pPr>
                      <a:r>
                        <a:rPr lang="en-US" sz="1950">
                          <a:solidFill>
                            <a:srgbClr val="FFFFFF"/>
                          </a:solidFill>
                          <a:latin typeface="Carlito"/>
                          <a:ea typeface="Carlito"/>
                          <a:cs typeface="Carlito"/>
                          <a:sym typeface="Carlito"/>
                        </a:rPr>
                        <a:t>Dept-CSE</a:t>
                      </a:r>
                      <a:endParaRPr lang="en-US" sz="1100"/>
                    </a:p>
                  </a:txBody>
                  <a:tcPr marL="98423" marR="98423" marT="98423" marB="98423"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472C4"/>
                    </a:solidFill>
                  </a:tcPr>
                </a:tc>
              </a:tr>
              <a:tr h="1005350">
                <a:tc>
                  <a:txBody>
                    <a:bodyPr anchor="t" rtlCol="false"/>
                    <a:lstStyle/>
                    <a:p>
                      <a:pPr algn="l">
                        <a:lnSpc>
                          <a:spcPts val="2340"/>
                        </a:lnSpc>
                        <a:defRPr/>
                      </a:pPr>
                      <a:r>
                        <a:rPr lang="en-US" sz="1950">
                          <a:solidFill>
                            <a:srgbClr val="FFFFFF"/>
                          </a:solidFill>
                          <a:latin typeface="Carlito"/>
                          <a:ea typeface="Carlito"/>
                          <a:cs typeface="Carlito"/>
                          <a:sym typeface="Carlito"/>
                        </a:rPr>
                        <a:t>3. K.V.N.Brundha Geethika-2620080031</a:t>
                      </a:r>
                      <a:endParaRPr lang="en-US" sz="1100"/>
                    </a:p>
                  </a:txBody>
                  <a:tcPr marL="98423" marR="98423" marT="98423" marB="98423"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340"/>
                        </a:lnSpc>
                        <a:defRPr/>
                      </a:pPr>
                      <a:r>
                        <a:rPr lang="en-US" sz="1950">
                          <a:solidFill>
                            <a:srgbClr val="FFFFFF"/>
                          </a:solidFill>
                          <a:latin typeface="Carlito"/>
                          <a:ea typeface="Carlito"/>
                          <a:cs typeface="Carlito"/>
                          <a:sym typeface="Carlito"/>
                        </a:rPr>
                        <a:t>Subject: DTIE-Projects</a:t>
                      </a:r>
                      <a:endParaRPr lang="en-US" sz="1100"/>
                    </a:p>
                  </a:txBody>
                  <a:tcPr marL="98423" marR="98423" marT="98423" marB="98423"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1253630">
                <a:tc>
                  <a:txBody>
                    <a:bodyPr anchor="t" rtlCol="false"/>
                    <a:lstStyle/>
                    <a:p>
                      <a:pPr algn="l">
                        <a:lnSpc>
                          <a:spcPts val="2340"/>
                        </a:lnSpc>
                        <a:defRPr/>
                      </a:pPr>
                      <a:r>
                        <a:rPr lang="en-US" sz="1950">
                          <a:solidFill>
                            <a:srgbClr val="FFFFFF"/>
                          </a:solidFill>
                          <a:latin typeface="Carlito"/>
                          <a:ea typeface="Carlito"/>
                          <a:cs typeface="Carlito"/>
                          <a:sym typeface="Carlito"/>
                        </a:rPr>
                        <a:t>4. Lahiri-2620030399</a:t>
                      </a:r>
                      <a:endParaRPr lang="en-US" sz="1100"/>
                    </a:p>
                  </a:txBody>
                  <a:tcPr marL="98423" marR="98423" marT="98423" marB="98423"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472C4"/>
                    </a:solidFill>
                  </a:tcPr>
                </a:tc>
                <a:tc>
                  <a:txBody>
                    <a:bodyPr anchor="t" rtlCol="false"/>
                    <a:lstStyle/>
                    <a:p>
                      <a:pPr algn="l">
                        <a:lnSpc>
                          <a:spcPts val="1679"/>
                        </a:lnSpc>
                        <a:defRPr/>
                      </a:pPr>
                      <a:endParaRPr lang="en-US" sz="1100"/>
                    </a:p>
                  </a:txBody>
                  <a:tcPr marL="98423" marR="98423" marT="98423" marB="98423"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4472C4"/>
                    </a:solidFill>
                  </a:tcPr>
                </a:tc>
              </a:tr>
            </a:tbl>
          </a:graphicData>
        </a:graphic>
      </p:graphicFrame>
      <p:grpSp>
        <p:nvGrpSpPr>
          <p:cNvPr name="Group 4" id="4"/>
          <p:cNvGrpSpPr/>
          <p:nvPr/>
        </p:nvGrpSpPr>
        <p:grpSpPr>
          <a:xfrm rot="0">
            <a:off x="12596327" y="903199"/>
            <a:ext cx="4770272" cy="5556380"/>
            <a:chOff x="0" y="0"/>
            <a:chExt cx="6360363" cy="7408507"/>
          </a:xfrm>
        </p:grpSpPr>
        <p:sp>
          <p:nvSpPr>
            <p:cNvPr name="Freeform 5" id="5"/>
            <p:cNvSpPr/>
            <p:nvPr/>
          </p:nvSpPr>
          <p:spPr>
            <a:xfrm flipH="false" flipV="false" rot="0">
              <a:off x="0" y="0"/>
              <a:ext cx="6360414" cy="7408545"/>
            </a:xfrm>
            <a:custGeom>
              <a:avLst/>
              <a:gdLst/>
              <a:ahLst/>
              <a:cxnLst/>
              <a:rect r="r" b="b" t="t" l="l"/>
              <a:pathLst>
                <a:path h="7408545" w="6360414">
                  <a:moveTo>
                    <a:pt x="0" y="0"/>
                  </a:moveTo>
                  <a:lnTo>
                    <a:pt x="6360414" y="0"/>
                  </a:lnTo>
                  <a:lnTo>
                    <a:pt x="6360414" y="7408545"/>
                  </a:lnTo>
                  <a:lnTo>
                    <a:pt x="0" y="7408545"/>
                  </a:lnTo>
                  <a:lnTo>
                    <a:pt x="0" y="0"/>
                  </a:lnTo>
                  <a:close/>
                </a:path>
              </a:pathLst>
            </a:custGeom>
            <a:blipFill>
              <a:blip r:embed="rId2"/>
              <a:stretch>
                <a:fillRect l="-8239" t="0" r="-8238"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E0E3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B1F33"/>
            </a:solidFill>
          </p:spPr>
        </p:sp>
      </p:grpSp>
      <p:sp>
        <p:nvSpPr>
          <p:cNvPr name="TextBox 4" id="4"/>
          <p:cNvSpPr txBox="true"/>
          <p:nvPr/>
        </p:nvSpPr>
        <p:spPr>
          <a:xfrm rot="0">
            <a:off x="914381" y="896941"/>
            <a:ext cx="6400638" cy="270424"/>
          </a:xfrm>
          <a:prstGeom prst="rect">
            <a:avLst/>
          </a:prstGeom>
        </p:spPr>
        <p:txBody>
          <a:bodyPr anchor="t" rtlCol="false" tIns="0" lIns="0" bIns="0" rIns="0">
            <a:spAutoFit/>
          </a:bodyPr>
          <a:lstStyle/>
          <a:p>
            <a:pPr algn="l">
              <a:lnSpc>
                <a:spcPts val="1980"/>
              </a:lnSpc>
            </a:pPr>
            <a:r>
              <a:rPr lang="en-US" sz="1650" spc="132">
                <a:solidFill>
                  <a:srgbClr val="FFFFFF"/>
                </a:solidFill>
                <a:latin typeface="Arimo"/>
                <a:ea typeface="Arimo"/>
                <a:cs typeface="Arimo"/>
                <a:sym typeface="Arimo"/>
              </a:rPr>
              <a:t>CYBERSECURITY · DESIGN THINKING</a:t>
            </a:r>
          </a:p>
        </p:txBody>
      </p:sp>
      <p:sp>
        <p:nvSpPr>
          <p:cNvPr name="TextBox 5" id="5"/>
          <p:cNvSpPr txBox="true"/>
          <p:nvPr/>
        </p:nvSpPr>
        <p:spPr>
          <a:xfrm rot="0">
            <a:off x="786704" y="1881187"/>
            <a:ext cx="6361765" cy="1495253"/>
          </a:xfrm>
          <a:prstGeom prst="rect">
            <a:avLst/>
          </a:prstGeom>
        </p:spPr>
        <p:txBody>
          <a:bodyPr anchor="t" rtlCol="false" tIns="0" lIns="0" bIns="0" rIns="0">
            <a:spAutoFit/>
          </a:bodyPr>
          <a:lstStyle/>
          <a:p>
            <a:pPr algn="l">
              <a:lnSpc>
                <a:spcPts val="5702"/>
              </a:lnSpc>
            </a:pPr>
            <a:r>
              <a:rPr lang="en-US" sz="6000" spc="-30">
                <a:solidFill>
                  <a:srgbClr val="FFFFFF"/>
                </a:solidFill>
                <a:latin typeface="Saira"/>
                <a:ea typeface="Saira"/>
                <a:cs typeface="Saira"/>
                <a:sym typeface="Saira"/>
              </a:rPr>
              <a:t>Why Password Strength Matters</a:t>
            </a:r>
          </a:p>
        </p:txBody>
      </p:sp>
      <p:sp>
        <p:nvSpPr>
          <p:cNvPr name="TextBox 6" id="6"/>
          <p:cNvSpPr txBox="true"/>
          <p:nvPr/>
        </p:nvSpPr>
        <p:spPr>
          <a:xfrm rot="0">
            <a:off x="786704" y="3625096"/>
            <a:ext cx="6069732" cy="1002530"/>
          </a:xfrm>
          <a:prstGeom prst="rect">
            <a:avLst/>
          </a:prstGeom>
        </p:spPr>
        <p:txBody>
          <a:bodyPr anchor="t" rtlCol="false" tIns="0" lIns="0" bIns="0" rIns="0">
            <a:spAutoFit/>
          </a:bodyPr>
          <a:lstStyle/>
          <a:p>
            <a:pPr algn="l">
              <a:lnSpc>
                <a:spcPts val="4337"/>
              </a:lnSpc>
            </a:pPr>
            <a:r>
              <a:rPr lang="en-US" sz="2987">
                <a:solidFill>
                  <a:srgbClr val="FFFFFF"/>
                </a:solidFill>
                <a:latin typeface="Barlow"/>
                <a:ea typeface="Barlow"/>
                <a:cs typeface="Barlow"/>
                <a:sym typeface="Barlow"/>
              </a:rPr>
              <a:t>A clear, local-first way to help people build safer password habits.</a:t>
            </a:r>
          </a:p>
        </p:txBody>
      </p:sp>
      <p:sp>
        <p:nvSpPr>
          <p:cNvPr name="TextBox 7" id="7"/>
          <p:cNvSpPr txBox="true"/>
          <p:nvPr/>
        </p:nvSpPr>
        <p:spPr>
          <a:xfrm rot="0">
            <a:off x="786704" y="4876281"/>
            <a:ext cx="7211759" cy="3565796"/>
          </a:xfrm>
          <a:prstGeom prst="rect">
            <a:avLst/>
          </a:prstGeom>
        </p:spPr>
        <p:txBody>
          <a:bodyPr anchor="t" rtlCol="false" tIns="0" lIns="0" bIns="0" rIns="0">
            <a:spAutoFit/>
          </a:bodyPr>
          <a:lstStyle/>
          <a:p>
            <a:pPr algn="l">
              <a:lnSpc>
                <a:spcPts val="4709"/>
              </a:lnSpc>
            </a:pPr>
            <a:r>
              <a:rPr lang="en-US" sz="3243">
                <a:solidFill>
                  <a:srgbClr val="FFFFFF"/>
                </a:solidFill>
                <a:latin typeface="Barlow"/>
                <a:ea typeface="Barlow"/>
                <a:cs typeface="Barlow"/>
                <a:sym typeface="Barlow"/>
              </a:rPr>
              <a:t>Passwords are still the first line of defense for our most personal accounts. This project explores how better feedback can turn “strong” from a vague label into an action people understand and trust.</a:t>
            </a:r>
          </a:p>
        </p:txBody>
      </p:sp>
      <p:grpSp>
        <p:nvGrpSpPr>
          <p:cNvPr name="Group 8" id="8"/>
          <p:cNvGrpSpPr/>
          <p:nvPr/>
        </p:nvGrpSpPr>
        <p:grpSpPr>
          <a:xfrm rot="0">
            <a:off x="10295754" y="204036"/>
            <a:ext cx="7330209" cy="9515940"/>
            <a:chOff x="0" y="0"/>
            <a:chExt cx="10232232" cy="13283291"/>
          </a:xfrm>
        </p:grpSpPr>
        <p:sp>
          <p:nvSpPr>
            <p:cNvPr name="Freeform 9" id="9"/>
            <p:cNvSpPr/>
            <p:nvPr/>
          </p:nvSpPr>
          <p:spPr>
            <a:xfrm flipH="false" flipV="false" rot="0">
              <a:off x="0" y="0"/>
              <a:ext cx="10232245" cy="13283292"/>
            </a:xfrm>
            <a:custGeom>
              <a:avLst/>
              <a:gdLst/>
              <a:ahLst/>
              <a:cxnLst/>
              <a:rect r="r" b="b" t="t" l="l"/>
              <a:pathLst>
                <a:path h="13283292" w="10232245">
                  <a:moveTo>
                    <a:pt x="0" y="0"/>
                  </a:moveTo>
                  <a:lnTo>
                    <a:pt x="10232245" y="0"/>
                  </a:lnTo>
                  <a:lnTo>
                    <a:pt x="10232245" y="13283292"/>
                  </a:lnTo>
                  <a:lnTo>
                    <a:pt x="0" y="13283292"/>
                  </a:lnTo>
                  <a:lnTo>
                    <a:pt x="0" y="0"/>
                  </a:lnTo>
                  <a:close/>
                </a:path>
              </a:pathLst>
            </a:custGeom>
            <a:blipFill>
              <a:blip r:embed="rId3"/>
              <a:stretch>
                <a:fillRect l="0" t="-4683" r="0" b="-4683"/>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E0E3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7543" cy="10287000"/>
            <a:chOff x="0" y="0"/>
            <a:chExt cx="24383390" cy="13716000"/>
          </a:xfrm>
        </p:grpSpPr>
        <p:sp>
          <p:nvSpPr>
            <p:cNvPr name="Freeform 3" id="3" descr="preencoded.png"/>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lnTo>
                    <a:pt x="0" y="0"/>
                  </a:lnTo>
                  <a:close/>
                </a:path>
              </a:pathLst>
            </a:custGeom>
            <a:blipFill>
              <a:blip r:embed="rId3"/>
              <a:stretch>
                <a:fillRect l="-1" t="0" r="-1" b="0"/>
              </a:stretch>
            </a:blipFill>
          </p:spPr>
        </p:sp>
      </p:grpSp>
      <p:grpSp>
        <p:nvGrpSpPr>
          <p:cNvPr name="Group 4" id="4"/>
          <p:cNvGrpSpPr/>
          <p:nvPr/>
        </p:nvGrpSpPr>
        <p:grpSpPr>
          <a:xfrm rot="0">
            <a:off x="0" y="0"/>
            <a:ext cx="18287543" cy="10287000"/>
            <a:chOff x="0" y="0"/>
            <a:chExt cx="24383390" cy="13716000"/>
          </a:xfrm>
        </p:grpSpPr>
        <p:sp>
          <p:nvSpPr>
            <p:cNvPr name="Freeform 5" id="5"/>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alpha val="3137"/>
              </a:srgbClr>
            </a:solidFill>
          </p:spPr>
        </p:sp>
      </p:grpSp>
      <p:grpSp>
        <p:nvGrpSpPr>
          <p:cNvPr name="Group 6" id="6"/>
          <p:cNvGrpSpPr/>
          <p:nvPr/>
        </p:nvGrpSpPr>
        <p:grpSpPr>
          <a:xfrm rot="0">
            <a:off x="914381" y="914400"/>
            <a:ext cx="9715252" cy="8757199"/>
            <a:chOff x="0" y="0"/>
            <a:chExt cx="12953670" cy="11676266"/>
          </a:xfrm>
        </p:grpSpPr>
        <p:sp>
          <p:nvSpPr>
            <p:cNvPr name="Freeform 7" id="7"/>
            <p:cNvSpPr/>
            <p:nvPr/>
          </p:nvSpPr>
          <p:spPr>
            <a:xfrm flipH="false" flipV="false" rot="0">
              <a:off x="0" y="0"/>
              <a:ext cx="12953746" cy="11676380"/>
            </a:xfrm>
            <a:custGeom>
              <a:avLst/>
              <a:gdLst/>
              <a:ahLst/>
              <a:cxnLst/>
              <a:rect r="r" b="b" t="t" l="l"/>
              <a:pathLst>
                <a:path h="11676380" w="12953746">
                  <a:moveTo>
                    <a:pt x="0" y="57150"/>
                  </a:moveTo>
                  <a:cubicBezTo>
                    <a:pt x="0" y="25527"/>
                    <a:pt x="25527" y="0"/>
                    <a:pt x="57150" y="0"/>
                  </a:cubicBezTo>
                  <a:lnTo>
                    <a:pt x="12896596" y="0"/>
                  </a:lnTo>
                  <a:cubicBezTo>
                    <a:pt x="12928092" y="0"/>
                    <a:pt x="12953746" y="25527"/>
                    <a:pt x="12953746" y="57150"/>
                  </a:cubicBezTo>
                  <a:lnTo>
                    <a:pt x="12953746" y="11619230"/>
                  </a:lnTo>
                  <a:cubicBezTo>
                    <a:pt x="12953746" y="11650726"/>
                    <a:pt x="12928219" y="11676380"/>
                    <a:pt x="12896596" y="11676380"/>
                  </a:cubicBezTo>
                  <a:lnTo>
                    <a:pt x="57150" y="11676380"/>
                  </a:lnTo>
                  <a:cubicBezTo>
                    <a:pt x="25654" y="11676380"/>
                    <a:pt x="0" y="11650853"/>
                    <a:pt x="0" y="11619230"/>
                  </a:cubicBezTo>
                  <a:close/>
                </a:path>
              </a:pathLst>
            </a:custGeom>
            <a:solidFill>
              <a:srgbClr val="1E0E3F"/>
            </a:solidFill>
          </p:spPr>
        </p:sp>
      </p:grpSp>
      <p:sp>
        <p:nvSpPr>
          <p:cNvPr name="TextBox 8" id="8"/>
          <p:cNvSpPr txBox="true"/>
          <p:nvPr/>
        </p:nvSpPr>
        <p:spPr>
          <a:xfrm rot="0">
            <a:off x="1447762" y="1354141"/>
            <a:ext cx="9562862" cy="270424"/>
          </a:xfrm>
          <a:prstGeom prst="rect">
            <a:avLst/>
          </a:prstGeom>
        </p:spPr>
        <p:txBody>
          <a:bodyPr anchor="t" rtlCol="false" tIns="0" lIns="0" bIns="0" rIns="0">
            <a:spAutoFit/>
          </a:bodyPr>
          <a:lstStyle/>
          <a:p>
            <a:pPr algn="l">
              <a:lnSpc>
                <a:spcPts val="1980"/>
              </a:lnSpc>
            </a:pPr>
            <a:r>
              <a:rPr lang="en-US" sz="1650" spc="132">
                <a:solidFill>
                  <a:srgbClr val="FFFFFF"/>
                </a:solidFill>
                <a:latin typeface="Arimo"/>
                <a:ea typeface="Arimo"/>
                <a:cs typeface="Arimo"/>
                <a:sym typeface="Arimo"/>
              </a:rPr>
              <a:t>01 · PROBLEM</a:t>
            </a:r>
          </a:p>
        </p:txBody>
      </p:sp>
      <p:sp>
        <p:nvSpPr>
          <p:cNvPr name="TextBox 9" id="9"/>
          <p:cNvSpPr txBox="true"/>
          <p:nvPr/>
        </p:nvSpPr>
        <p:spPr>
          <a:xfrm rot="0">
            <a:off x="1447762" y="2095033"/>
            <a:ext cx="8648481" cy="1843088"/>
          </a:xfrm>
          <a:prstGeom prst="rect">
            <a:avLst/>
          </a:prstGeom>
        </p:spPr>
        <p:txBody>
          <a:bodyPr anchor="t" rtlCol="false" tIns="0" lIns="0" bIns="0" rIns="0">
            <a:spAutoFit/>
          </a:bodyPr>
          <a:lstStyle/>
          <a:p>
            <a:pPr algn="l">
              <a:lnSpc>
                <a:spcPts val="7439"/>
              </a:lnSpc>
            </a:pPr>
            <a:r>
              <a:rPr lang="en-US" sz="8400" spc="-84">
                <a:solidFill>
                  <a:srgbClr val="F8ED43"/>
                </a:solidFill>
                <a:latin typeface="Saira"/>
                <a:ea typeface="Saira"/>
                <a:cs typeface="Saira"/>
                <a:sym typeface="Saira"/>
              </a:rPr>
              <a:t>Weak passwords are easy targets</a:t>
            </a:r>
          </a:p>
        </p:txBody>
      </p:sp>
      <p:sp>
        <p:nvSpPr>
          <p:cNvPr name="TextBox 10" id="10"/>
          <p:cNvSpPr txBox="true"/>
          <p:nvPr/>
        </p:nvSpPr>
        <p:spPr>
          <a:xfrm rot="0">
            <a:off x="1447762" y="4056612"/>
            <a:ext cx="8648481" cy="4486275"/>
          </a:xfrm>
          <a:prstGeom prst="rect">
            <a:avLst/>
          </a:prstGeom>
        </p:spPr>
        <p:txBody>
          <a:bodyPr anchor="t" rtlCol="false" tIns="0" lIns="0" bIns="0" rIns="0">
            <a:spAutoFit/>
          </a:bodyPr>
          <a:lstStyle/>
          <a:p>
            <a:pPr algn="l" marL="407194" indent="-203597" lvl="1">
              <a:lnSpc>
                <a:spcPts val="3267"/>
              </a:lnSpc>
              <a:buFont typeface="Arial"/>
              <a:buChar char="•"/>
            </a:pPr>
            <a:r>
              <a:rPr lang="en-US" sz="2250">
                <a:solidFill>
                  <a:srgbClr val="FFFFFF"/>
                </a:solidFill>
                <a:latin typeface="Barlow"/>
                <a:ea typeface="Barlow"/>
                <a:cs typeface="Barlow"/>
                <a:sym typeface="Barlow"/>
              </a:rPr>
              <a:t>People reuse short, predictable passwords because they are easy to remember.</a:t>
            </a:r>
          </a:p>
          <a:p>
            <a:pPr algn="l" marL="407194" indent="-203597" lvl="1">
              <a:lnSpc>
                <a:spcPts val="3267"/>
              </a:lnSpc>
              <a:buFont typeface="Arial"/>
              <a:buChar char="•"/>
            </a:pPr>
            <a:r>
              <a:rPr lang="en-US" sz="2250">
                <a:solidFill>
                  <a:srgbClr val="FFFFFF"/>
                </a:solidFill>
                <a:latin typeface="Barlow"/>
                <a:ea typeface="Barlow"/>
                <a:cs typeface="Barlow"/>
                <a:sym typeface="Barlow"/>
              </a:rPr>
              <a:t>One exposed password can unlock email, shopping, or work accounts when the same pattern is reused.</a:t>
            </a:r>
          </a:p>
          <a:p>
            <a:pPr algn="l" marL="407194" indent="-203597" lvl="1">
              <a:lnSpc>
                <a:spcPts val="3267"/>
              </a:lnSpc>
              <a:buFont typeface="Arial"/>
              <a:buChar char="•"/>
            </a:pPr>
            <a:r>
              <a:rPr lang="en-US" sz="2250">
                <a:solidFill>
                  <a:srgbClr val="FFFFFF"/>
                </a:solidFill>
                <a:latin typeface="Barlow"/>
                <a:ea typeface="Barlow"/>
                <a:cs typeface="Barlow"/>
                <a:sym typeface="Barlow"/>
              </a:rPr>
              <a:t>Common patterns—names, birthdays, seasons, and “123”—are easy for attackers to guess or automate.</a:t>
            </a:r>
          </a:p>
          <a:p>
            <a:pPr algn="l" marL="407194" indent="-203597" lvl="1">
              <a:lnSpc>
                <a:spcPts val="3267"/>
              </a:lnSpc>
              <a:buFont typeface="Arial"/>
              <a:buChar char="•"/>
            </a:pPr>
            <a:r>
              <a:rPr lang="en-US" sz="2250">
                <a:solidFill>
                  <a:srgbClr val="FFFFFF"/>
                </a:solidFill>
                <a:latin typeface="Barlow"/>
                <a:ea typeface="Barlow"/>
                <a:cs typeface="Barlow"/>
                <a:sym typeface="Barlow"/>
              </a:rPr>
              <a:t>A checker should give an instant, understandable answer: weak, medium, or strong.</a:t>
            </a:r>
          </a:p>
          <a:p>
            <a:pPr algn="l" marL="407194" indent="-203597" lvl="1">
              <a:lnSpc>
                <a:spcPts val="3267"/>
              </a:lnSpc>
              <a:buFont typeface="Arial"/>
              <a:buChar char="•"/>
            </a:pPr>
            <a:r>
              <a:rPr lang="en-US" sz="2250">
                <a:solidFill>
                  <a:srgbClr val="FFFFFF"/>
                </a:solidFill>
                <a:latin typeface="Barlow"/>
                <a:ea typeface="Barlow"/>
                <a:cs typeface="Barlow"/>
                <a:sym typeface="Barlow"/>
              </a:rPr>
              <a:t>Strong-password guidance emphasizes length, randomness, and uniqueness.</a:t>
            </a:r>
          </a:p>
        </p:txBody>
      </p:sp>
      <p:sp>
        <p:nvSpPr>
          <p:cNvPr name="TextBox 11" id="11"/>
          <p:cNvSpPr txBox="true"/>
          <p:nvPr/>
        </p:nvSpPr>
        <p:spPr>
          <a:xfrm rot="0">
            <a:off x="1447762" y="8753627"/>
            <a:ext cx="9562862" cy="471488"/>
          </a:xfrm>
          <a:prstGeom prst="rect">
            <a:avLst/>
          </a:prstGeom>
        </p:spPr>
        <p:txBody>
          <a:bodyPr anchor="t" rtlCol="false" tIns="0" lIns="0" bIns="0" rIns="0">
            <a:spAutoFit/>
          </a:bodyPr>
          <a:lstStyle/>
          <a:p>
            <a:pPr algn="l">
              <a:lnSpc>
                <a:spcPts val="3267"/>
              </a:lnSpc>
            </a:pPr>
            <a:r>
              <a:rPr lang="en-US" sz="2250" spc="44">
                <a:solidFill>
                  <a:srgbClr val="FFFFFF"/>
                </a:solidFill>
                <a:latin typeface="Barlow"/>
                <a:ea typeface="Barlow"/>
                <a:cs typeface="Barlow"/>
                <a:sym typeface="Barlow"/>
              </a:rPr>
              <a:t>password strength checker · design thinking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E0E3F"/>
        </a:solidFill>
      </p:bgPr>
    </p:bg>
    <p:spTree>
      <p:nvGrpSpPr>
        <p:cNvPr id="1" name=""/>
        <p:cNvGrpSpPr/>
        <p:nvPr/>
      </p:nvGrpSpPr>
      <p:grpSpPr>
        <a:xfrm>
          <a:off x="0" y="0"/>
          <a:ext cx="0" cy="0"/>
          <a:chOff x="0" y="0"/>
          <a:chExt cx="0" cy="0"/>
        </a:xfrm>
      </p:grpSpPr>
      <p:sp>
        <p:nvSpPr>
          <p:cNvPr name="TextBox 2" id="2"/>
          <p:cNvSpPr txBox="true"/>
          <p:nvPr/>
        </p:nvSpPr>
        <p:spPr>
          <a:xfrm rot="0">
            <a:off x="914381" y="904780"/>
            <a:ext cx="10058152" cy="266995"/>
          </a:xfrm>
          <a:prstGeom prst="rect">
            <a:avLst/>
          </a:prstGeom>
        </p:spPr>
        <p:txBody>
          <a:bodyPr anchor="t" rtlCol="false" tIns="0" lIns="0" bIns="0" rIns="0">
            <a:spAutoFit/>
          </a:bodyPr>
          <a:lstStyle/>
          <a:p>
            <a:pPr algn="l">
              <a:lnSpc>
                <a:spcPts val="1980"/>
              </a:lnSpc>
            </a:pPr>
            <a:r>
              <a:rPr lang="en-US" sz="1650" spc="130">
                <a:solidFill>
                  <a:srgbClr val="C7D14F"/>
                </a:solidFill>
                <a:latin typeface="Arimo"/>
                <a:ea typeface="Arimo"/>
                <a:cs typeface="Arimo"/>
                <a:sym typeface="Arimo"/>
              </a:rPr>
              <a:t>02 · EMPATHY</a:t>
            </a:r>
          </a:p>
        </p:txBody>
      </p:sp>
      <p:sp>
        <p:nvSpPr>
          <p:cNvPr name="TextBox 3" id="3"/>
          <p:cNvSpPr txBox="true"/>
          <p:nvPr/>
        </p:nvSpPr>
        <p:spPr>
          <a:xfrm rot="0">
            <a:off x="914381" y="1392241"/>
            <a:ext cx="9143771" cy="525218"/>
          </a:xfrm>
          <a:prstGeom prst="rect">
            <a:avLst/>
          </a:prstGeom>
        </p:spPr>
        <p:txBody>
          <a:bodyPr anchor="t" rtlCol="false" tIns="0" lIns="0" bIns="0" rIns="0">
            <a:spAutoFit/>
          </a:bodyPr>
          <a:lstStyle/>
          <a:p>
            <a:pPr algn="l">
              <a:lnSpc>
                <a:spcPts val="4672"/>
              </a:lnSpc>
            </a:pPr>
            <a:r>
              <a:rPr lang="en-US" sz="4425" spc="-22">
                <a:solidFill>
                  <a:srgbClr val="F8ED43"/>
                </a:solidFill>
                <a:latin typeface="Saira"/>
                <a:ea typeface="Saira"/>
                <a:cs typeface="Saira"/>
                <a:sym typeface="Saira"/>
              </a:rPr>
              <a:t>Security advice must feel usable</a:t>
            </a:r>
          </a:p>
        </p:txBody>
      </p:sp>
      <p:sp>
        <p:nvSpPr>
          <p:cNvPr name="TextBox 4" id="4"/>
          <p:cNvSpPr txBox="true"/>
          <p:nvPr/>
        </p:nvSpPr>
        <p:spPr>
          <a:xfrm rot="0">
            <a:off x="914381" y="2099091"/>
            <a:ext cx="9143771" cy="868861"/>
          </a:xfrm>
          <a:prstGeom prst="rect">
            <a:avLst/>
          </a:prstGeom>
        </p:spPr>
        <p:txBody>
          <a:bodyPr anchor="t" rtlCol="false" tIns="0" lIns="0" bIns="0" rIns="0">
            <a:spAutoFit/>
          </a:bodyPr>
          <a:lstStyle/>
          <a:p>
            <a:pPr algn="l">
              <a:lnSpc>
                <a:spcPts val="3240"/>
              </a:lnSpc>
            </a:pPr>
            <a:r>
              <a:rPr lang="en-US" sz="2250">
                <a:solidFill>
                  <a:srgbClr val="F3F1F8"/>
                </a:solidFill>
                <a:latin typeface="Barlow"/>
                <a:ea typeface="Barlow"/>
                <a:cs typeface="Barlow"/>
                <a:sym typeface="Barlow"/>
              </a:rPr>
              <a:t>People need safety guidance that fits real life, not a lecture in technical language.</a:t>
            </a:r>
          </a:p>
        </p:txBody>
      </p:sp>
      <p:grpSp>
        <p:nvGrpSpPr>
          <p:cNvPr name="Group 5" id="5"/>
          <p:cNvGrpSpPr/>
          <p:nvPr/>
        </p:nvGrpSpPr>
        <p:grpSpPr>
          <a:xfrm rot="0">
            <a:off x="914381" y="3481540"/>
            <a:ext cx="495290" cy="495300"/>
            <a:chOff x="0" y="0"/>
            <a:chExt cx="660387" cy="660400"/>
          </a:xfrm>
        </p:grpSpPr>
        <p:sp>
          <p:nvSpPr>
            <p:cNvPr name="Freeform 6" id="6"/>
            <p:cNvSpPr/>
            <p:nvPr/>
          </p:nvSpPr>
          <p:spPr>
            <a:xfrm flipH="false" flipV="false" rot="0">
              <a:off x="0" y="0"/>
              <a:ext cx="660400" cy="660400"/>
            </a:xfrm>
            <a:custGeom>
              <a:avLst/>
              <a:gdLst/>
              <a:ahLst/>
              <a:cxnLst/>
              <a:rect r="r" b="b" t="t" l="l"/>
              <a:pathLst>
                <a:path h="660400" w="660400">
                  <a:moveTo>
                    <a:pt x="0" y="330200"/>
                  </a:moveTo>
                  <a:cubicBezTo>
                    <a:pt x="0" y="147828"/>
                    <a:pt x="147828" y="0"/>
                    <a:pt x="330200" y="0"/>
                  </a:cubicBezTo>
                  <a:cubicBezTo>
                    <a:pt x="512572" y="0"/>
                    <a:pt x="660400" y="147828"/>
                    <a:pt x="660400" y="330200"/>
                  </a:cubicBezTo>
                  <a:cubicBezTo>
                    <a:pt x="660400" y="512572"/>
                    <a:pt x="512572" y="660400"/>
                    <a:pt x="330200" y="660400"/>
                  </a:cubicBezTo>
                  <a:cubicBezTo>
                    <a:pt x="147828" y="660400"/>
                    <a:pt x="0" y="512572"/>
                    <a:pt x="0" y="330200"/>
                  </a:cubicBezTo>
                  <a:close/>
                </a:path>
              </a:pathLst>
            </a:custGeom>
            <a:solidFill>
              <a:srgbClr val="F8ED43"/>
            </a:solidFill>
          </p:spPr>
        </p:sp>
      </p:grpSp>
      <p:sp>
        <p:nvSpPr>
          <p:cNvPr name="TextBox 7" id="7"/>
          <p:cNvSpPr txBox="true"/>
          <p:nvPr/>
        </p:nvSpPr>
        <p:spPr>
          <a:xfrm rot="0">
            <a:off x="1048912" y="3633940"/>
            <a:ext cx="1140590" cy="219075"/>
          </a:xfrm>
          <a:prstGeom prst="rect">
            <a:avLst/>
          </a:prstGeom>
        </p:spPr>
        <p:txBody>
          <a:bodyPr anchor="t" rtlCol="false" tIns="0" lIns="0" bIns="0" rIns="0">
            <a:spAutoFit/>
          </a:bodyPr>
          <a:lstStyle/>
          <a:p>
            <a:pPr algn="l">
              <a:lnSpc>
                <a:spcPts val="1942"/>
              </a:lnSpc>
            </a:pPr>
            <a:r>
              <a:rPr lang="en-US" sz="1950" b="true">
                <a:solidFill>
                  <a:srgbClr val="000000"/>
                </a:solidFill>
                <a:latin typeface="Barlow Bold"/>
                <a:ea typeface="Barlow Bold"/>
                <a:cs typeface="Barlow Bold"/>
                <a:sym typeface="Barlow Bold"/>
              </a:rPr>
              <a:t>01</a:t>
            </a:r>
          </a:p>
        </p:txBody>
      </p:sp>
      <p:sp>
        <p:nvSpPr>
          <p:cNvPr name="TextBox 8" id="8"/>
          <p:cNvSpPr txBox="true"/>
          <p:nvPr/>
        </p:nvSpPr>
        <p:spPr>
          <a:xfrm rot="0">
            <a:off x="1691392" y="3433210"/>
            <a:ext cx="8366760" cy="517027"/>
          </a:xfrm>
          <a:prstGeom prst="rect">
            <a:avLst/>
          </a:prstGeom>
        </p:spPr>
        <p:txBody>
          <a:bodyPr anchor="t" rtlCol="false" tIns="0" lIns="0" bIns="0" rIns="0">
            <a:spAutoFit/>
          </a:bodyPr>
          <a:lstStyle/>
          <a:p>
            <a:pPr algn="l">
              <a:lnSpc>
                <a:spcPts val="3790"/>
              </a:lnSpc>
            </a:pPr>
            <a:r>
              <a:rPr lang="en-US" sz="2925" b="true">
                <a:solidFill>
                  <a:srgbClr val="F8ED43"/>
                </a:solidFill>
                <a:latin typeface="Barlow Medium"/>
                <a:ea typeface="Barlow Medium"/>
                <a:cs typeface="Barlow Medium"/>
                <a:sym typeface="Barlow Medium"/>
              </a:rPr>
              <a:t>Make it plain</a:t>
            </a:r>
          </a:p>
        </p:txBody>
      </p:sp>
      <p:sp>
        <p:nvSpPr>
          <p:cNvPr name="TextBox 9" id="9"/>
          <p:cNvSpPr txBox="true"/>
          <p:nvPr/>
        </p:nvSpPr>
        <p:spPr>
          <a:xfrm rot="0">
            <a:off x="1691392" y="4077167"/>
            <a:ext cx="8366760" cy="1274712"/>
          </a:xfrm>
          <a:prstGeom prst="rect">
            <a:avLst/>
          </a:prstGeom>
        </p:spPr>
        <p:txBody>
          <a:bodyPr anchor="t" rtlCol="false" tIns="0" lIns="0" bIns="0" rIns="0">
            <a:spAutoFit/>
          </a:bodyPr>
          <a:lstStyle/>
          <a:p>
            <a:pPr algn="l">
              <a:lnSpc>
                <a:spcPts val="3240"/>
              </a:lnSpc>
            </a:pPr>
            <a:r>
              <a:rPr lang="en-US" sz="2250">
                <a:solidFill>
                  <a:srgbClr val="F3F1F8"/>
                </a:solidFill>
                <a:latin typeface="Barlow"/>
                <a:ea typeface="Barlow"/>
                <a:cs typeface="Barlow"/>
                <a:sym typeface="Barlow"/>
              </a:rPr>
              <a:t>Use language students, families, and everyday account holders can act on. Say “add a word” instead of “increase entropy,” then show one clear next step.</a:t>
            </a:r>
          </a:p>
        </p:txBody>
      </p:sp>
      <p:grpSp>
        <p:nvGrpSpPr>
          <p:cNvPr name="Group 10" id="10"/>
          <p:cNvGrpSpPr/>
          <p:nvPr/>
        </p:nvGrpSpPr>
        <p:grpSpPr>
          <a:xfrm rot="0">
            <a:off x="914381" y="5843883"/>
            <a:ext cx="495290" cy="495300"/>
            <a:chOff x="0" y="0"/>
            <a:chExt cx="660387" cy="660400"/>
          </a:xfrm>
        </p:grpSpPr>
        <p:sp>
          <p:nvSpPr>
            <p:cNvPr name="Freeform 11" id="11"/>
            <p:cNvSpPr/>
            <p:nvPr/>
          </p:nvSpPr>
          <p:spPr>
            <a:xfrm flipH="false" flipV="false" rot="0">
              <a:off x="0" y="0"/>
              <a:ext cx="660400" cy="660400"/>
            </a:xfrm>
            <a:custGeom>
              <a:avLst/>
              <a:gdLst/>
              <a:ahLst/>
              <a:cxnLst/>
              <a:rect r="r" b="b" t="t" l="l"/>
              <a:pathLst>
                <a:path h="660400" w="660400">
                  <a:moveTo>
                    <a:pt x="0" y="330200"/>
                  </a:moveTo>
                  <a:cubicBezTo>
                    <a:pt x="0" y="147828"/>
                    <a:pt x="147828" y="0"/>
                    <a:pt x="330200" y="0"/>
                  </a:cubicBezTo>
                  <a:cubicBezTo>
                    <a:pt x="512572" y="0"/>
                    <a:pt x="660400" y="147828"/>
                    <a:pt x="660400" y="330200"/>
                  </a:cubicBezTo>
                  <a:cubicBezTo>
                    <a:pt x="660400" y="512572"/>
                    <a:pt x="512572" y="660400"/>
                    <a:pt x="330200" y="660400"/>
                  </a:cubicBezTo>
                  <a:cubicBezTo>
                    <a:pt x="147828" y="660400"/>
                    <a:pt x="0" y="512572"/>
                    <a:pt x="0" y="330200"/>
                  </a:cubicBezTo>
                  <a:close/>
                </a:path>
              </a:pathLst>
            </a:custGeom>
            <a:solidFill>
              <a:srgbClr val="F8ED43"/>
            </a:solidFill>
          </p:spPr>
        </p:sp>
      </p:grpSp>
      <p:sp>
        <p:nvSpPr>
          <p:cNvPr name="TextBox 12" id="12"/>
          <p:cNvSpPr txBox="true"/>
          <p:nvPr/>
        </p:nvSpPr>
        <p:spPr>
          <a:xfrm rot="0">
            <a:off x="1021975" y="5996283"/>
            <a:ext cx="1194321" cy="219075"/>
          </a:xfrm>
          <a:prstGeom prst="rect">
            <a:avLst/>
          </a:prstGeom>
        </p:spPr>
        <p:txBody>
          <a:bodyPr anchor="t" rtlCol="false" tIns="0" lIns="0" bIns="0" rIns="0">
            <a:spAutoFit/>
          </a:bodyPr>
          <a:lstStyle/>
          <a:p>
            <a:pPr algn="l">
              <a:lnSpc>
                <a:spcPts val="1942"/>
              </a:lnSpc>
            </a:pPr>
            <a:r>
              <a:rPr lang="en-US" sz="1950" b="true">
                <a:solidFill>
                  <a:srgbClr val="000000"/>
                </a:solidFill>
                <a:latin typeface="Barlow Bold"/>
                <a:ea typeface="Barlow Bold"/>
                <a:cs typeface="Barlow Bold"/>
                <a:sym typeface="Barlow Bold"/>
              </a:rPr>
              <a:t>02</a:t>
            </a:r>
          </a:p>
        </p:txBody>
      </p:sp>
      <p:sp>
        <p:nvSpPr>
          <p:cNvPr name="TextBox 13" id="13"/>
          <p:cNvSpPr txBox="true"/>
          <p:nvPr/>
        </p:nvSpPr>
        <p:spPr>
          <a:xfrm rot="0">
            <a:off x="1691392" y="5795562"/>
            <a:ext cx="8366760" cy="517027"/>
          </a:xfrm>
          <a:prstGeom prst="rect">
            <a:avLst/>
          </a:prstGeom>
        </p:spPr>
        <p:txBody>
          <a:bodyPr anchor="t" rtlCol="false" tIns="0" lIns="0" bIns="0" rIns="0">
            <a:spAutoFit/>
          </a:bodyPr>
          <a:lstStyle/>
          <a:p>
            <a:pPr algn="l">
              <a:lnSpc>
                <a:spcPts val="3790"/>
              </a:lnSpc>
            </a:pPr>
            <a:r>
              <a:rPr lang="en-US" sz="2925" b="true">
                <a:solidFill>
                  <a:srgbClr val="F8ED43"/>
                </a:solidFill>
                <a:latin typeface="Barlow Medium"/>
                <a:ea typeface="Barlow Medium"/>
                <a:cs typeface="Barlow Medium"/>
                <a:sym typeface="Barlow Medium"/>
              </a:rPr>
              <a:t>Make it actionable</a:t>
            </a:r>
          </a:p>
        </p:txBody>
      </p:sp>
      <p:sp>
        <p:nvSpPr>
          <p:cNvPr name="TextBox 14" id="14"/>
          <p:cNvSpPr txBox="true"/>
          <p:nvPr/>
        </p:nvSpPr>
        <p:spPr>
          <a:xfrm rot="0">
            <a:off x="1691392" y="6439510"/>
            <a:ext cx="8366760" cy="1274712"/>
          </a:xfrm>
          <a:prstGeom prst="rect">
            <a:avLst/>
          </a:prstGeom>
        </p:spPr>
        <p:txBody>
          <a:bodyPr anchor="t" rtlCol="false" tIns="0" lIns="0" bIns="0" rIns="0">
            <a:spAutoFit/>
          </a:bodyPr>
          <a:lstStyle/>
          <a:p>
            <a:pPr algn="l">
              <a:lnSpc>
                <a:spcPts val="3240"/>
              </a:lnSpc>
            </a:pPr>
            <a:r>
              <a:rPr lang="en-US" sz="2250">
                <a:solidFill>
                  <a:srgbClr val="F3F1F8"/>
                </a:solidFill>
                <a:latin typeface="Barlow"/>
                <a:ea typeface="Barlow"/>
                <a:cs typeface="Barlow"/>
                <a:sym typeface="Barlow"/>
              </a:rPr>
              <a:t>Explain what to improve, not only that a password is risky. Give a specific cue—lengthen it, make it unique, or stop reusing it—so the next move is obvious.</a:t>
            </a:r>
          </a:p>
        </p:txBody>
      </p:sp>
      <p:grpSp>
        <p:nvGrpSpPr>
          <p:cNvPr name="Group 15" id="15"/>
          <p:cNvGrpSpPr/>
          <p:nvPr/>
        </p:nvGrpSpPr>
        <p:grpSpPr>
          <a:xfrm rot="0">
            <a:off x="914381" y="8206235"/>
            <a:ext cx="495290" cy="495300"/>
            <a:chOff x="0" y="0"/>
            <a:chExt cx="660387" cy="660400"/>
          </a:xfrm>
        </p:grpSpPr>
        <p:sp>
          <p:nvSpPr>
            <p:cNvPr name="Freeform 16" id="16"/>
            <p:cNvSpPr/>
            <p:nvPr/>
          </p:nvSpPr>
          <p:spPr>
            <a:xfrm flipH="false" flipV="false" rot="0">
              <a:off x="0" y="0"/>
              <a:ext cx="660400" cy="660400"/>
            </a:xfrm>
            <a:custGeom>
              <a:avLst/>
              <a:gdLst/>
              <a:ahLst/>
              <a:cxnLst/>
              <a:rect r="r" b="b" t="t" l="l"/>
              <a:pathLst>
                <a:path h="660400" w="660400">
                  <a:moveTo>
                    <a:pt x="0" y="330200"/>
                  </a:moveTo>
                  <a:cubicBezTo>
                    <a:pt x="0" y="147828"/>
                    <a:pt x="147828" y="0"/>
                    <a:pt x="330200" y="0"/>
                  </a:cubicBezTo>
                  <a:cubicBezTo>
                    <a:pt x="512572" y="0"/>
                    <a:pt x="660400" y="147828"/>
                    <a:pt x="660400" y="330200"/>
                  </a:cubicBezTo>
                  <a:cubicBezTo>
                    <a:pt x="660400" y="512572"/>
                    <a:pt x="512572" y="660400"/>
                    <a:pt x="330200" y="660400"/>
                  </a:cubicBezTo>
                  <a:cubicBezTo>
                    <a:pt x="147828" y="660400"/>
                    <a:pt x="0" y="512572"/>
                    <a:pt x="0" y="330200"/>
                  </a:cubicBezTo>
                  <a:close/>
                </a:path>
              </a:pathLst>
            </a:custGeom>
            <a:solidFill>
              <a:srgbClr val="F8ED43"/>
            </a:solidFill>
          </p:spPr>
        </p:sp>
      </p:grpSp>
      <p:sp>
        <p:nvSpPr>
          <p:cNvPr name="TextBox 17" id="17"/>
          <p:cNvSpPr txBox="true"/>
          <p:nvPr/>
        </p:nvSpPr>
        <p:spPr>
          <a:xfrm rot="0">
            <a:off x="1024509" y="8358635"/>
            <a:ext cx="1189406" cy="219075"/>
          </a:xfrm>
          <a:prstGeom prst="rect">
            <a:avLst/>
          </a:prstGeom>
        </p:spPr>
        <p:txBody>
          <a:bodyPr anchor="t" rtlCol="false" tIns="0" lIns="0" bIns="0" rIns="0">
            <a:spAutoFit/>
          </a:bodyPr>
          <a:lstStyle/>
          <a:p>
            <a:pPr algn="l">
              <a:lnSpc>
                <a:spcPts val="1942"/>
              </a:lnSpc>
            </a:pPr>
            <a:r>
              <a:rPr lang="en-US" sz="1950" b="true">
                <a:solidFill>
                  <a:srgbClr val="000000"/>
                </a:solidFill>
                <a:latin typeface="Barlow Bold"/>
                <a:ea typeface="Barlow Bold"/>
                <a:cs typeface="Barlow Bold"/>
                <a:sym typeface="Barlow Bold"/>
              </a:rPr>
              <a:t>03</a:t>
            </a:r>
          </a:p>
        </p:txBody>
      </p:sp>
      <p:sp>
        <p:nvSpPr>
          <p:cNvPr name="TextBox 18" id="18"/>
          <p:cNvSpPr txBox="true"/>
          <p:nvPr/>
        </p:nvSpPr>
        <p:spPr>
          <a:xfrm rot="0">
            <a:off x="1691392" y="8157915"/>
            <a:ext cx="8366760" cy="517027"/>
          </a:xfrm>
          <a:prstGeom prst="rect">
            <a:avLst/>
          </a:prstGeom>
        </p:spPr>
        <p:txBody>
          <a:bodyPr anchor="t" rtlCol="false" tIns="0" lIns="0" bIns="0" rIns="0">
            <a:spAutoFit/>
          </a:bodyPr>
          <a:lstStyle/>
          <a:p>
            <a:pPr algn="l">
              <a:lnSpc>
                <a:spcPts val="3790"/>
              </a:lnSpc>
            </a:pPr>
            <a:r>
              <a:rPr lang="en-US" sz="2925" b="true">
                <a:solidFill>
                  <a:srgbClr val="F8ED43"/>
                </a:solidFill>
                <a:latin typeface="Barlow Medium"/>
                <a:ea typeface="Barlow Medium"/>
                <a:cs typeface="Barlow Medium"/>
                <a:sym typeface="Barlow Medium"/>
              </a:rPr>
              <a:t>Make it realistic</a:t>
            </a:r>
          </a:p>
        </p:txBody>
      </p:sp>
      <p:sp>
        <p:nvSpPr>
          <p:cNvPr name="TextBox 19" id="19"/>
          <p:cNvSpPr txBox="true"/>
          <p:nvPr/>
        </p:nvSpPr>
        <p:spPr>
          <a:xfrm rot="0">
            <a:off x="1691392" y="8770191"/>
            <a:ext cx="8366760" cy="1274712"/>
          </a:xfrm>
          <a:prstGeom prst="rect">
            <a:avLst/>
          </a:prstGeom>
        </p:spPr>
        <p:txBody>
          <a:bodyPr anchor="t" rtlCol="false" tIns="0" lIns="0" bIns="0" rIns="0">
            <a:spAutoFit/>
          </a:bodyPr>
          <a:lstStyle/>
          <a:p>
            <a:pPr algn="l">
              <a:lnSpc>
                <a:spcPts val="3240"/>
              </a:lnSpc>
            </a:pPr>
            <a:r>
              <a:rPr lang="en-US" sz="2250">
                <a:solidFill>
                  <a:srgbClr val="F3F1F8"/>
                </a:solidFill>
                <a:latin typeface="Barlow"/>
                <a:ea typeface="Barlow"/>
                <a:cs typeface="Barlow"/>
                <a:sym typeface="Barlow"/>
              </a:rPr>
              <a:t>Many people manage many logins and need help they can remember. Avoid advice that assumes unlimited time, perfect memory, or a password manager already in place.</a:t>
            </a:r>
          </a:p>
        </p:txBody>
      </p:sp>
      <p:grpSp>
        <p:nvGrpSpPr>
          <p:cNvPr name="Group 20" id="20"/>
          <p:cNvGrpSpPr/>
          <p:nvPr/>
        </p:nvGrpSpPr>
        <p:grpSpPr>
          <a:xfrm rot="0">
            <a:off x="10972524" y="457200"/>
            <a:ext cx="7315019" cy="9372600"/>
            <a:chOff x="0" y="0"/>
            <a:chExt cx="9753359" cy="12496800"/>
          </a:xfrm>
        </p:grpSpPr>
        <p:sp>
          <p:nvSpPr>
            <p:cNvPr name="Freeform 21" id="21" descr="preencoded.png"/>
            <p:cNvSpPr/>
            <p:nvPr/>
          </p:nvSpPr>
          <p:spPr>
            <a:xfrm flipH="false" flipV="false" rot="0">
              <a:off x="0" y="0"/>
              <a:ext cx="9753346" cy="12496800"/>
            </a:xfrm>
            <a:custGeom>
              <a:avLst/>
              <a:gdLst/>
              <a:ahLst/>
              <a:cxnLst/>
              <a:rect r="r" b="b" t="t" l="l"/>
              <a:pathLst>
                <a:path h="12496800" w="9753346">
                  <a:moveTo>
                    <a:pt x="0" y="0"/>
                  </a:moveTo>
                  <a:lnTo>
                    <a:pt x="9753346" y="0"/>
                  </a:lnTo>
                  <a:lnTo>
                    <a:pt x="9753346" y="12496800"/>
                  </a:lnTo>
                  <a:lnTo>
                    <a:pt x="0" y="12496800"/>
                  </a:lnTo>
                  <a:lnTo>
                    <a:pt x="0" y="0"/>
                  </a:lnTo>
                  <a:close/>
                </a:path>
              </a:pathLst>
            </a:custGeom>
            <a:blipFill>
              <a:blip r:embed="rId3"/>
              <a:stretch>
                <a:fillRect l="-1" t="0" r="-1" b="0"/>
              </a:stretch>
            </a:blipFill>
          </p:spPr>
        </p:sp>
      </p:grpSp>
      <p:grpSp>
        <p:nvGrpSpPr>
          <p:cNvPr name="Group 22" id="22"/>
          <p:cNvGrpSpPr/>
          <p:nvPr/>
        </p:nvGrpSpPr>
        <p:grpSpPr>
          <a:xfrm rot="0">
            <a:off x="914381" y="5553370"/>
            <a:ext cx="9143771" cy="28575"/>
            <a:chOff x="0" y="0"/>
            <a:chExt cx="12191695" cy="38100"/>
          </a:xfrm>
        </p:grpSpPr>
        <p:sp>
          <p:nvSpPr>
            <p:cNvPr name="Freeform 23" id="23"/>
            <p:cNvSpPr/>
            <p:nvPr/>
          </p:nvSpPr>
          <p:spPr>
            <a:xfrm flipH="false" flipV="false" rot="0">
              <a:off x="0" y="0"/>
              <a:ext cx="12191746" cy="38100"/>
            </a:xfrm>
            <a:custGeom>
              <a:avLst/>
              <a:gdLst/>
              <a:ahLst/>
              <a:cxnLst/>
              <a:rect r="r" b="b" t="t" l="l"/>
              <a:pathLst>
                <a:path h="38100" w="12191746">
                  <a:moveTo>
                    <a:pt x="0" y="0"/>
                  </a:moveTo>
                  <a:lnTo>
                    <a:pt x="12191746" y="0"/>
                  </a:lnTo>
                  <a:lnTo>
                    <a:pt x="12191746" y="38100"/>
                  </a:lnTo>
                  <a:lnTo>
                    <a:pt x="0" y="38100"/>
                  </a:lnTo>
                  <a:close/>
                </a:path>
              </a:pathLst>
            </a:custGeom>
            <a:solidFill>
              <a:srgbClr val="40456A"/>
            </a:solidFill>
          </p:spPr>
        </p:sp>
      </p:grpSp>
      <p:grpSp>
        <p:nvGrpSpPr>
          <p:cNvPr name="Group 24" id="24"/>
          <p:cNvGrpSpPr/>
          <p:nvPr/>
        </p:nvGrpSpPr>
        <p:grpSpPr>
          <a:xfrm rot="0">
            <a:off x="914381" y="7915723"/>
            <a:ext cx="9143771" cy="28575"/>
            <a:chOff x="0" y="0"/>
            <a:chExt cx="12191695" cy="38100"/>
          </a:xfrm>
        </p:grpSpPr>
        <p:sp>
          <p:nvSpPr>
            <p:cNvPr name="Freeform 25" id="25"/>
            <p:cNvSpPr/>
            <p:nvPr/>
          </p:nvSpPr>
          <p:spPr>
            <a:xfrm flipH="false" flipV="false" rot="0">
              <a:off x="0" y="0"/>
              <a:ext cx="12191746" cy="38100"/>
            </a:xfrm>
            <a:custGeom>
              <a:avLst/>
              <a:gdLst/>
              <a:ahLst/>
              <a:cxnLst/>
              <a:rect r="r" b="b" t="t" l="l"/>
              <a:pathLst>
                <a:path h="38100" w="12191746">
                  <a:moveTo>
                    <a:pt x="0" y="0"/>
                  </a:moveTo>
                  <a:lnTo>
                    <a:pt x="12191746" y="0"/>
                  </a:lnTo>
                  <a:lnTo>
                    <a:pt x="12191746" y="38100"/>
                  </a:lnTo>
                  <a:lnTo>
                    <a:pt x="0" y="38100"/>
                  </a:lnTo>
                  <a:close/>
                </a:path>
              </a:pathLst>
            </a:custGeom>
            <a:solidFill>
              <a:srgbClr val="40456A"/>
            </a:solidFill>
          </p:spPr>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1E0E3F"/>
        </a:solidFill>
      </p:bgPr>
    </p:bg>
    <p:spTree>
      <p:nvGrpSpPr>
        <p:cNvPr id="1" name=""/>
        <p:cNvGrpSpPr/>
        <p:nvPr/>
      </p:nvGrpSpPr>
      <p:grpSpPr>
        <a:xfrm>
          <a:off x="0" y="0"/>
          <a:ext cx="0" cy="0"/>
          <a:chOff x="0" y="0"/>
          <a:chExt cx="0" cy="0"/>
        </a:xfrm>
      </p:grpSpPr>
      <p:sp>
        <p:nvSpPr>
          <p:cNvPr name="TextBox 2" id="2"/>
          <p:cNvSpPr txBox="true"/>
          <p:nvPr/>
        </p:nvSpPr>
        <p:spPr>
          <a:xfrm rot="0">
            <a:off x="914381" y="896941"/>
            <a:ext cx="17373162" cy="270424"/>
          </a:xfrm>
          <a:prstGeom prst="rect">
            <a:avLst/>
          </a:prstGeom>
        </p:spPr>
        <p:txBody>
          <a:bodyPr anchor="t" rtlCol="false" tIns="0" lIns="0" bIns="0" rIns="0">
            <a:spAutoFit/>
          </a:bodyPr>
          <a:lstStyle/>
          <a:p>
            <a:pPr algn="l">
              <a:lnSpc>
                <a:spcPts val="1980"/>
              </a:lnSpc>
            </a:pPr>
            <a:r>
              <a:rPr lang="en-US" sz="1650" spc="132">
                <a:solidFill>
                  <a:srgbClr val="C7D14F"/>
                </a:solidFill>
                <a:latin typeface="Arimo"/>
                <a:ea typeface="Arimo"/>
                <a:cs typeface="Arimo"/>
                <a:sym typeface="Arimo"/>
              </a:rPr>
              <a:t>03 · DEFINE</a:t>
            </a:r>
          </a:p>
        </p:txBody>
      </p:sp>
      <p:sp>
        <p:nvSpPr>
          <p:cNvPr name="TextBox 3" id="3"/>
          <p:cNvSpPr txBox="true"/>
          <p:nvPr/>
        </p:nvSpPr>
        <p:spPr>
          <a:xfrm rot="0">
            <a:off x="914381" y="1389612"/>
            <a:ext cx="16458790" cy="533400"/>
          </a:xfrm>
          <a:prstGeom prst="rect">
            <a:avLst/>
          </a:prstGeom>
        </p:spPr>
        <p:txBody>
          <a:bodyPr anchor="t" rtlCol="false" tIns="0" lIns="0" bIns="0" rIns="0">
            <a:spAutoFit/>
          </a:bodyPr>
          <a:lstStyle/>
          <a:p>
            <a:pPr algn="l">
              <a:lnSpc>
                <a:spcPts val="4752"/>
              </a:lnSpc>
            </a:pPr>
            <a:r>
              <a:rPr lang="en-US" sz="4500" spc="-22">
                <a:solidFill>
                  <a:srgbClr val="F8ED43"/>
                </a:solidFill>
                <a:latin typeface="Saira"/>
                <a:ea typeface="Saira"/>
                <a:cs typeface="Saira"/>
                <a:sym typeface="Saira"/>
              </a:rPr>
              <a:t>Turn “strong” into clear feedback</a:t>
            </a:r>
          </a:p>
        </p:txBody>
      </p:sp>
      <p:sp>
        <p:nvSpPr>
          <p:cNvPr name="TextBox 4" id="4"/>
          <p:cNvSpPr txBox="true"/>
          <p:nvPr/>
        </p:nvSpPr>
        <p:spPr>
          <a:xfrm rot="0">
            <a:off x="914381" y="2119465"/>
            <a:ext cx="17373162" cy="471488"/>
          </a:xfrm>
          <a:prstGeom prst="rect">
            <a:avLst/>
          </a:prstGeom>
        </p:spPr>
        <p:txBody>
          <a:bodyPr anchor="t" rtlCol="false" tIns="0" lIns="0" bIns="0" rIns="0">
            <a:spAutoFit/>
          </a:bodyPr>
          <a:lstStyle/>
          <a:p>
            <a:pPr algn="l">
              <a:lnSpc>
                <a:spcPts val="3267"/>
              </a:lnSpc>
            </a:pPr>
            <a:r>
              <a:rPr lang="en-US" sz="2250">
                <a:solidFill>
                  <a:srgbClr val="F3F1F8"/>
                </a:solidFill>
                <a:latin typeface="Barlow"/>
                <a:ea typeface="Barlow"/>
                <a:cs typeface="Barlow"/>
                <a:sym typeface="Barlow"/>
              </a:rPr>
              <a:t>How might we help a person understand password strength in seconds without exposing the password?</a:t>
            </a:r>
          </a:p>
        </p:txBody>
      </p:sp>
      <p:sp>
        <p:nvSpPr>
          <p:cNvPr name="TextBox 5" id="5"/>
          <p:cNvSpPr txBox="true"/>
          <p:nvPr/>
        </p:nvSpPr>
        <p:spPr>
          <a:xfrm rot="0">
            <a:off x="914381" y="2790977"/>
            <a:ext cx="17373162" cy="471488"/>
          </a:xfrm>
          <a:prstGeom prst="rect">
            <a:avLst/>
          </a:prstGeom>
        </p:spPr>
        <p:txBody>
          <a:bodyPr anchor="t" rtlCol="false" tIns="0" lIns="0" bIns="0" rIns="0">
            <a:spAutoFit/>
          </a:bodyPr>
          <a:lstStyle/>
          <a:p>
            <a:pPr algn="l">
              <a:lnSpc>
                <a:spcPts val="3267"/>
              </a:lnSpc>
            </a:pPr>
            <a:r>
              <a:rPr lang="en-US" sz="2250">
                <a:solidFill>
                  <a:srgbClr val="F3F1F8"/>
                </a:solidFill>
                <a:latin typeface="Barlow"/>
                <a:ea typeface="Barlow"/>
                <a:cs typeface="Barlow"/>
                <a:sym typeface="Barlow"/>
              </a:rPr>
              <a:t>The user needs a decision, not a lecture: show what matters, explain the result, and offer one practical next move.</a:t>
            </a:r>
          </a:p>
        </p:txBody>
      </p:sp>
      <p:grpSp>
        <p:nvGrpSpPr>
          <p:cNvPr name="Group 6" id="6"/>
          <p:cNvGrpSpPr/>
          <p:nvPr/>
        </p:nvGrpSpPr>
        <p:grpSpPr>
          <a:xfrm rot="0">
            <a:off x="914381" y="3518449"/>
            <a:ext cx="6583394" cy="5854151"/>
            <a:chOff x="0" y="0"/>
            <a:chExt cx="8777859" cy="7805534"/>
          </a:xfrm>
        </p:grpSpPr>
        <p:sp>
          <p:nvSpPr>
            <p:cNvPr name="Freeform 7" id="7"/>
            <p:cNvSpPr/>
            <p:nvPr/>
          </p:nvSpPr>
          <p:spPr>
            <a:xfrm flipH="false" flipV="false" rot="0">
              <a:off x="0" y="0"/>
              <a:ext cx="8777859" cy="7805547"/>
            </a:xfrm>
            <a:custGeom>
              <a:avLst/>
              <a:gdLst/>
              <a:ahLst/>
              <a:cxnLst/>
              <a:rect r="r" b="b" t="t" l="l"/>
              <a:pathLst>
                <a:path h="7805547" w="8777859">
                  <a:moveTo>
                    <a:pt x="47625" y="0"/>
                  </a:moveTo>
                  <a:lnTo>
                    <a:pt x="8777859" y="0"/>
                  </a:lnTo>
                  <a:lnTo>
                    <a:pt x="8777859" y="7805547"/>
                  </a:lnTo>
                  <a:lnTo>
                    <a:pt x="47625" y="7805547"/>
                  </a:lnTo>
                  <a:cubicBezTo>
                    <a:pt x="21336" y="7805547"/>
                    <a:pt x="0" y="7784211"/>
                    <a:pt x="0" y="7757922"/>
                  </a:cubicBezTo>
                  <a:lnTo>
                    <a:pt x="0" y="47625"/>
                  </a:lnTo>
                  <a:cubicBezTo>
                    <a:pt x="0" y="21336"/>
                    <a:pt x="21336" y="0"/>
                    <a:pt x="47625" y="0"/>
                  </a:cubicBezTo>
                  <a:close/>
                </a:path>
              </a:pathLst>
            </a:custGeom>
            <a:solidFill>
              <a:srgbClr val="40456A"/>
            </a:solidFill>
          </p:spPr>
        </p:sp>
      </p:grpSp>
      <p:sp>
        <p:nvSpPr>
          <p:cNvPr name="TextBox 8" id="8"/>
          <p:cNvSpPr txBox="true"/>
          <p:nvPr/>
        </p:nvSpPr>
        <p:spPr>
          <a:xfrm rot="0">
            <a:off x="1295371" y="3856587"/>
            <a:ext cx="5821413" cy="533400"/>
          </a:xfrm>
          <a:prstGeom prst="rect">
            <a:avLst/>
          </a:prstGeom>
        </p:spPr>
        <p:txBody>
          <a:bodyPr anchor="t" rtlCol="false" tIns="0" lIns="0" bIns="0" rIns="0">
            <a:spAutoFit/>
          </a:bodyPr>
          <a:lstStyle/>
          <a:p>
            <a:pPr algn="l">
              <a:lnSpc>
                <a:spcPts val="3888"/>
              </a:lnSpc>
            </a:pPr>
            <a:r>
              <a:rPr lang="en-US" sz="3000" b="true">
                <a:solidFill>
                  <a:srgbClr val="FFFFFF"/>
                </a:solidFill>
                <a:latin typeface="Barlow Medium"/>
                <a:ea typeface="Barlow Medium"/>
                <a:cs typeface="Barlow Medium"/>
                <a:sym typeface="Barlow Medium"/>
              </a:rPr>
              <a:t>Inputs</a:t>
            </a:r>
          </a:p>
        </p:txBody>
      </p:sp>
      <p:sp>
        <p:nvSpPr>
          <p:cNvPr name="TextBox 9" id="9"/>
          <p:cNvSpPr txBox="true"/>
          <p:nvPr/>
        </p:nvSpPr>
        <p:spPr>
          <a:xfrm rot="0">
            <a:off x="1295371" y="4504287"/>
            <a:ext cx="5821413" cy="3586162"/>
          </a:xfrm>
          <a:prstGeom prst="rect">
            <a:avLst/>
          </a:prstGeom>
        </p:spPr>
        <p:txBody>
          <a:bodyPr anchor="t" rtlCol="false" tIns="0" lIns="0" bIns="0" rIns="0">
            <a:spAutoFit/>
          </a:bodyPr>
          <a:lstStyle/>
          <a:p>
            <a:pPr algn="l" marL="407194" indent="-203597" lvl="1">
              <a:lnSpc>
                <a:spcPts val="3267"/>
              </a:lnSpc>
              <a:buFont typeface="Arial"/>
              <a:buChar char="•"/>
            </a:pPr>
            <a:r>
              <a:rPr lang="en-US" sz="2250">
                <a:solidFill>
                  <a:srgbClr val="FFFFFF"/>
                </a:solidFill>
                <a:latin typeface="Barlow"/>
                <a:ea typeface="Barlow"/>
                <a:cs typeface="Barlow"/>
                <a:sym typeface="Barlow"/>
              </a:rPr>
              <a:t>Password length — more characters usually create more search space</a:t>
            </a:r>
          </a:p>
          <a:p>
            <a:pPr algn="l" marL="407194" indent="-203597" lvl="1">
              <a:lnSpc>
                <a:spcPts val="3267"/>
              </a:lnSpc>
              <a:buFont typeface="Arial"/>
              <a:buChar char="•"/>
            </a:pPr>
            <a:r>
              <a:rPr lang="en-US" sz="2250">
                <a:solidFill>
                  <a:srgbClr val="FFFFFF"/>
                </a:solidFill>
                <a:latin typeface="Barlow"/>
                <a:ea typeface="Barlow"/>
                <a:cs typeface="Barlow"/>
                <a:sym typeface="Barlow"/>
              </a:rPr>
              <a:t>Character variety — useful when it adds real unpredictability</a:t>
            </a:r>
          </a:p>
          <a:p>
            <a:pPr algn="l" marL="407194" indent="-203597" lvl="1">
              <a:lnSpc>
                <a:spcPts val="3267"/>
              </a:lnSpc>
              <a:buFont typeface="Arial"/>
              <a:buChar char="•"/>
            </a:pPr>
            <a:r>
              <a:rPr lang="en-US" sz="2250">
                <a:solidFill>
                  <a:srgbClr val="FFFFFF"/>
                </a:solidFill>
                <a:latin typeface="Barlow"/>
                <a:ea typeface="Barlow"/>
                <a:cs typeface="Barlow"/>
                <a:sym typeface="Barlow"/>
              </a:rPr>
              <a:t>Common patterns — names, seasons, sequences, or keyboard runs</a:t>
            </a:r>
          </a:p>
          <a:p>
            <a:pPr algn="l" marL="407194" indent="-203597" lvl="1">
              <a:lnSpc>
                <a:spcPts val="3267"/>
              </a:lnSpc>
              <a:buFont typeface="Arial"/>
              <a:buChar char="•"/>
            </a:pPr>
            <a:r>
              <a:rPr lang="en-US" sz="2250">
                <a:solidFill>
                  <a:srgbClr val="FFFFFF"/>
                </a:solidFill>
                <a:latin typeface="Barlow"/>
                <a:ea typeface="Barlow"/>
                <a:cs typeface="Barlow"/>
                <a:sym typeface="Barlow"/>
              </a:rPr>
              <a:t>Reuse risk — a password that looks reused or previously exposed</a:t>
            </a:r>
          </a:p>
        </p:txBody>
      </p:sp>
      <p:sp>
        <p:nvSpPr>
          <p:cNvPr name="TextBox 10" id="10"/>
          <p:cNvSpPr txBox="true"/>
          <p:nvPr/>
        </p:nvSpPr>
        <p:spPr>
          <a:xfrm rot="0">
            <a:off x="7878766" y="3856587"/>
            <a:ext cx="9113415" cy="533400"/>
          </a:xfrm>
          <a:prstGeom prst="rect">
            <a:avLst/>
          </a:prstGeom>
        </p:spPr>
        <p:txBody>
          <a:bodyPr anchor="t" rtlCol="false" tIns="0" lIns="0" bIns="0" rIns="0">
            <a:spAutoFit/>
          </a:bodyPr>
          <a:lstStyle/>
          <a:p>
            <a:pPr algn="l">
              <a:lnSpc>
                <a:spcPts val="3888"/>
              </a:lnSpc>
            </a:pPr>
            <a:r>
              <a:rPr lang="en-US" sz="3000" b="true">
                <a:solidFill>
                  <a:srgbClr val="F8ED43"/>
                </a:solidFill>
                <a:latin typeface="Barlow Medium"/>
                <a:ea typeface="Barlow Medium"/>
                <a:cs typeface="Barlow Medium"/>
                <a:sym typeface="Barlow Medium"/>
              </a:rPr>
              <a:t>Output</a:t>
            </a:r>
          </a:p>
        </p:txBody>
      </p:sp>
      <p:grpSp>
        <p:nvGrpSpPr>
          <p:cNvPr name="Group 11" id="11"/>
          <p:cNvGrpSpPr/>
          <p:nvPr/>
        </p:nvGrpSpPr>
        <p:grpSpPr>
          <a:xfrm rot="0">
            <a:off x="7878766" y="4561437"/>
            <a:ext cx="2885408" cy="3439125"/>
            <a:chOff x="0" y="0"/>
            <a:chExt cx="3847211" cy="4585500"/>
          </a:xfrm>
        </p:grpSpPr>
        <p:sp>
          <p:nvSpPr>
            <p:cNvPr name="Freeform 12" id="12"/>
            <p:cNvSpPr/>
            <p:nvPr/>
          </p:nvSpPr>
          <p:spPr>
            <a:xfrm flipH="false" flipV="false" rot="0">
              <a:off x="0" y="0"/>
              <a:ext cx="3847211" cy="4585462"/>
            </a:xfrm>
            <a:custGeom>
              <a:avLst/>
              <a:gdLst/>
              <a:ahLst/>
              <a:cxnLst/>
              <a:rect r="r" b="b" t="t" l="l"/>
              <a:pathLst>
                <a:path h="4585462" w="3847211">
                  <a:moveTo>
                    <a:pt x="0" y="0"/>
                  </a:moveTo>
                  <a:lnTo>
                    <a:pt x="3847211" y="0"/>
                  </a:lnTo>
                  <a:lnTo>
                    <a:pt x="3847211" y="4585462"/>
                  </a:lnTo>
                  <a:lnTo>
                    <a:pt x="0" y="4585462"/>
                  </a:lnTo>
                  <a:close/>
                </a:path>
              </a:pathLst>
            </a:custGeom>
            <a:solidFill>
              <a:srgbClr val="40456A"/>
            </a:solidFill>
          </p:spPr>
        </p:sp>
      </p:grpSp>
      <p:sp>
        <p:nvSpPr>
          <p:cNvPr name="TextBox 13" id="13"/>
          <p:cNvSpPr txBox="true"/>
          <p:nvPr/>
        </p:nvSpPr>
        <p:spPr>
          <a:xfrm rot="0">
            <a:off x="8183556" y="4772568"/>
            <a:ext cx="2580618" cy="270424"/>
          </a:xfrm>
          <a:prstGeom prst="rect">
            <a:avLst/>
          </a:prstGeom>
        </p:spPr>
        <p:txBody>
          <a:bodyPr anchor="t" rtlCol="false" tIns="0" lIns="0" bIns="0" rIns="0">
            <a:spAutoFit/>
          </a:bodyPr>
          <a:lstStyle/>
          <a:p>
            <a:pPr algn="l">
              <a:lnSpc>
                <a:spcPts val="1980"/>
              </a:lnSpc>
            </a:pPr>
            <a:r>
              <a:rPr lang="en-US" sz="1650" spc="132">
                <a:solidFill>
                  <a:srgbClr val="FFFFFF"/>
                </a:solidFill>
                <a:latin typeface="Arimo"/>
                <a:ea typeface="Arimo"/>
                <a:cs typeface="Arimo"/>
                <a:sym typeface="Arimo"/>
              </a:rPr>
              <a:t>METER</a:t>
            </a:r>
          </a:p>
        </p:txBody>
      </p:sp>
      <p:sp>
        <p:nvSpPr>
          <p:cNvPr name="TextBox 14" id="14"/>
          <p:cNvSpPr txBox="true"/>
          <p:nvPr/>
        </p:nvSpPr>
        <p:spPr>
          <a:xfrm rot="0">
            <a:off x="8183556" y="5150939"/>
            <a:ext cx="2275818" cy="1524000"/>
          </a:xfrm>
          <a:prstGeom prst="rect">
            <a:avLst/>
          </a:prstGeom>
        </p:spPr>
        <p:txBody>
          <a:bodyPr anchor="t" rtlCol="false" tIns="0" lIns="0" bIns="0" rIns="0">
            <a:spAutoFit/>
          </a:bodyPr>
          <a:lstStyle/>
          <a:p>
            <a:pPr algn="l">
              <a:lnSpc>
                <a:spcPts val="3888"/>
              </a:lnSpc>
            </a:pPr>
            <a:r>
              <a:rPr lang="en-US" sz="3000" b="true">
                <a:solidFill>
                  <a:srgbClr val="FFFFFF"/>
                </a:solidFill>
                <a:latin typeface="Barlow Medium"/>
                <a:ea typeface="Barlow Medium"/>
                <a:cs typeface="Barlow Medium"/>
                <a:sym typeface="Barlow Medium"/>
              </a:rPr>
              <a:t>Weak · medium · strong</a:t>
            </a:r>
          </a:p>
        </p:txBody>
      </p:sp>
      <p:sp>
        <p:nvSpPr>
          <p:cNvPr name="TextBox 15" id="15"/>
          <p:cNvSpPr txBox="true"/>
          <p:nvPr/>
        </p:nvSpPr>
        <p:spPr>
          <a:xfrm rot="0">
            <a:off x="8183556" y="6824005"/>
            <a:ext cx="2275818" cy="963663"/>
          </a:xfrm>
          <a:prstGeom prst="rect">
            <a:avLst/>
          </a:prstGeom>
        </p:spPr>
        <p:txBody>
          <a:bodyPr anchor="t" rtlCol="false" tIns="0" lIns="0" bIns="0" rIns="0">
            <a:spAutoFit/>
          </a:bodyPr>
          <a:lstStyle/>
          <a:p>
            <a:pPr algn="l">
              <a:lnSpc>
                <a:spcPts val="2440"/>
              </a:lnSpc>
            </a:pPr>
            <a:r>
              <a:rPr lang="en-US" sz="1800">
                <a:solidFill>
                  <a:srgbClr val="FFFFFF"/>
                </a:solidFill>
                <a:latin typeface="Barlow"/>
                <a:ea typeface="Barlow"/>
                <a:cs typeface="Barlow"/>
                <a:sym typeface="Barlow"/>
              </a:rPr>
              <a:t>A quick signal, not a promise of perfect safety.</a:t>
            </a:r>
          </a:p>
        </p:txBody>
      </p:sp>
      <p:grpSp>
        <p:nvGrpSpPr>
          <p:cNvPr name="Group 16" id="16"/>
          <p:cNvGrpSpPr/>
          <p:nvPr/>
        </p:nvGrpSpPr>
        <p:grpSpPr>
          <a:xfrm rot="0">
            <a:off x="10992764" y="4561437"/>
            <a:ext cx="2885408" cy="3439125"/>
            <a:chOff x="0" y="0"/>
            <a:chExt cx="3847211" cy="4585500"/>
          </a:xfrm>
        </p:grpSpPr>
        <p:sp>
          <p:nvSpPr>
            <p:cNvPr name="Freeform 17" id="17"/>
            <p:cNvSpPr/>
            <p:nvPr/>
          </p:nvSpPr>
          <p:spPr>
            <a:xfrm flipH="false" flipV="false" rot="0">
              <a:off x="0" y="0"/>
              <a:ext cx="3847211" cy="4585462"/>
            </a:xfrm>
            <a:custGeom>
              <a:avLst/>
              <a:gdLst/>
              <a:ahLst/>
              <a:cxnLst/>
              <a:rect r="r" b="b" t="t" l="l"/>
              <a:pathLst>
                <a:path h="4585462" w="3847211">
                  <a:moveTo>
                    <a:pt x="0" y="0"/>
                  </a:moveTo>
                  <a:lnTo>
                    <a:pt x="3847211" y="0"/>
                  </a:lnTo>
                  <a:lnTo>
                    <a:pt x="3847211" y="4585462"/>
                  </a:lnTo>
                  <a:lnTo>
                    <a:pt x="0" y="4585462"/>
                  </a:lnTo>
                  <a:close/>
                </a:path>
              </a:pathLst>
            </a:custGeom>
            <a:solidFill>
              <a:srgbClr val="40456A"/>
            </a:solidFill>
          </p:spPr>
        </p:sp>
      </p:grpSp>
      <p:sp>
        <p:nvSpPr>
          <p:cNvPr name="TextBox 18" id="18"/>
          <p:cNvSpPr txBox="true"/>
          <p:nvPr/>
        </p:nvSpPr>
        <p:spPr>
          <a:xfrm rot="0">
            <a:off x="11297555" y="4772568"/>
            <a:ext cx="2580618" cy="270424"/>
          </a:xfrm>
          <a:prstGeom prst="rect">
            <a:avLst/>
          </a:prstGeom>
        </p:spPr>
        <p:txBody>
          <a:bodyPr anchor="t" rtlCol="false" tIns="0" lIns="0" bIns="0" rIns="0">
            <a:spAutoFit/>
          </a:bodyPr>
          <a:lstStyle/>
          <a:p>
            <a:pPr algn="l">
              <a:lnSpc>
                <a:spcPts val="1980"/>
              </a:lnSpc>
            </a:pPr>
            <a:r>
              <a:rPr lang="en-US" sz="1650" spc="132">
                <a:solidFill>
                  <a:srgbClr val="FFFFFF"/>
                </a:solidFill>
                <a:latin typeface="Arimo"/>
                <a:ea typeface="Arimo"/>
                <a:cs typeface="Arimo"/>
                <a:sym typeface="Arimo"/>
              </a:rPr>
              <a:t>REASONS</a:t>
            </a:r>
          </a:p>
        </p:txBody>
      </p:sp>
      <p:sp>
        <p:nvSpPr>
          <p:cNvPr name="TextBox 19" id="19"/>
          <p:cNvSpPr txBox="true"/>
          <p:nvPr/>
        </p:nvSpPr>
        <p:spPr>
          <a:xfrm rot="0">
            <a:off x="11297555" y="5150939"/>
            <a:ext cx="2275818" cy="1524000"/>
          </a:xfrm>
          <a:prstGeom prst="rect">
            <a:avLst/>
          </a:prstGeom>
        </p:spPr>
        <p:txBody>
          <a:bodyPr anchor="t" rtlCol="false" tIns="0" lIns="0" bIns="0" rIns="0">
            <a:spAutoFit/>
          </a:bodyPr>
          <a:lstStyle/>
          <a:p>
            <a:pPr algn="l">
              <a:lnSpc>
                <a:spcPts val="3888"/>
              </a:lnSpc>
            </a:pPr>
            <a:r>
              <a:rPr lang="en-US" sz="3000" b="true">
                <a:solidFill>
                  <a:srgbClr val="FFFFFF"/>
                </a:solidFill>
                <a:latin typeface="Barlow Medium"/>
                <a:ea typeface="Barlow Medium"/>
                <a:cs typeface="Barlow Medium"/>
                <a:sym typeface="Barlow Medium"/>
              </a:rPr>
              <a:t>What made the score change?</a:t>
            </a:r>
          </a:p>
        </p:txBody>
      </p:sp>
      <p:sp>
        <p:nvSpPr>
          <p:cNvPr name="TextBox 20" id="20"/>
          <p:cNvSpPr txBox="true"/>
          <p:nvPr/>
        </p:nvSpPr>
        <p:spPr>
          <a:xfrm rot="0">
            <a:off x="11297555" y="6824005"/>
            <a:ext cx="2275818" cy="963663"/>
          </a:xfrm>
          <a:prstGeom prst="rect">
            <a:avLst/>
          </a:prstGeom>
        </p:spPr>
        <p:txBody>
          <a:bodyPr anchor="t" rtlCol="false" tIns="0" lIns="0" bIns="0" rIns="0">
            <a:spAutoFit/>
          </a:bodyPr>
          <a:lstStyle/>
          <a:p>
            <a:pPr algn="l">
              <a:lnSpc>
                <a:spcPts val="2440"/>
              </a:lnSpc>
            </a:pPr>
            <a:r>
              <a:rPr lang="en-US" sz="1800">
                <a:solidFill>
                  <a:srgbClr val="FFFFFF"/>
                </a:solidFill>
                <a:latin typeface="Barlow"/>
                <a:ea typeface="Barlow"/>
                <a:cs typeface="Barlow"/>
                <a:sym typeface="Barlow"/>
              </a:rPr>
              <a:t>Name the helpful signal and the remaining concern.</a:t>
            </a:r>
          </a:p>
        </p:txBody>
      </p:sp>
      <p:grpSp>
        <p:nvGrpSpPr>
          <p:cNvPr name="Group 21" id="21"/>
          <p:cNvGrpSpPr/>
          <p:nvPr/>
        </p:nvGrpSpPr>
        <p:grpSpPr>
          <a:xfrm rot="0">
            <a:off x="14106773" y="4561437"/>
            <a:ext cx="2885408" cy="3439125"/>
            <a:chOff x="0" y="0"/>
            <a:chExt cx="3847211" cy="4585500"/>
          </a:xfrm>
        </p:grpSpPr>
        <p:sp>
          <p:nvSpPr>
            <p:cNvPr name="Freeform 22" id="22"/>
            <p:cNvSpPr/>
            <p:nvPr/>
          </p:nvSpPr>
          <p:spPr>
            <a:xfrm flipH="false" flipV="false" rot="0">
              <a:off x="0" y="0"/>
              <a:ext cx="3847211" cy="4585462"/>
            </a:xfrm>
            <a:custGeom>
              <a:avLst/>
              <a:gdLst/>
              <a:ahLst/>
              <a:cxnLst/>
              <a:rect r="r" b="b" t="t" l="l"/>
              <a:pathLst>
                <a:path h="4585462" w="3847211">
                  <a:moveTo>
                    <a:pt x="0" y="0"/>
                  </a:moveTo>
                  <a:lnTo>
                    <a:pt x="3847211" y="0"/>
                  </a:lnTo>
                  <a:lnTo>
                    <a:pt x="3847211" y="4585462"/>
                  </a:lnTo>
                  <a:lnTo>
                    <a:pt x="0" y="4585462"/>
                  </a:lnTo>
                  <a:close/>
                </a:path>
              </a:pathLst>
            </a:custGeom>
            <a:solidFill>
              <a:srgbClr val="40456A"/>
            </a:solidFill>
          </p:spPr>
        </p:sp>
      </p:grpSp>
      <p:sp>
        <p:nvSpPr>
          <p:cNvPr name="TextBox 23" id="23"/>
          <p:cNvSpPr txBox="true"/>
          <p:nvPr/>
        </p:nvSpPr>
        <p:spPr>
          <a:xfrm rot="0">
            <a:off x="14411563" y="4772568"/>
            <a:ext cx="2580618" cy="270424"/>
          </a:xfrm>
          <a:prstGeom prst="rect">
            <a:avLst/>
          </a:prstGeom>
        </p:spPr>
        <p:txBody>
          <a:bodyPr anchor="t" rtlCol="false" tIns="0" lIns="0" bIns="0" rIns="0">
            <a:spAutoFit/>
          </a:bodyPr>
          <a:lstStyle/>
          <a:p>
            <a:pPr algn="l">
              <a:lnSpc>
                <a:spcPts val="1980"/>
              </a:lnSpc>
            </a:pPr>
            <a:r>
              <a:rPr lang="en-US" sz="1650" spc="132">
                <a:solidFill>
                  <a:srgbClr val="FFFFFF"/>
                </a:solidFill>
                <a:latin typeface="Arimo"/>
                <a:ea typeface="Arimo"/>
                <a:cs typeface="Arimo"/>
                <a:sym typeface="Arimo"/>
              </a:rPr>
              <a:t>NEXT STEP</a:t>
            </a:r>
          </a:p>
        </p:txBody>
      </p:sp>
      <p:sp>
        <p:nvSpPr>
          <p:cNvPr name="TextBox 24" id="24"/>
          <p:cNvSpPr txBox="true"/>
          <p:nvPr/>
        </p:nvSpPr>
        <p:spPr>
          <a:xfrm rot="0">
            <a:off x="14411563" y="5150939"/>
            <a:ext cx="2275818" cy="1028700"/>
          </a:xfrm>
          <a:prstGeom prst="rect">
            <a:avLst/>
          </a:prstGeom>
        </p:spPr>
        <p:txBody>
          <a:bodyPr anchor="t" rtlCol="false" tIns="0" lIns="0" bIns="0" rIns="0">
            <a:spAutoFit/>
          </a:bodyPr>
          <a:lstStyle/>
          <a:p>
            <a:pPr algn="l">
              <a:lnSpc>
                <a:spcPts val="3888"/>
              </a:lnSpc>
            </a:pPr>
            <a:r>
              <a:rPr lang="en-US" sz="3000" b="true">
                <a:solidFill>
                  <a:srgbClr val="FFFFFF"/>
                </a:solidFill>
                <a:latin typeface="Barlow Medium"/>
                <a:ea typeface="Barlow Medium"/>
                <a:cs typeface="Barlow Medium"/>
                <a:sym typeface="Barlow Medium"/>
              </a:rPr>
              <a:t>One safer action to try</a:t>
            </a:r>
          </a:p>
        </p:txBody>
      </p:sp>
      <p:sp>
        <p:nvSpPr>
          <p:cNvPr name="TextBox 25" id="25"/>
          <p:cNvSpPr txBox="true"/>
          <p:nvPr/>
        </p:nvSpPr>
        <p:spPr>
          <a:xfrm rot="0">
            <a:off x="14411563" y="6328705"/>
            <a:ext cx="2275818" cy="1272188"/>
          </a:xfrm>
          <a:prstGeom prst="rect">
            <a:avLst/>
          </a:prstGeom>
        </p:spPr>
        <p:txBody>
          <a:bodyPr anchor="t" rtlCol="false" tIns="0" lIns="0" bIns="0" rIns="0">
            <a:spAutoFit/>
          </a:bodyPr>
          <a:lstStyle/>
          <a:p>
            <a:pPr algn="l">
              <a:lnSpc>
                <a:spcPts val="2440"/>
              </a:lnSpc>
            </a:pPr>
            <a:r>
              <a:rPr lang="en-US" sz="1800">
                <a:solidFill>
                  <a:srgbClr val="FFFFFF"/>
                </a:solidFill>
                <a:latin typeface="Barlow"/>
                <a:ea typeface="Barlow"/>
                <a:cs typeface="Barlow"/>
                <a:sym typeface="Barlow"/>
              </a:rPr>
              <a:t>For example: make it longer, remove a pattern, or use a unique password.</a:t>
            </a:r>
          </a:p>
        </p:txBody>
      </p:sp>
      <p:grpSp>
        <p:nvGrpSpPr>
          <p:cNvPr name="Group 26" id="26"/>
          <p:cNvGrpSpPr/>
          <p:nvPr/>
        </p:nvGrpSpPr>
        <p:grpSpPr>
          <a:xfrm rot="0">
            <a:off x="7483488" y="3518449"/>
            <a:ext cx="28575" cy="5854151"/>
            <a:chOff x="0" y="0"/>
            <a:chExt cx="38100" cy="7805534"/>
          </a:xfrm>
        </p:grpSpPr>
        <p:sp>
          <p:nvSpPr>
            <p:cNvPr name="Freeform 27" id="27"/>
            <p:cNvSpPr/>
            <p:nvPr/>
          </p:nvSpPr>
          <p:spPr>
            <a:xfrm flipH="false" flipV="false" rot="0">
              <a:off x="0" y="0"/>
              <a:ext cx="38100" cy="7805547"/>
            </a:xfrm>
            <a:custGeom>
              <a:avLst/>
              <a:gdLst/>
              <a:ahLst/>
              <a:cxnLst/>
              <a:rect r="r" b="b" t="t" l="l"/>
              <a:pathLst>
                <a:path h="7805547" w="38100">
                  <a:moveTo>
                    <a:pt x="0" y="0"/>
                  </a:moveTo>
                  <a:lnTo>
                    <a:pt x="38100" y="0"/>
                  </a:lnTo>
                  <a:lnTo>
                    <a:pt x="38100" y="7805547"/>
                  </a:lnTo>
                  <a:lnTo>
                    <a:pt x="0" y="7805547"/>
                  </a:lnTo>
                  <a:close/>
                </a:path>
              </a:pathLst>
            </a:custGeom>
            <a:solidFill>
              <a:srgbClr val="40456A"/>
            </a:solidFill>
          </p:spPr>
        </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1E0E3F"/>
        </a:solidFill>
      </p:bgPr>
    </p:bg>
    <p:spTree>
      <p:nvGrpSpPr>
        <p:cNvPr id="1" name=""/>
        <p:cNvGrpSpPr/>
        <p:nvPr/>
      </p:nvGrpSpPr>
      <p:grpSpPr>
        <a:xfrm>
          <a:off x="0" y="0"/>
          <a:ext cx="0" cy="0"/>
          <a:chOff x="0" y="0"/>
          <a:chExt cx="0" cy="0"/>
        </a:xfrm>
      </p:grpSpPr>
      <p:sp>
        <p:nvSpPr>
          <p:cNvPr name="TextBox 2" id="2"/>
          <p:cNvSpPr txBox="true"/>
          <p:nvPr/>
        </p:nvSpPr>
        <p:spPr>
          <a:xfrm rot="0">
            <a:off x="914381" y="896941"/>
            <a:ext cx="17373162" cy="270424"/>
          </a:xfrm>
          <a:prstGeom prst="rect">
            <a:avLst/>
          </a:prstGeom>
        </p:spPr>
        <p:txBody>
          <a:bodyPr anchor="t" rtlCol="false" tIns="0" lIns="0" bIns="0" rIns="0">
            <a:spAutoFit/>
          </a:bodyPr>
          <a:lstStyle/>
          <a:p>
            <a:pPr algn="l">
              <a:lnSpc>
                <a:spcPts val="1980"/>
              </a:lnSpc>
            </a:pPr>
            <a:r>
              <a:rPr lang="en-US" sz="1650" spc="132">
                <a:solidFill>
                  <a:srgbClr val="C7D14F"/>
                </a:solidFill>
                <a:latin typeface="Arimo"/>
                <a:ea typeface="Arimo"/>
                <a:cs typeface="Arimo"/>
                <a:sym typeface="Arimo"/>
              </a:rPr>
              <a:t>04 · IDEA GENERATION</a:t>
            </a:r>
          </a:p>
        </p:txBody>
      </p:sp>
      <p:sp>
        <p:nvSpPr>
          <p:cNvPr name="TextBox 3" id="3"/>
          <p:cNvSpPr txBox="true"/>
          <p:nvPr/>
        </p:nvSpPr>
        <p:spPr>
          <a:xfrm rot="0">
            <a:off x="914381" y="1389612"/>
            <a:ext cx="16458790" cy="533400"/>
          </a:xfrm>
          <a:prstGeom prst="rect">
            <a:avLst/>
          </a:prstGeom>
        </p:spPr>
        <p:txBody>
          <a:bodyPr anchor="t" rtlCol="false" tIns="0" lIns="0" bIns="0" rIns="0">
            <a:spAutoFit/>
          </a:bodyPr>
          <a:lstStyle/>
          <a:p>
            <a:pPr algn="l">
              <a:lnSpc>
                <a:spcPts val="4752"/>
              </a:lnSpc>
            </a:pPr>
            <a:r>
              <a:rPr lang="en-US" sz="4500" spc="-22">
                <a:solidFill>
                  <a:srgbClr val="F8ED43"/>
                </a:solidFill>
                <a:latin typeface="Saira"/>
                <a:ea typeface="Saira"/>
                <a:cs typeface="Saira"/>
                <a:sym typeface="Saira"/>
              </a:rPr>
              <a:t>Many ways to make strength visible</a:t>
            </a:r>
          </a:p>
        </p:txBody>
      </p:sp>
      <p:sp>
        <p:nvSpPr>
          <p:cNvPr name="TextBox 4" id="4"/>
          <p:cNvSpPr txBox="true"/>
          <p:nvPr/>
        </p:nvSpPr>
        <p:spPr>
          <a:xfrm rot="0">
            <a:off x="914381" y="2119465"/>
            <a:ext cx="17373162" cy="471488"/>
          </a:xfrm>
          <a:prstGeom prst="rect">
            <a:avLst/>
          </a:prstGeom>
        </p:spPr>
        <p:txBody>
          <a:bodyPr anchor="t" rtlCol="false" tIns="0" lIns="0" bIns="0" rIns="0">
            <a:spAutoFit/>
          </a:bodyPr>
          <a:lstStyle/>
          <a:p>
            <a:pPr algn="l">
              <a:lnSpc>
                <a:spcPts val="3267"/>
              </a:lnSpc>
            </a:pPr>
            <a:r>
              <a:rPr lang="en-US" sz="2250">
                <a:solidFill>
                  <a:srgbClr val="F3F1F8"/>
                </a:solidFill>
                <a:latin typeface="Barlow"/>
                <a:ea typeface="Barlow"/>
                <a:cs typeface="Barlow"/>
                <a:sym typeface="Barlow"/>
              </a:rPr>
              <a:t>Generate several small interventions, compare what each teaches, then combine the clearest signals without overwhelming the user.</a:t>
            </a:r>
          </a:p>
        </p:txBody>
      </p:sp>
      <p:grpSp>
        <p:nvGrpSpPr>
          <p:cNvPr name="Group 5" id="5"/>
          <p:cNvGrpSpPr/>
          <p:nvPr/>
        </p:nvGrpSpPr>
        <p:grpSpPr>
          <a:xfrm rot="0">
            <a:off x="914381" y="2837412"/>
            <a:ext cx="3771805" cy="6535188"/>
            <a:chOff x="0" y="0"/>
            <a:chExt cx="5029073" cy="8713584"/>
          </a:xfrm>
        </p:grpSpPr>
        <p:sp>
          <p:nvSpPr>
            <p:cNvPr name="Freeform 6" id="6"/>
            <p:cNvSpPr/>
            <p:nvPr/>
          </p:nvSpPr>
          <p:spPr>
            <a:xfrm flipH="false" flipV="false" rot="0">
              <a:off x="0" y="0"/>
              <a:ext cx="5029073" cy="8713597"/>
            </a:xfrm>
            <a:custGeom>
              <a:avLst/>
              <a:gdLst/>
              <a:ahLst/>
              <a:cxnLst/>
              <a:rect r="r" b="b" t="t" l="l"/>
              <a:pathLst>
                <a:path h="8713597" w="5029073">
                  <a:moveTo>
                    <a:pt x="0" y="57150"/>
                  </a:moveTo>
                  <a:cubicBezTo>
                    <a:pt x="0" y="25527"/>
                    <a:pt x="25527" y="0"/>
                    <a:pt x="57150" y="0"/>
                  </a:cubicBezTo>
                  <a:lnTo>
                    <a:pt x="4971923" y="0"/>
                  </a:lnTo>
                  <a:cubicBezTo>
                    <a:pt x="5003419" y="0"/>
                    <a:pt x="5029073" y="25527"/>
                    <a:pt x="5029073" y="57150"/>
                  </a:cubicBezTo>
                  <a:lnTo>
                    <a:pt x="5029073" y="8656447"/>
                  </a:lnTo>
                  <a:cubicBezTo>
                    <a:pt x="5029073" y="8687943"/>
                    <a:pt x="5003546" y="8713597"/>
                    <a:pt x="4971923" y="8713597"/>
                  </a:cubicBezTo>
                  <a:lnTo>
                    <a:pt x="57150" y="8713597"/>
                  </a:lnTo>
                  <a:cubicBezTo>
                    <a:pt x="25654" y="8713597"/>
                    <a:pt x="0" y="8688070"/>
                    <a:pt x="0" y="8656447"/>
                  </a:cubicBezTo>
                  <a:close/>
                </a:path>
              </a:pathLst>
            </a:custGeom>
            <a:solidFill>
              <a:srgbClr val="40456A"/>
            </a:solidFill>
          </p:spPr>
        </p:sp>
      </p:grpSp>
      <p:sp>
        <p:nvSpPr>
          <p:cNvPr name="TextBox 7" id="7"/>
          <p:cNvSpPr txBox="true"/>
          <p:nvPr/>
        </p:nvSpPr>
        <p:spPr>
          <a:xfrm rot="0">
            <a:off x="1295371" y="3162843"/>
            <a:ext cx="3390814" cy="270424"/>
          </a:xfrm>
          <a:prstGeom prst="rect">
            <a:avLst/>
          </a:prstGeom>
        </p:spPr>
        <p:txBody>
          <a:bodyPr anchor="t" rtlCol="false" tIns="0" lIns="0" bIns="0" rIns="0">
            <a:spAutoFit/>
          </a:bodyPr>
          <a:lstStyle/>
          <a:p>
            <a:pPr algn="l">
              <a:lnSpc>
                <a:spcPts val="1980"/>
              </a:lnSpc>
            </a:pPr>
            <a:r>
              <a:rPr lang="en-US" sz="1650" spc="132">
                <a:solidFill>
                  <a:srgbClr val="FFFFFF"/>
                </a:solidFill>
                <a:latin typeface="Arimo"/>
                <a:ea typeface="Arimo"/>
                <a:cs typeface="Arimo"/>
                <a:sym typeface="Arimo"/>
              </a:rPr>
              <a:t>01</a:t>
            </a:r>
          </a:p>
        </p:txBody>
      </p:sp>
      <p:sp>
        <p:nvSpPr>
          <p:cNvPr name="TextBox 8" id="8"/>
          <p:cNvSpPr txBox="true"/>
          <p:nvPr/>
        </p:nvSpPr>
        <p:spPr>
          <a:xfrm rot="0">
            <a:off x="1295371" y="3541214"/>
            <a:ext cx="3009824" cy="533400"/>
          </a:xfrm>
          <a:prstGeom prst="rect">
            <a:avLst/>
          </a:prstGeom>
        </p:spPr>
        <p:txBody>
          <a:bodyPr anchor="t" rtlCol="false" tIns="0" lIns="0" bIns="0" rIns="0">
            <a:spAutoFit/>
          </a:bodyPr>
          <a:lstStyle/>
          <a:p>
            <a:pPr algn="l">
              <a:lnSpc>
                <a:spcPts val="3888"/>
              </a:lnSpc>
            </a:pPr>
            <a:r>
              <a:rPr lang="en-US" sz="3000" b="true">
                <a:solidFill>
                  <a:srgbClr val="FFFFFF"/>
                </a:solidFill>
                <a:latin typeface="Barlow Medium"/>
                <a:ea typeface="Barlow Medium"/>
                <a:cs typeface="Barlow Medium"/>
                <a:sym typeface="Barlow Medium"/>
              </a:rPr>
              <a:t>Color meter</a:t>
            </a:r>
          </a:p>
        </p:txBody>
      </p:sp>
      <p:sp>
        <p:nvSpPr>
          <p:cNvPr name="TextBox 9" id="9"/>
          <p:cNvSpPr txBox="true"/>
          <p:nvPr/>
        </p:nvSpPr>
        <p:spPr>
          <a:xfrm rot="0">
            <a:off x="1295371" y="4199630"/>
            <a:ext cx="3009824" cy="2543175"/>
          </a:xfrm>
          <a:prstGeom prst="rect">
            <a:avLst/>
          </a:prstGeom>
        </p:spPr>
        <p:txBody>
          <a:bodyPr anchor="t" rtlCol="false" tIns="0" lIns="0" bIns="0" rIns="0">
            <a:spAutoFit/>
          </a:bodyPr>
          <a:lstStyle/>
          <a:p>
            <a:pPr algn="l">
              <a:lnSpc>
                <a:spcPts val="3267"/>
              </a:lnSpc>
            </a:pPr>
            <a:r>
              <a:rPr lang="en-US" sz="2250">
                <a:solidFill>
                  <a:srgbClr val="FFFFFF"/>
                </a:solidFill>
                <a:latin typeface="Barlow"/>
                <a:ea typeface="Barlow"/>
                <a:cs typeface="Barlow"/>
                <a:sym typeface="Barlow"/>
              </a:rPr>
              <a:t>Red, amber, green at a glance. The prototype shifts color as the score improves, giving instant orientation before the user reads the detail.</a:t>
            </a:r>
          </a:p>
        </p:txBody>
      </p:sp>
      <p:grpSp>
        <p:nvGrpSpPr>
          <p:cNvPr name="Group 10" id="10"/>
          <p:cNvGrpSpPr/>
          <p:nvPr/>
        </p:nvGrpSpPr>
        <p:grpSpPr>
          <a:xfrm rot="0">
            <a:off x="5143367" y="2837412"/>
            <a:ext cx="3771805" cy="6535188"/>
            <a:chOff x="0" y="0"/>
            <a:chExt cx="5029073" cy="8713584"/>
          </a:xfrm>
        </p:grpSpPr>
        <p:sp>
          <p:nvSpPr>
            <p:cNvPr name="Freeform 11" id="11"/>
            <p:cNvSpPr/>
            <p:nvPr/>
          </p:nvSpPr>
          <p:spPr>
            <a:xfrm flipH="false" flipV="false" rot="0">
              <a:off x="0" y="0"/>
              <a:ext cx="5029073" cy="8713597"/>
            </a:xfrm>
            <a:custGeom>
              <a:avLst/>
              <a:gdLst/>
              <a:ahLst/>
              <a:cxnLst/>
              <a:rect r="r" b="b" t="t" l="l"/>
              <a:pathLst>
                <a:path h="8713597" w="5029073">
                  <a:moveTo>
                    <a:pt x="0" y="57150"/>
                  </a:moveTo>
                  <a:cubicBezTo>
                    <a:pt x="0" y="25527"/>
                    <a:pt x="25527" y="0"/>
                    <a:pt x="57150" y="0"/>
                  </a:cubicBezTo>
                  <a:lnTo>
                    <a:pt x="4971923" y="0"/>
                  </a:lnTo>
                  <a:cubicBezTo>
                    <a:pt x="5003419" y="0"/>
                    <a:pt x="5029073" y="25527"/>
                    <a:pt x="5029073" y="57150"/>
                  </a:cubicBezTo>
                  <a:lnTo>
                    <a:pt x="5029073" y="8656447"/>
                  </a:lnTo>
                  <a:cubicBezTo>
                    <a:pt x="5029073" y="8687943"/>
                    <a:pt x="5003546" y="8713597"/>
                    <a:pt x="4971923" y="8713597"/>
                  </a:cubicBezTo>
                  <a:lnTo>
                    <a:pt x="57150" y="8713597"/>
                  </a:lnTo>
                  <a:cubicBezTo>
                    <a:pt x="25654" y="8713597"/>
                    <a:pt x="0" y="8688070"/>
                    <a:pt x="0" y="8656447"/>
                  </a:cubicBezTo>
                  <a:close/>
                </a:path>
              </a:pathLst>
            </a:custGeom>
            <a:solidFill>
              <a:srgbClr val="40456A"/>
            </a:solidFill>
          </p:spPr>
        </p:sp>
      </p:grpSp>
      <p:sp>
        <p:nvSpPr>
          <p:cNvPr name="TextBox 12" id="12"/>
          <p:cNvSpPr txBox="true"/>
          <p:nvPr/>
        </p:nvSpPr>
        <p:spPr>
          <a:xfrm rot="0">
            <a:off x="5524367" y="3162843"/>
            <a:ext cx="3390814" cy="270424"/>
          </a:xfrm>
          <a:prstGeom prst="rect">
            <a:avLst/>
          </a:prstGeom>
        </p:spPr>
        <p:txBody>
          <a:bodyPr anchor="t" rtlCol="false" tIns="0" lIns="0" bIns="0" rIns="0">
            <a:spAutoFit/>
          </a:bodyPr>
          <a:lstStyle/>
          <a:p>
            <a:pPr algn="l">
              <a:lnSpc>
                <a:spcPts val="1980"/>
              </a:lnSpc>
            </a:pPr>
            <a:r>
              <a:rPr lang="en-US" sz="1650" spc="132">
                <a:solidFill>
                  <a:srgbClr val="FFFFFF"/>
                </a:solidFill>
                <a:latin typeface="Arimo"/>
                <a:ea typeface="Arimo"/>
                <a:cs typeface="Arimo"/>
                <a:sym typeface="Arimo"/>
              </a:rPr>
              <a:t>02</a:t>
            </a:r>
          </a:p>
        </p:txBody>
      </p:sp>
      <p:sp>
        <p:nvSpPr>
          <p:cNvPr name="TextBox 13" id="13"/>
          <p:cNvSpPr txBox="true"/>
          <p:nvPr/>
        </p:nvSpPr>
        <p:spPr>
          <a:xfrm rot="0">
            <a:off x="5524367" y="3541214"/>
            <a:ext cx="3009824" cy="533400"/>
          </a:xfrm>
          <a:prstGeom prst="rect">
            <a:avLst/>
          </a:prstGeom>
        </p:spPr>
        <p:txBody>
          <a:bodyPr anchor="t" rtlCol="false" tIns="0" lIns="0" bIns="0" rIns="0">
            <a:spAutoFit/>
          </a:bodyPr>
          <a:lstStyle/>
          <a:p>
            <a:pPr algn="l">
              <a:lnSpc>
                <a:spcPts val="3888"/>
              </a:lnSpc>
            </a:pPr>
            <a:r>
              <a:rPr lang="en-US" sz="3000" b="true">
                <a:solidFill>
                  <a:srgbClr val="FFFFFF"/>
                </a:solidFill>
                <a:latin typeface="Barlow Medium"/>
                <a:ea typeface="Barlow Medium"/>
                <a:cs typeface="Barlow Medium"/>
                <a:sym typeface="Barlow Medium"/>
              </a:rPr>
              <a:t>Checklist</a:t>
            </a:r>
          </a:p>
        </p:txBody>
      </p:sp>
      <p:sp>
        <p:nvSpPr>
          <p:cNvPr name="TextBox 14" id="14"/>
          <p:cNvSpPr txBox="true"/>
          <p:nvPr/>
        </p:nvSpPr>
        <p:spPr>
          <a:xfrm rot="0">
            <a:off x="5524367" y="4199630"/>
            <a:ext cx="3009824" cy="3371850"/>
          </a:xfrm>
          <a:prstGeom prst="rect">
            <a:avLst/>
          </a:prstGeom>
        </p:spPr>
        <p:txBody>
          <a:bodyPr anchor="t" rtlCol="false" tIns="0" lIns="0" bIns="0" rIns="0">
            <a:spAutoFit/>
          </a:bodyPr>
          <a:lstStyle/>
          <a:p>
            <a:pPr algn="l">
              <a:lnSpc>
                <a:spcPts val="3267"/>
              </a:lnSpc>
            </a:pPr>
            <a:r>
              <a:rPr lang="en-US" sz="2250">
                <a:solidFill>
                  <a:srgbClr val="FFFFFF"/>
                </a:solidFill>
                <a:latin typeface="Barlow"/>
                <a:ea typeface="Barlow"/>
                <a:cs typeface="Barlow"/>
                <a:sym typeface="Barlow"/>
              </a:rPr>
              <a:t>Long, random, unique, and not based on personal details. Each item flips to a check as it passes, so users see why a password is strong—not just a final label.</a:t>
            </a:r>
          </a:p>
        </p:txBody>
      </p:sp>
      <p:grpSp>
        <p:nvGrpSpPr>
          <p:cNvPr name="Group 15" id="15"/>
          <p:cNvGrpSpPr/>
          <p:nvPr/>
        </p:nvGrpSpPr>
        <p:grpSpPr>
          <a:xfrm rot="0">
            <a:off x="9372362" y="2837412"/>
            <a:ext cx="3771805" cy="6535188"/>
            <a:chOff x="0" y="0"/>
            <a:chExt cx="5029073" cy="8713584"/>
          </a:xfrm>
        </p:grpSpPr>
        <p:sp>
          <p:nvSpPr>
            <p:cNvPr name="Freeform 16" id="16"/>
            <p:cNvSpPr/>
            <p:nvPr/>
          </p:nvSpPr>
          <p:spPr>
            <a:xfrm flipH="false" flipV="false" rot="0">
              <a:off x="0" y="0"/>
              <a:ext cx="5029073" cy="8713597"/>
            </a:xfrm>
            <a:custGeom>
              <a:avLst/>
              <a:gdLst/>
              <a:ahLst/>
              <a:cxnLst/>
              <a:rect r="r" b="b" t="t" l="l"/>
              <a:pathLst>
                <a:path h="8713597" w="5029073">
                  <a:moveTo>
                    <a:pt x="0" y="57150"/>
                  </a:moveTo>
                  <a:cubicBezTo>
                    <a:pt x="0" y="25527"/>
                    <a:pt x="25527" y="0"/>
                    <a:pt x="57150" y="0"/>
                  </a:cubicBezTo>
                  <a:lnTo>
                    <a:pt x="4971923" y="0"/>
                  </a:lnTo>
                  <a:cubicBezTo>
                    <a:pt x="5003419" y="0"/>
                    <a:pt x="5029073" y="25527"/>
                    <a:pt x="5029073" y="57150"/>
                  </a:cubicBezTo>
                  <a:lnTo>
                    <a:pt x="5029073" y="8656447"/>
                  </a:lnTo>
                  <a:cubicBezTo>
                    <a:pt x="5029073" y="8687943"/>
                    <a:pt x="5003546" y="8713597"/>
                    <a:pt x="4971923" y="8713597"/>
                  </a:cubicBezTo>
                  <a:lnTo>
                    <a:pt x="57150" y="8713597"/>
                  </a:lnTo>
                  <a:cubicBezTo>
                    <a:pt x="25654" y="8713597"/>
                    <a:pt x="0" y="8688070"/>
                    <a:pt x="0" y="8656447"/>
                  </a:cubicBezTo>
                  <a:close/>
                </a:path>
              </a:pathLst>
            </a:custGeom>
            <a:solidFill>
              <a:srgbClr val="40456A"/>
            </a:solidFill>
          </p:spPr>
        </p:sp>
      </p:grpSp>
      <p:sp>
        <p:nvSpPr>
          <p:cNvPr name="TextBox 17" id="17"/>
          <p:cNvSpPr txBox="true"/>
          <p:nvPr/>
        </p:nvSpPr>
        <p:spPr>
          <a:xfrm rot="0">
            <a:off x="9753352" y="3162843"/>
            <a:ext cx="3390814" cy="270424"/>
          </a:xfrm>
          <a:prstGeom prst="rect">
            <a:avLst/>
          </a:prstGeom>
        </p:spPr>
        <p:txBody>
          <a:bodyPr anchor="t" rtlCol="false" tIns="0" lIns="0" bIns="0" rIns="0">
            <a:spAutoFit/>
          </a:bodyPr>
          <a:lstStyle/>
          <a:p>
            <a:pPr algn="l">
              <a:lnSpc>
                <a:spcPts val="1980"/>
              </a:lnSpc>
            </a:pPr>
            <a:r>
              <a:rPr lang="en-US" sz="1650" spc="132">
                <a:solidFill>
                  <a:srgbClr val="FFFFFF"/>
                </a:solidFill>
                <a:latin typeface="Arimo"/>
                <a:ea typeface="Arimo"/>
                <a:cs typeface="Arimo"/>
                <a:sym typeface="Arimo"/>
              </a:rPr>
              <a:t>03</a:t>
            </a:r>
          </a:p>
        </p:txBody>
      </p:sp>
      <p:sp>
        <p:nvSpPr>
          <p:cNvPr name="TextBox 18" id="18"/>
          <p:cNvSpPr txBox="true"/>
          <p:nvPr/>
        </p:nvSpPr>
        <p:spPr>
          <a:xfrm rot="0">
            <a:off x="9753352" y="3541214"/>
            <a:ext cx="3009824" cy="533400"/>
          </a:xfrm>
          <a:prstGeom prst="rect">
            <a:avLst/>
          </a:prstGeom>
        </p:spPr>
        <p:txBody>
          <a:bodyPr anchor="t" rtlCol="false" tIns="0" lIns="0" bIns="0" rIns="0">
            <a:spAutoFit/>
          </a:bodyPr>
          <a:lstStyle/>
          <a:p>
            <a:pPr algn="l">
              <a:lnSpc>
                <a:spcPts val="3888"/>
              </a:lnSpc>
            </a:pPr>
            <a:r>
              <a:rPr lang="en-US" sz="3000" b="true">
                <a:solidFill>
                  <a:srgbClr val="FFFFFF"/>
                </a:solidFill>
                <a:latin typeface="Barlow Medium"/>
                <a:ea typeface="Barlow Medium"/>
                <a:cs typeface="Barlow Medium"/>
                <a:sym typeface="Barlow Medium"/>
              </a:rPr>
              <a:t>Improve this</a:t>
            </a:r>
          </a:p>
        </p:txBody>
      </p:sp>
      <p:sp>
        <p:nvSpPr>
          <p:cNvPr name="TextBox 19" id="19"/>
          <p:cNvSpPr txBox="true"/>
          <p:nvPr/>
        </p:nvSpPr>
        <p:spPr>
          <a:xfrm rot="0">
            <a:off x="9753352" y="4199630"/>
            <a:ext cx="3009824" cy="3786188"/>
          </a:xfrm>
          <a:prstGeom prst="rect">
            <a:avLst/>
          </a:prstGeom>
        </p:spPr>
        <p:txBody>
          <a:bodyPr anchor="t" rtlCol="false" tIns="0" lIns="0" bIns="0" rIns="0">
            <a:spAutoFit/>
          </a:bodyPr>
          <a:lstStyle/>
          <a:p>
            <a:pPr algn="l">
              <a:lnSpc>
                <a:spcPts val="3267"/>
              </a:lnSpc>
            </a:pPr>
            <a:r>
              <a:rPr lang="en-US" sz="2250">
                <a:solidFill>
                  <a:srgbClr val="FFFFFF"/>
                </a:solidFill>
                <a:latin typeface="Barlow"/>
                <a:ea typeface="Barlow"/>
                <a:cs typeface="Barlow"/>
                <a:sym typeface="Barlow"/>
              </a:rPr>
              <a:t>Suggestions that never reveal the original password. The prototype offers safe next steps such as adding length or removing a name, while keeping the typed value private.</a:t>
            </a:r>
          </a:p>
        </p:txBody>
      </p:sp>
      <p:grpSp>
        <p:nvGrpSpPr>
          <p:cNvPr name="Group 20" id="20"/>
          <p:cNvGrpSpPr/>
          <p:nvPr/>
        </p:nvGrpSpPr>
        <p:grpSpPr>
          <a:xfrm rot="0">
            <a:off x="13601357" y="2837412"/>
            <a:ext cx="3771805" cy="6535188"/>
            <a:chOff x="0" y="0"/>
            <a:chExt cx="5029073" cy="8713584"/>
          </a:xfrm>
        </p:grpSpPr>
        <p:sp>
          <p:nvSpPr>
            <p:cNvPr name="Freeform 21" id="21"/>
            <p:cNvSpPr/>
            <p:nvPr/>
          </p:nvSpPr>
          <p:spPr>
            <a:xfrm flipH="false" flipV="false" rot="0">
              <a:off x="0" y="0"/>
              <a:ext cx="5029073" cy="8713597"/>
            </a:xfrm>
            <a:custGeom>
              <a:avLst/>
              <a:gdLst/>
              <a:ahLst/>
              <a:cxnLst/>
              <a:rect r="r" b="b" t="t" l="l"/>
              <a:pathLst>
                <a:path h="8713597" w="5029073">
                  <a:moveTo>
                    <a:pt x="0" y="57150"/>
                  </a:moveTo>
                  <a:cubicBezTo>
                    <a:pt x="0" y="25527"/>
                    <a:pt x="25527" y="0"/>
                    <a:pt x="57150" y="0"/>
                  </a:cubicBezTo>
                  <a:lnTo>
                    <a:pt x="4971923" y="0"/>
                  </a:lnTo>
                  <a:cubicBezTo>
                    <a:pt x="5003419" y="0"/>
                    <a:pt x="5029073" y="25527"/>
                    <a:pt x="5029073" y="57150"/>
                  </a:cubicBezTo>
                  <a:lnTo>
                    <a:pt x="5029073" y="8656447"/>
                  </a:lnTo>
                  <a:cubicBezTo>
                    <a:pt x="5029073" y="8687943"/>
                    <a:pt x="5003546" y="8713597"/>
                    <a:pt x="4971923" y="8713597"/>
                  </a:cubicBezTo>
                  <a:lnTo>
                    <a:pt x="57150" y="8713597"/>
                  </a:lnTo>
                  <a:cubicBezTo>
                    <a:pt x="25654" y="8713597"/>
                    <a:pt x="0" y="8688070"/>
                    <a:pt x="0" y="8656447"/>
                  </a:cubicBezTo>
                  <a:close/>
                </a:path>
              </a:pathLst>
            </a:custGeom>
            <a:solidFill>
              <a:srgbClr val="40456A"/>
            </a:solidFill>
          </p:spPr>
        </p:sp>
      </p:grpSp>
      <p:sp>
        <p:nvSpPr>
          <p:cNvPr name="TextBox 22" id="22"/>
          <p:cNvSpPr txBox="true"/>
          <p:nvPr/>
        </p:nvSpPr>
        <p:spPr>
          <a:xfrm rot="0">
            <a:off x="13982348" y="3162843"/>
            <a:ext cx="3390814" cy="270424"/>
          </a:xfrm>
          <a:prstGeom prst="rect">
            <a:avLst/>
          </a:prstGeom>
        </p:spPr>
        <p:txBody>
          <a:bodyPr anchor="t" rtlCol="false" tIns="0" lIns="0" bIns="0" rIns="0">
            <a:spAutoFit/>
          </a:bodyPr>
          <a:lstStyle/>
          <a:p>
            <a:pPr algn="l">
              <a:lnSpc>
                <a:spcPts val="1980"/>
              </a:lnSpc>
            </a:pPr>
            <a:r>
              <a:rPr lang="en-US" sz="1650" spc="132">
                <a:solidFill>
                  <a:srgbClr val="FFFFFF"/>
                </a:solidFill>
                <a:latin typeface="Arimo"/>
                <a:ea typeface="Arimo"/>
                <a:cs typeface="Arimo"/>
                <a:sym typeface="Arimo"/>
              </a:rPr>
              <a:t>04</a:t>
            </a:r>
          </a:p>
        </p:txBody>
      </p:sp>
      <p:sp>
        <p:nvSpPr>
          <p:cNvPr name="TextBox 23" id="23"/>
          <p:cNvSpPr txBox="true"/>
          <p:nvPr/>
        </p:nvSpPr>
        <p:spPr>
          <a:xfrm rot="0">
            <a:off x="13982348" y="3541214"/>
            <a:ext cx="3009824" cy="1028700"/>
          </a:xfrm>
          <a:prstGeom prst="rect">
            <a:avLst/>
          </a:prstGeom>
        </p:spPr>
        <p:txBody>
          <a:bodyPr anchor="t" rtlCol="false" tIns="0" lIns="0" bIns="0" rIns="0">
            <a:spAutoFit/>
          </a:bodyPr>
          <a:lstStyle/>
          <a:p>
            <a:pPr algn="l">
              <a:lnSpc>
                <a:spcPts val="3888"/>
              </a:lnSpc>
            </a:pPr>
            <a:r>
              <a:rPr lang="en-US" sz="3000" b="true">
                <a:solidFill>
                  <a:srgbClr val="FFFFFF"/>
                </a:solidFill>
                <a:latin typeface="Barlow Medium"/>
                <a:ea typeface="Barlow Medium"/>
                <a:cs typeface="Barlow Medium"/>
                <a:sym typeface="Barlow Medium"/>
              </a:rPr>
              <a:t>Passphrase helper</a:t>
            </a:r>
          </a:p>
        </p:txBody>
      </p:sp>
      <p:sp>
        <p:nvSpPr>
          <p:cNvPr name="TextBox 24" id="24"/>
          <p:cNvSpPr txBox="true"/>
          <p:nvPr/>
        </p:nvSpPr>
        <p:spPr>
          <a:xfrm rot="0">
            <a:off x="13982348" y="4694930"/>
            <a:ext cx="3009824" cy="3786188"/>
          </a:xfrm>
          <a:prstGeom prst="rect">
            <a:avLst/>
          </a:prstGeom>
        </p:spPr>
        <p:txBody>
          <a:bodyPr anchor="t" rtlCol="false" tIns="0" lIns="0" bIns="0" rIns="0">
            <a:spAutoFit/>
          </a:bodyPr>
          <a:lstStyle/>
          <a:p>
            <a:pPr algn="l">
              <a:lnSpc>
                <a:spcPts val="3267"/>
              </a:lnSpc>
            </a:pPr>
            <a:r>
              <a:rPr lang="en-US" sz="2250">
                <a:solidFill>
                  <a:srgbClr val="FFFFFF"/>
                </a:solidFill>
                <a:latin typeface="Barlow"/>
                <a:ea typeface="Barlow"/>
                <a:cs typeface="Barlow"/>
                <a:sym typeface="Barlow"/>
              </a:rPr>
              <a:t>Several unrelated words that are easier to remember. A “Try a passphrase” action demonstrates a memorable alternative, then lets the user compare its strength before choosing.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E0E3F"/>
        </a:solidFill>
      </p:bgPr>
    </p:bg>
    <p:spTree>
      <p:nvGrpSpPr>
        <p:cNvPr id="1" name=""/>
        <p:cNvGrpSpPr/>
        <p:nvPr/>
      </p:nvGrpSpPr>
      <p:grpSpPr>
        <a:xfrm>
          <a:off x="0" y="0"/>
          <a:ext cx="0" cy="0"/>
          <a:chOff x="0" y="0"/>
          <a:chExt cx="0" cy="0"/>
        </a:xfrm>
      </p:grpSpPr>
      <p:sp>
        <p:nvSpPr>
          <p:cNvPr name="TextBox 2" id="2"/>
          <p:cNvSpPr txBox="true"/>
          <p:nvPr/>
        </p:nvSpPr>
        <p:spPr>
          <a:xfrm rot="0">
            <a:off x="914381" y="896941"/>
            <a:ext cx="17373162" cy="270424"/>
          </a:xfrm>
          <a:prstGeom prst="rect">
            <a:avLst/>
          </a:prstGeom>
        </p:spPr>
        <p:txBody>
          <a:bodyPr anchor="t" rtlCol="false" tIns="0" lIns="0" bIns="0" rIns="0">
            <a:spAutoFit/>
          </a:bodyPr>
          <a:lstStyle/>
          <a:p>
            <a:pPr algn="l">
              <a:lnSpc>
                <a:spcPts val="1980"/>
              </a:lnSpc>
            </a:pPr>
            <a:r>
              <a:rPr lang="en-US" sz="1650" spc="132">
                <a:solidFill>
                  <a:srgbClr val="C7D14F"/>
                </a:solidFill>
                <a:latin typeface="Arimo"/>
                <a:ea typeface="Arimo"/>
                <a:cs typeface="Arimo"/>
                <a:sym typeface="Arimo"/>
              </a:rPr>
              <a:t>05 · MULTI VOTING</a:t>
            </a:r>
          </a:p>
        </p:txBody>
      </p:sp>
      <p:sp>
        <p:nvSpPr>
          <p:cNvPr name="TextBox 3" id="3"/>
          <p:cNvSpPr txBox="true"/>
          <p:nvPr/>
        </p:nvSpPr>
        <p:spPr>
          <a:xfrm rot="0">
            <a:off x="914381" y="1389612"/>
            <a:ext cx="16458790" cy="533400"/>
          </a:xfrm>
          <a:prstGeom prst="rect">
            <a:avLst/>
          </a:prstGeom>
        </p:spPr>
        <p:txBody>
          <a:bodyPr anchor="t" rtlCol="false" tIns="0" lIns="0" bIns="0" rIns="0">
            <a:spAutoFit/>
          </a:bodyPr>
          <a:lstStyle/>
          <a:p>
            <a:pPr algn="l">
              <a:lnSpc>
                <a:spcPts val="4752"/>
              </a:lnSpc>
            </a:pPr>
            <a:r>
              <a:rPr lang="en-US" sz="4500" spc="-22">
                <a:solidFill>
                  <a:srgbClr val="F8ED43"/>
                </a:solidFill>
                <a:latin typeface="Saira"/>
                <a:ea typeface="Saira"/>
                <a:cs typeface="Saira"/>
                <a:sym typeface="Saira"/>
              </a:rPr>
              <a:t>Choose the most useful combination</a:t>
            </a:r>
          </a:p>
        </p:txBody>
      </p:sp>
      <p:sp>
        <p:nvSpPr>
          <p:cNvPr name="TextBox 4" id="4"/>
          <p:cNvSpPr txBox="true"/>
          <p:nvPr/>
        </p:nvSpPr>
        <p:spPr>
          <a:xfrm rot="0">
            <a:off x="914381" y="2119465"/>
            <a:ext cx="17373162" cy="471488"/>
          </a:xfrm>
          <a:prstGeom prst="rect">
            <a:avLst/>
          </a:prstGeom>
        </p:spPr>
        <p:txBody>
          <a:bodyPr anchor="t" rtlCol="false" tIns="0" lIns="0" bIns="0" rIns="0">
            <a:spAutoFit/>
          </a:bodyPr>
          <a:lstStyle/>
          <a:p>
            <a:pPr algn="l">
              <a:lnSpc>
                <a:spcPts val="3267"/>
              </a:lnSpc>
            </a:pPr>
            <a:r>
              <a:rPr lang="en-US" sz="2250">
                <a:solidFill>
                  <a:srgbClr val="F3F1F8"/>
                </a:solidFill>
                <a:latin typeface="Barlow"/>
                <a:ea typeface="Barlow"/>
                <a:cs typeface="Barlow"/>
                <a:sym typeface="Barlow"/>
              </a:rPr>
              <a:t>Vote for ideas that are easy to understand, safe to implement, and helpful immediately. Compare usefulness, not feature count.</a:t>
            </a:r>
          </a:p>
        </p:txBody>
      </p:sp>
      <p:sp>
        <p:nvSpPr>
          <p:cNvPr name="TextBox 5" id="5"/>
          <p:cNvSpPr txBox="true"/>
          <p:nvPr/>
        </p:nvSpPr>
        <p:spPr>
          <a:xfrm rot="0">
            <a:off x="1295371" y="3175549"/>
            <a:ext cx="4724286" cy="533400"/>
          </a:xfrm>
          <a:prstGeom prst="rect">
            <a:avLst/>
          </a:prstGeom>
        </p:spPr>
        <p:txBody>
          <a:bodyPr anchor="t" rtlCol="false" tIns="0" lIns="0" bIns="0" rIns="0">
            <a:spAutoFit/>
          </a:bodyPr>
          <a:lstStyle/>
          <a:p>
            <a:pPr algn="l">
              <a:lnSpc>
                <a:spcPts val="3888"/>
              </a:lnSpc>
            </a:pPr>
            <a:r>
              <a:rPr lang="en-US" sz="3000" b="true">
                <a:solidFill>
                  <a:srgbClr val="F8ED43"/>
                </a:solidFill>
                <a:latin typeface="Barlow Medium"/>
                <a:ea typeface="Barlow Medium"/>
                <a:cs typeface="Barlow Medium"/>
                <a:sym typeface="Barlow Medium"/>
              </a:rPr>
              <a:t>Decision filter</a:t>
            </a:r>
          </a:p>
        </p:txBody>
      </p:sp>
      <p:grpSp>
        <p:nvGrpSpPr>
          <p:cNvPr name="Group 6" id="6"/>
          <p:cNvGrpSpPr/>
          <p:nvPr/>
        </p:nvGrpSpPr>
        <p:grpSpPr>
          <a:xfrm rot="0">
            <a:off x="1295371" y="3880399"/>
            <a:ext cx="628631" cy="628650"/>
            <a:chOff x="0" y="0"/>
            <a:chExt cx="838175" cy="838200"/>
          </a:xfrm>
        </p:grpSpPr>
        <p:sp>
          <p:nvSpPr>
            <p:cNvPr name="Freeform 7" id="7"/>
            <p:cNvSpPr/>
            <p:nvPr/>
          </p:nvSpPr>
          <p:spPr>
            <a:xfrm flipH="false" flipV="false" rot="0">
              <a:off x="0" y="0"/>
              <a:ext cx="838200" cy="838200"/>
            </a:xfrm>
            <a:custGeom>
              <a:avLst/>
              <a:gdLst/>
              <a:ahLst/>
              <a:cxnLst/>
              <a:rect r="r" b="b" t="t" l="l"/>
              <a:pathLst>
                <a:path h="838200" w="838200">
                  <a:moveTo>
                    <a:pt x="0" y="419100"/>
                  </a:moveTo>
                  <a:cubicBezTo>
                    <a:pt x="0" y="187579"/>
                    <a:pt x="187579" y="0"/>
                    <a:pt x="419100" y="0"/>
                  </a:cubicBezTo>
                  <a:cubicBezTo>
                    <a:pt x="650621" y="0"/>
                    <a:pt x="838200" y="187579"/>
                    <a:pt x="838200" y="419100"/>
                  </a:cubicBezTo>
                  <a:cubicBezTo>
                    <a:pt x="838200" y="650621"/>
                    <a:pt x="650494" y="838200"/>
                    <a:pt x="419100" y="838200"/>
                  </a:cubicBezTo>
                  <a:cubicBezTo>
                    <a:pt x="187706" y="838200"/>
                    <a:pt x="0" y="650621"/>
                    <a:pt x="0" y="419100"/>
                  </a:cubicBezTo>
                  <a:close/>
                </a:path>
              </a:pathLst>
            </a:custGeom>
            <a:solidFill>
              <a:srgbClr val="F8ED43"/>
            </a:solidFill>
          </p:spPr>
        </p:sp>
      </p:grpSp>
      <p:grpSp>
        <p:nvGrpSpPr>
          <p:cNvPr name="Group 8" id="8"/>
          <p:cNvGrpSpPr/>
          <p:nvPr/>
        </p:nvGrpSpPr>
        <p:grpSpPr>
          <a:xfrm rot="0">
            <a:off x="1423949" y="4008987"/>
            <a:ext cx="371465" cy="371475"/>
            <a:chOff x="0" y="0"/>
            <a:chExt cx="495287" cy="495300"/>
          </a:xfrm>
        </p:grpSpPr>
        <p:sp>
          <p:nvSpPr>
            <p:cNvPr name="Freeform 9" id="9" descr="preencoded.png"/>
            <p:cNvSpPr/>
            <p:nvPr/>
          </p:nvSpPr>
          <p:spPr>
            <a:xfrm flipH="false" flipV="false" rot="0">
              <a:off x="0" y="0"/>
              <a:ext cx="495300" cy="495300"/>
            </a:xfrm>
            <a:custGeom>
              <a:avLst/>
              <a:gdLst/>
              <a:ahLst/>
              <a:cxnLst/>
              <a:rect r="r" b="b" t="t" l="l"/>
              <a:pathLst>
                <a:path h="495300" w="495300">
                  <a:moveTo>
                    <a:pt x="0" y="0"/>
                  </a:moveTo>
                  <a:lnTo>
                    <a:pt x="495300" y="0"/>
                  </a:lnTo>
                  <a:lnTo>
                    <a:pt x="495300" y="495300"/>
                  </a:lnTo>
                  <a:lnTo>
                    <a:pt x="0" y="495300"/>
                  </a:lnTo>
                  <a:lnTo>
                    <a:pt x="0" y="0"/>
                  </a:lnTo>
                  <a:close/>
                </a:path>
              </a:pathLst>
            </a:custGeom>
            <a:blipFill>
              <a:blip r:embed="rId3"/>
              <a:stretch>
                <a:fillRect l="-1" t="0" r="1" b="0"/>
              </a:stretch>
            </a:blipFill>
          </p:spPr>
        </p:sp>
      </p:grpSp>
      <p:sp>
        <p:nvSpPr>
          <p:cNvPr name="TextBox 10" id="10"/>
          <p:cNvSpPr txBox="true"/>
          <p:nvPr/>
        </p:nvSpPr>
        <p:spPr>
          <a:xfrm rot="0">
            <a:off x="2209743" y="4048277"/>
            <a:ext cx="3809905" cy="1300162"/>
          </a:xfrm>
          <a:prstGeom prst="rect">
            <a:avLst/>
          </a:prstGeom>
        </p:spPr>
        <p:txBody>
          <a:bodyPr anchor="t" rtlCol="false" tIns="0" lIns="0" bIns="0" rIns="0">
            <a:spAutoFit/>
          </a:bodyPr>
          <a:lstStyle/>
          <a:p>
            <a:pPr algn="l">
              <a:lnSpc>
                <a:spcPts val="3267"/>
              </a:lnSpc>
            </a:pPr>
            <a:r>
              <a:rPr lang="en-US" sz="2250">
                <a:solidFill>
                  <a:srgbClr val="F3F1F8"/>
                </a:solidFill>
                <a:latin typeface="Barlow"/>
                <a:ea typeface="Barlow"/>
                <a:cs typeface="Barlow"/>
                <a:sym typeface="Barlow"/>
              </a:rPr>
              <a:t>Easy to understand</a:t>
            </a:r>
          </a:p>
          <a:p>
            <a:pPr algn="l">
              <a:lnSpc>
                <a:spcPts val="3267"/>
              </a:lnSpc>
            </a:pPr>
            <a:r>
              <a:rPr lang="en-US" sz="2250">
                <a:solidFill>
                  <a:srgbClr val="BDB8D9"/>
                </a:solidFill>
                <a:latin typeface="Barlow"/>
                <a:ea typeface="Barlow"/>
                <a:cs typeface="Barlow"/>
                <a:sym typeface="Barlow"/>
              </a:rPr>
              <a:t>A first-time user knows what to do next.</a:t>
            </a:r>
          </a:p>
        </p:txBody>
      </p:sp>
      <p:grpSp>
        <p:nvGrpSpPr>
          <p:cNvPr name="Group 11" id="11"/>
          <p:cNvGrpSpPr/>
          <p:nvPr/>
        </p:nvGrpSpPr>
        <p:grpSpPr>
          <a:xfrm rot="0">
            <a:off x="1295371" y="5794924"/>
            <a:ext cx="628631" cy="628650"/>
            <a:chOff x="0" y="0"/>
            <a:chExt cx="838175" cy="838200"/>
          </a:xfrm>
        </p:grpSpPr>
        <p:sp>
          <p:nvSpPr>
            <p:cNvPr name="Freeform 12" id="12"/>
            <p:cNvSpPr/>
            <p:nvPr/>
          </p:nvSpPr>
          <p:spPr>
            <a:xfrm flipH="false" flipV="false" rot="0">
              <a:off x="0" y="0"/>
              <a:ext cx="838200" cy="838200"/>
            </a:xfrm>
            <a:custGeom>
              <a:avLst/>
              <a:gdLst/>
              <a:ahLst/>
              <a:cxnLst/>
              <a:rect r="r" b="b" t="t" l="l"/>
              <a:pathLst>
                <a:path h="838200" w="838200">
                  <a:moveTo>
                    <a:pt x="0" y="419100"/>
                  </a:moveTo>
                  <a:cubicBezTo>
                    <a:pt x="0" y="187579"/>
                    <a:pt x="187579" y="0"/>
                    <a:pt x="419100" y="0"/>
                  </a:cubicBezTo>
                  <a:cubicBezTo>
                    <a:pt x="650621" y="0"/>
                    <a:pt x="838200" y="187579"/>
                    <a:pt x="838200" y="419100"/>
                  </a:cubicBezTo>
                  <a:cubicBezTo>
                    <a:pt x="838200" y="650621"/>
                    <a:pt x="650494" y="838200"/>
                    <a:pt x="419100" y="838200"/>
                  </a:cubicBezTo>
                  <a:cubicBezTo>
                    <a:pt x="187706" y="838200"/>
                    <a:pt x="0" y="650621"/>
                    <a:pt x="0" y="419100"/>
                  </a:cubicBezTo>
                  <a:close/>
                </a:path>
              </a:pathLst>
            </a:custGeom>
            <a:solidFill>
              <a:srgbClr val="F8ED43"/>
            </a:solidFill>
          </p:spPr>
        </p:sp>
      </p:grpSp>
      <p:grpSp>
        <p:nvGrpSpPr>
          <p:cNvPr name="Group 13" id="13"/>
          <p:cNvGrpSpPr/>
          <p:nvPr/>
        </p:nvGrpSpPr>
        <p:grpSpPr>
          <a:xfrm rot="0">
            <a:off x="1423949" y="5923512"/>
            <a:ext cx="371465" cy="371475"/>
            <a:chOff x="0" y="0"/>
            <a:chExt cx="495287" cy="495300"/>
          </a:xfrm>
        </p:grpSpPr>
        <p:sp>
          <p:nvSpPr>
            <p:cNvPr name="Freeform 14" id="14" descr="preencoded.png"/>
            <p:cNvSpPr/>
            <p:nvPr/>
          </p:nvSpPr>
          <p:spPr>
            <a:xfrm flipH="false" flipV="false" rot="0">
              <a:off x="0" y="0"/>
              <a:ext cx="495300" cy="495300"/>
            </a:xfrm>
            <a:custGeom>
              <a:avLst/>
              <a:gdLst/>
              <a:ahLst/>
              <a:cxnLst/>
              <a:rect r="r" b="b" t="t" l="l"/>
              <a:pathLst>
                <a:path h="495300" w="495300">
                  <a:moveTo>
                    <a:pt x="0" y="0"/>
                  </a:moveTo>
                  <a:lnTo>
                    <a:pt x="495300" y="0"/>
                  </a:lnTo>
                  <a:lnTo>
                    <a:pt x="495300" y="495300"/>
                  </a:lnTo>
                  <a:lnTo>
                    <a:pt x="0" y="495300"/>
                  </a:lnTo>
                  <a:lnTo>
                    <a:pt x="0" y="0"/>
                  </a:lnTo>
                  <a:close/>
                </a:path>
              </a:pathLst>
            </a:custGeom>
            <a:blipFill>
              <a:blip r:embed="rId4"/>
              <a:stretch>
                <a:fillRect l="-1" t="0" r="1" b="0"/>
              </a:stretch>
            </a:blipFill>
          </p:spPr>
        </p:sp>
      </p:grpSp>
      <p:sp>
        <p:nvSpPr>
          <p:cNvPr name="TextBox 15" id="15"/>
          <p:cNvSpPr txBox="true"/>
          <p:nvPr/>
        </p:nvSpPr>
        <p:spPr>
          <a:xfrm rot="0">
            <a:off x="2209743" y="5962802"/>
            <a:ext cx="3809905" cy="1300162"/>
          </a:xfrm>
          <a:prstGeom prst="rect">
            <a:avLst/>
          </a:prstGeom>
        </p:spPr>
        <p:txBody>
          <a:bodyPr anchor="t" rtlCol="false" tIns="0" lIns="0" bIns="0" rIns="0">
            <a:spAutoFit/>
          </a:bodyPr>
          <a:lstStyle/>
          <a:p>
            <a:pPr algn="l">
              <a:lnSpc>
                <a:spcPts val="3267"/>
              </a:lnSpc>
            </a:pPr>
            <a:r>
              <a:rPr lang="en-US" sz="2250">
                <a:solidFill>
                  <a:srgbClr val="F3F1F8"/>
                </a:solidFill>
                <a:latin typeface="Barlow"/>
                <a:ea typeface="Barlow"/>
                <a:cs typeface="Barlow"/>
                <a:sym typeface="Barlow"/>
              </a:rPr>
              <a:t>Safe to implement</a:t>
            </a:r>
          </a:p>
          <a:p>
            <a:pPr algn="l">
              <a:lnSpc>
                <a:spcPts val="3267"/>
              </a:lnSpc>
            </a:pPr>
            <a:r>
              <a:rPr lang="en-US" sz="2250">
                <a:solidFill>
                  <a:srgbClr val="BDB8D9"/>
                </a:solidFill>
                <a:latin typeface="Barlow"/>
                <a:ea typeface="Barlow"/>
                <a:cs typeface="Barlow"/>
                <a:sym typeface="Barlow"/>
              </a:rPr>
              <a:t>Works locally without exposing the password.</a:t>
            </a:r>
          </a:p>
        </p:txBody>
      </p:sp>
      <p:grpSp>
        <p:nvGrpSpPr>
          <p:cNvPr name="Group 16" id="16"/>
          <p:cNvGrpSpPr/>
          <p:nvPr/>
        </p:nvGrpSpPr>
        <p:grpSpPr>
          <a:xfrm rot="0">
            <a:off x="1295371" y="7709449"/>
            <a:ext cx="628631" cy="628650"/>
            <a:chOff x="0" y="0"/>
            <a:chExt cx="838175" cy="838200"/>
          </a:xfrm>
        </p:grpSpPr>
        <p:sp>
          <p:nvSpPr>
            <p:cNvPr name="Freeform 17" id="17"/>
            <p:cNvSpPr/>
            <p:nvPr/>
          </p:nvSpPr>
          <p:spPr>
            <a:xfrm flipH="false" flipV="false" rot="0">
              <a:off x="0" y="0"/>
              <a:ext cx="838200" cy="838200"/>
            </a:xfrm>
            <a:custGeom>
              <a:avLst/>
              <a:gdLst/>
              <a:ahLst/>
              <a:cxnLst/>
              <a:rect r="r" b="b" t="t" l="l"/>
              <a:pathLst>
                <a:path h="838200" w="838200">
                  <a:moveTo>
                    <a:pt x="0" y="419100"/>
                  </a:moveTo>
                  <a:cubicBezTo>
                    <a:pt x="0" y="187579"/>
                    <a:pt x="187579" y="0"/>
                    <a:pt x="419100" y="0"/>
                  </a:cubicBezTo>
                  <a:cubicBezTo>
                    <a:pt x="650621" y="0"/>
                    <a:pt x="838200" y="187579"/>
                    <a:pt x="838200" y="419100"/>
                  </a:cubicBezTo>
                  <a:cubicBezTo>
                    <a:pt x="838200" y="650621"/>
                    <a:pt x="650494" y="838200"/>
                    <a:pt x="419100" y="838200"/>
                  </a:cubicBezTo>
                  <a:cubicBezTo>
                    <a:pt x="187706" y="838200"/>
                    <a:pt x="0" y="650621"/>
                    <a:pt x="0" y="419100"/>
                  </a:cubicBezTo>
                  <a:close/>
                </a:path>
              </a:pathLst>
            </a:custGeom>
            <a:solidFill>
              <a:srgbClr val="F8ED43"/>
            </a:solidFill>
          </p:spPr>
        </p:sp>
      </p:grpSp>
      <p:grpSp>
        <p:nvGrpSpPr>
          <p:cNvPr name="Group 18" id="18"/>
          <p:cNvGrpSpPr/>
          <p:nvPr/>
        </p:nvGrpSpPr>
        <p:grpSpPr>
          <a:xfrm rot="0">
            <a:off x="1423949" y="7838037"/>
            <a:ext cx="371465" cy="371475"/>
            <a:chOff x="0" y="0"/>
            <a:chExt cx="495287" cy="495300"/>
          </a:xfrm>
        </p:grpSpPr>
        <p:sp>
          <p:nvSpPr>
            <p:cNvPr name="Freeform 19" id="19" descr="preencoded.png"/>
            <p:cNvSpPr/>
            <p:nvPr/>
          </p:nvSpPr>
          <p:spPr>
            <a:xfrm flipH="false" flipV="false" rot="0">
              <a:off x="0" y="0"/>
              <a:ext cx="495300" cy="495300"/>
            </a:xfrm>
            <a:custGeom>
              <a:avLst/>
              <a:gdLst/>
              <a:ahLst/>
              <a:cxnLst/>
              <a:rect r="r" b="b" t="t" l="l"/>
              <a:pathLst>
                <a:path h="495300" w="495300">
                  <a:moveTo>
                    <a:pt x="0" y="0"/>
                  </a:moveTo>
                  <a:lnTo>
                    <a:pt x="495300" y="0"/>
                  </a:lnTo>
                  <a:lnTo>
                    <a:pt x="495300" y="495300"/>
                  </a:lnTo>
                  <a:lnTo>
                    <a:pt x="0" y="495300"/>
                  </a:lnTo>
                  <a:lnTo>
                    <a:pt x="0" y="0"/>
                  </a:lnTo>
                  <a:close/>
                </a:path>
              </a:pathLst>
            </a:custGeom>
            <a:blipFill>
              <a:blip r:embed="rId5"/>
              <a:stretch>
                <a:fillRect l="-1" t="0" r="1" b="0"/>
              </a:stretch>
            </a:blipFill>
          </p:spPr>
        </p:sp>
      </p:grpSp>
      <p:sp>
        <p:nvSpPr>
          <p:cNvPr name="TextBox 20" id="20"/>
          <p:cNvSpPr txBox="true"/>
          <p:nvPr/>
        </p:nvSpPr>
        <p:spPr>
          <a:xfrm rot="0">
            <a:off x="2209743" y="7877327"/>
            <a:ext cx="3809905" cy="1300162"/>
          </a:xfrm>
          <a:prstGeom prst="rect">
            <a:avLst/>
          </a:prstGeom>
        </p:spPr>
        <p:txBody>
          <a:bodyPr anchor="t" rtlCol="false" tIns="0" lIns="0" bIns="0" rIns="0">
            <a:spAutoFit/>
          </a:bodyPr>
          <a:lstStyle/>
          <a:p>
            <a:pPr algn="l">
              <a:lnSpc>
                <a:spcPts val="3267"/>
              </a:lnSpc>
            </a:pPr>
            <a:r>
              <a:rPr lang="en-US" sz="2250">
                <a:solidFill>
                  <a:srgbClr val="F3F1F8"/>
                </a:solidFill>
                <a:latin typeface="Barlow"/>
                <a:ea typeface="Barlow"/>
                <a:cs typeface="Barlow"/>
                <a:sym typeface="Barlow"/>
              </a:rPr>
              <a:t>Helpful immediately</a:t>
            </a:r>
          </a:p>
          <a:p>
            <a:pPr algn="l">
              <a:lnSpc>
                <a:spcPts val="3267"/>
              </a:lnSpc>
            </a:pPr>
            <a:r>
              <a:rPr lang="en-US" sz="2250">
                <a:solidFill>
                  <a:srgbClr val="BDB8D9"/>
                </a:solidFill>
                <a:latin typeface="Barlow"/>
                <a:ea typeface="Barlow"/>
                <a:cs typeface="Barlow"/>
                <a:sym typeface="Barlow"/>
              </a:rPr>
              <a:t>Turns a result into one practical next step.</a:t>
            </a:r>
          </a:p>
        </p:txBody>
      </p:sp>
      <p:grpSp>
        <p:nvGrpSpPr>
          <p:cNvPr name="Group 21" id="21"/>
          <p:cNvGrpSpPr/>
          <p:nvPr/>
        </p:nvGrpSpPr>
        <p:grpSpPr>
          <a:xfrm rot="0">
            <a:off x="6400638" y="2837412"/>
            <a:ext cx="10972524" cy="6672262"/>
            <a:chOff x="0" y="0"/>
            <a:chExt cx="14630032" cy="8896350"/>
          </a:xfrm>
        </p:grpSpPr>
        <p:sp>
          <p:nvSpPr>
            <p:cNvPr name="Freeform 22" id="22"/>
            <p:cNvSpPr/>
            <p:nvPr/>
          </p:nvSpPr>
          <p:spPr>
            <a:xfrm flipH="false" flipV="false" rot="0">
              <a:off x="0" y="0"/>
              <a:ext cx="14630019" cy="8896350"/>
            </a:xfrm>
            <a:custGeom>
              <a:avLst/>
              <a:gdLst/>
              <a:ahLst/>
              <a:cxnLst/>
              <a:rect r="r" b="b" t="t" l="l"/>
              <a:pathLst>
                <a:path h="8896350" w="14630019">
                  <a:moveTo>
                    <a:pt x="0" y="0"/>
                  </a:moveTo>
                  <a:lnTo>
                    <a:pt x="14582394" y="0"/>
                  </a:lnTo>
                  <a:cubicBezTo>
                    <a:pt x="14608683" y="0"/>
                    <a:pt x="14630019" y="21336"/>
                    <a:pt x="14630019" y="47625"/>
                  </a:cubicBezTo>
                  <a:lnTo>
                    <a:pt x="14630019" y="8848725"/>
                  </a:lnTo>
                  <a:cubicBezTo>
                    <a:pt x="14630019" y="8875014"/>
                    <a:pt x="14608683" y="8896350"/>
                    <a:pt x="14582394" y="8896350"/>
                  </a:cubicBezTo>
                  <a:lnTo>
                    <a:pt x="0" y="8896350"/>
                  </a:lnTo>
                  <a:lnTo>
                    <a:pt x="0" y="0"/>
                  </a:lnTo>
                  <a:close/>
                </a:path>
              </a:pathLst>
            </a:custGeom>
            <a:solidFill>
              <a:srgbClr val="40456A"/>
            </a:solidFill>
          </p:spPr>
        </p:sp>
      </p:grpSp>
      <p:grpSp>
        <p:nvGrpSpPr>
          <p:cNvPr name="Group 23" id="23"/>
          <p:cNvGrpSpPr/>
          <p:nvPr/>
        </p:nvGrpSpPr>
        <p:grpSpPr>
          <a:xfrm rot="0">
            <a:off x="6857829" y="3180312"/>
            <a:ext cx="2749534" cy="457200"/>
            <a:chOff x="0" y="0"/>
            <a:chExt cx="3666046" cy="609600"/>
          </a:xfrm>
        </p:grpSpPr>
        <p:sp>
          <p:nvSpPr>
            <p:cNvPr name="Freeform 24" id="24"/>
            <p:cNvSpPr/>
            <p:nvPr/>
          </p:nvSpPr>
          <p:spPr>
            <a:xfrm flipH="false" flipV="false" rot="0">
              <a:off x="0" y="0"/>
              <a:ext cx="3665982" cy="609600"/>
            </a:xfrm>
            <a:custGeom>
              <a:avLst/>
              <a:gdLst/>
              <a:ahLst/>
              <a:cxnLst/>
              <a:rect r="r" b="b" t="t" l="l"/>
              <a:pathLst>
                <a:path h="609600" w="3665982">
                  <a:moveTo>
                    <a:pt x="0" y="0"/>
                  </a:moveTo>
                  <a:lnTo>
                    <a:pt x="3665982" y="0"/>
                  </a:lnTo>
                  <a:lnTo>
                    <a:pt x="3665982" y="609600"/>
                  </a:lnTo>
                  <a:lnTo>
                    <a:pt x="0" y="609600"/>
                  </a:lnTo>
                  <a:close/>
                </a:path>
              </a:pathLst>
            </a:custGeom>
            <a:solidFill>
              <a:srgbClr val="F8ED43"/>
            </a:solidFill>
          </p:spPr>
        </p:sp>
      </p:grpSp>
      <p:sp>
        <p:nvSpPr>
          <p:cNvPr name="TextBox 25" id="25"/>
          <p:cNvSpPr txBox="true"/>
          <p:nvPr/>
        </p:nvSpPr>
        <p:spPr>
          <a:xfrm rot="0">
            <a:off x="7029279" y="3244606"/>
            <a:ext cx="3321015" cy="314325"/>
          </a:xfrm>
          <a:prstGeom prst="rect">
            <a:avLst/>
          </a:prstGeom>
        </p:spPr>
        <p:txBody>
          <a:bodyPr anchor="t" rtlCol="false" tIns="0" lIns="0" bIns="0" rIns="0">
            <a:spAutoFit/>
          </a:bodyPr>
          <a:lstStyle/>
          <a:p>
            <a:pPr algn="l">
              <a:lnSpc>
                <a:spcPts val="2246"/>
              </a:lnSpc>
            </a:pPr>
            <a:r>
              <a:rPr lang="en-US" sz="1800" spc="72">
                <a:solidFill>
                  <a:srgbClr val="000000"/>
                </a:solidFill>
                <a:latin typeface="Arimo"/>
                <a:ea typeface="Arimo"/>
                <a:cs typeface="Arimo"/>
                <a:sym typeface="Arimo"/>
              </a:rPr>
              <a:t>SELECTED CONCEPT</a:t>
            </a:r>
          </a:p>
        </p:txBody>
      </p:sp>
      <p:sp>
        <p:nvSpPr>
          <p:cNvPr name="TextBox 26" id="26"/>
          <p:cNvSpPr txBox="true"/>
          <p:nvPr/>
        </p:nvSpPr>
        <p:spPr>
          <a:xfrm rot="0">
            <a:off x="6857829" y="4300071"/>
            <a:ext cx="10058152" cy="1843088"/>
          </a:xfrm>
          <a:prstGeom prst="rect">
            <a:avLst/>
          </a:prstGeom>
        </p:spPr>
        <p:txBody>
          <a:bodyPr anchor="t" rtlCol="false" tIns="0" lIns="0" bIns="0" rIns="0">
            <a:spAutoFit/>
          </a:bodyPr>
          <a:lstStyle/>
          <a:p>
            <a:pPr algn="l">
              <a:lnSpc>
                <a:spcPts val="7439"/>
              </a:lnSpc>
            </a:pPr>
            <a:r>
              <a:rPr lang="en-US" sz="8400" spc="-84">
                <a:solidFill>
                  <a:srgbClr val="FFFFFF"/>
                </a:solidFill>
                <a:latin typeface="Saira"/>
                <a:ea typeface="Saira"/>
                <a:cs typeface="Saira"/>
                <a:sym typeface="Saira"/>
              </a:rPr>
              <a:t>Meter + explanation</a:t>
            </a:r>
          </a:p>
          <a:p>
            <a:pPr algn="l">
              <a:lnSpc>
                <a:spcPts val="7439"/>
              </a:lnSpc>
            </a:pPr>
            <a:r>
              <a:rPr lang="en-US" sz="8400" spc="-84">
                <a:solidFill>
                  <a:srgbClr val="FFFFFF"/>
                </a:solidFill>
                <a:latin typeface="Saira"/>
                <a:ea typeface="Saira"/>
                <a:cs typeface="Saira"/>
                <a:sym typeface="Saira"/>
              </a:rPr>
              <a:t>+ suggestions</a:t>
            </a:r>
          </a:p>
        </p:txBody>
      </p:sp>
      <p:sp>
        <p:nvSpPr>
          <p:cNvPr name="TextBox 27" id="27"/>
          <p:cNvSpPr txBox="true"/>
          <p:nvPr/>
        </p:nvSpPr>
        <p:spPr>
          <a:xfrm rot="0">
            <a:off x="6857829" y="6254029"/>
            <a:ext cx="10515333" cy="573291"/>
          </a:xfrm>
          <a:prstGeom prst="rect">
            <a:avLst/>
          </a:prstGeom>
        </p:spPr>
        <p:txBody>
          <a:bodyPr anchor="t" rtlCol="false" tIns="0" lIns="0" bIns="0" rIns="0">
            <a:spAutoFit/>
          </a:bodyPr>
          <a:lstStyle/>
          <a:p>
            <a:pPr algn="l">
              <a:lnSpc>
                <a:spcPts val="3920"/>
              </a:lnSpc>
            </a:pPr>
            <a:r>
              <a:rPr lang="en-US" sz="2700">
                <a:solidFill>
                  <a:srgbClr val="FFFFFF"/>
                </a:solidFill>
                <a:latin typeface="Barlow"/>
                <a:ea typeface="Barlow"/>
                <a:cs typeface="Barlow"/>
                <a:sym typeface="Barlow"/>
              </a:rPr>
              <a:t>Simple enough for a first-time user to act confidently.</a:t>
            </a:r>
          </a:p>
        </p:txBody>
      </p:sp>
      <p:sp>
        <p:nvSpPr>
          <p:cNvPr name="TextBox 28" id="28"/>
          <p:cNvSpPr txBox="true"/>
          <p:nvPr/>
        </p:nvSpPr>
        <p:spPr>
          <a:xfrm rot="0">
            <a:off x="6857829" y="6960184"/>
            <a:ext cx="10515333" cy="346624"/>
          </a:xfrm>
          <a:prstGeom prst="rect">
            <a:avLst/>
          </a:prstGeom>
        </p:spPr>
        <p:txBody>
          <a:bodyPr anchor="t" rtlCol="false" tIns="0" lIns="0" bIns="0" rIns="0">
            <a:spAutoFit/>
          </a:bodyPr>
          <a:lstStyle/>
          <a:p>
            <a:pPr algn="l">
              <a:lnSpc>
                <a:spcPts val="2440"/>
              </a:lnSpc>
            </a:pPr>
            <a:r>
              <a:rPr lang="en-US" sz="1800">
                <a:solidFill>
                  <a:srgbClr val="FFFFFF"/>
                </a:solidFill>
                <a:latin typeface="Barlow"/>
                <a:ea typeface="Barlow"/>
                <a:cs typeface="Barlow"/>
                <a:sym typeface="Barlow"/>
              </a:rPr>
              <a:t>Example vote: keep the meter, explanation, and suggestions; skip extras that add complexity.</a:t>
            </a:r>
          </a:p>
        </p:txBody>
      </p:sp>
      <p:grpSp>
        <p:nvGrpSpPr>
          <p:cNvPr name="Group 29" id="29"/>
          <p:cNvGrpSpPr/>
          <p:nvPr/>
        </p:nvGrpSpPr>
        <p:grpSpPr>
          <a:xfrm rot="0">
            <a:off x="6386351" y="2837412"/>
            <a:ext cx="28575" cy="6672262"/>
            <a:chOff x="0" y="0"/>
            <a:chExt cx="38100" cy="8896350"/>
          </a:xfrm>
        </p:grpSpPr>
        <p:sp>
          <p:nvSpPr>
            <p:cNvPr name="Freeform 30" id="30"/>
            <p:cNvSpPr/>
            <p:nvPr/>
          </p:nvSpPr>
          <p:spPr>
            <a:xfrm flipH="false" flipV="false" rot="0">
              <a:off x="0" y="0"/>
              <a:ext cx="38100" cy="8896350"/>
            </a:xfrm>
            <a:custGeom>
              <a:avLst/>
              <a:gdLst/>
              <a:ahLst/>
              <a:cxnLst/>
              <a:rect r="r" b="b" t="t" l="l"/>
              <a:pathLst>
                <a:path h="8896350" w="38100">
                  <a:moveTo>
                    <a:pt x="0" y="0"/>
                  </a:moveTo>
                  <a:lnTo>
                    <a:pt x="38100" y="0"/>
                  </a:lnTo>
                  <a:lnTo>
                    <a:pt x="38100" y="8896350"/>
                  </a:lnTo>
                  <a:lnTo>
                    <a:pt x="0" y="8896350"/>
                  </a:lnTo>
                  <a:close/>
                </a:path>
              </a:pathLst>
            </a:custGeom>
            <a:solidFill>
              <a:srgbClr val="40456A"/>
            </a:solid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E0E3F"/>
        </a:solidFill>
      </p:bgPr>
    </p:bg>
    <p:spTree>
      <p:nvGrpSpPr>
        <p:cNvPr id="1" name=""/>
        <p:cNvGrpSpPr/>
        <p:nvPr/>
      </p:nvGrpSpPr>
      <p:grpSpPr>
        <a:xfrm>
          <a:off x="0" y="0"/>
          <a:ext cx="0" cy="0"/>
          <a:chOff x="0" y="0"/>
          <a:chExt cx="0" cy="0"/>
        </a:xfrm>
      </p:grpSpPr>
      <p:sp>
        <p:nvSpPr>
          <p:cNvPr name="TextBox 2" id="2"/>
          <p:cNvSpPr txBox="true"/>
          <p:nvPr/>
        </p:nvSpPr>
        <p:spPr>
          <a:xfrm rot="0">
            <a:off x="914381" y="915991"/>
            <a:ext cx="4709103" cy="502739"/>
          </a:xfrm>
          <a:prstGeom prst="rect">
            <a:avLst/>
          </a:prstGeom>
        </p:spPr>
        <p:txBody>
          <a:bodyPr anchor="t" rtlCol="false" tIns="0" lIns="0" bIns="0" rIns="0">
            <a:spAutoFit/>
          </a:bodyPr>
          <a:lstStyle/>
          <a:p>
            <a:pPr algn="l">
              <a:lnSpc>
                <a:spcPts val="1782"/>
              </a:lnSpc>
            </a:pPr>
            <a:r>
              <a:rPr lang="en-US" sz="1650" spc="132">
                <a:solidFill>
                  <a:srgbClr val="C7D14F"/>
                </a:solidFill>
                <a:latin typeface="Arimo"/>
                <a:ea typeface="Arimo"/>
                <a:cs typeface="Arimo"/>
                <a:sym typeface="Arimo"/>
              </a:rPr>
              <a:t>06 · RAPID ESTIMATION &amp; SOLUTION CONCEPT</a:t>
            </a:r>
          </a:p>
        </p:txBody>
      </p:sp>
      <p:sp>
        <p:nvSpPr>
          <p:cNvPr name="TextBox 3" id="3"/>
          <p:cNvSpPr txBox="true"/>
          <p:nvPr/>
        </p:nvSpPr>
        <p:spPr>
          <a:xfrm rot="0">
            <a:off x="914381" y="1688602"/>
            <a:ext cx="4709103" cy="1685925"/>
          </a:xfrm>
          <a:prstGeom prst="rect">
            <a:avLst/>
          </a:prstGeom>
        </p:spPr>
        <p:txBody>
          <a:bodyPr anchor="t" rtlCol="false" tIns="0" lIns="0" bIns="0" rIns="0">
            <a:spAutoFit/>
          </a:bodyPr>
          <a:lstStyle/>
          <a:p>
            <a:pPr algn="l">
              <a:lnSpc>
                <a:spcPts val="4276"/>
              </a:lnSpc>
            </a:pPr>
            <a:r>
              <a:rPr lang="en-US" sz="4500" spc="-22">
                <a:solidFill>
                  <a:srgbClr val="F8ED43"/>
                </a:solidFill>
                <a:latin typeface="Saira"/>
                <a:ea typeface="Saira"/>
                <a:cs typeface="Saira"/>
                <a:sym typeface="Saira"/>
              </a:rPr>
              <a:t>A lightweight checker, calculated locally</a:t>
            </a:r>
          </a:p>
        </p:txBody>
      </p:sp>
      <p:sp>
        <p:nvSpPr>
          <p:cNvPr name="TextBox 4" id="4"/>
          <p:cNvSpPr txBox="true"/>
          <p:nvPr/>
        </p:nvSpPr>
        <p:spPr>
          <a:xfrm rot="0">
            <a:off x="914381" y="3570980"/>
            <a:ext cx="4709103" cy="2543175"/>
          </a:xfrm>
          <a:prstGeom prst="rect">
            <a:avLst/>
          </a:prstGeom>
        </p:spPr>
        <p:txBody>
          <a:bodyPr anchor="t" rtlCol="false" tIns="0" lIns="0" bIns="0" rIns="0">
            <a:spAutoFit/>
          </a:bodyPr>
          <a:lstStyle/>
          <a:p>
            <a:pPr algn="l">
              <a:lnSpc>
                <a:spcPts val="3267"/>
              </a:lnSpc>
            </a:pPr>
            <a:r>
              <a:rPr lang="en-US" sz="2250">
                <a:solidFill>
                  <a:srgbClr val="F3F1F8"/>
                </a:solidFill>
                <a:latin typeface="Barlow"/>
                <a:ea typeface="Barlow"/>
                <a:cs typeface="Barlow"/>
                <a:sym typeface="Barlow"/>
              </a:rPr>
              <a:t>Build the first version around four core checks: length, variety, predictability, and uniqueness. Each check maps to a visible suggestion, so the team can test the idea without a scoring black box.</a:t>
            </a:r>
          </a:p>
        </p:txBody>
      </p:sp>
      <p:grpSp>
        <p:nvGrpSpPr>
          <p:cNvPr name="Group 5" id="5"/>
          <p:cNvGrpSpPr/>
          <p:nvPr/>
        </p:nvGrpSpPr>
        <p:grpSpPr>
          <a:xfrm rot="0">
            <a:off x="909618" y="6355852"/>
            <a:ext cx="2909516" cy="466725"/>
            <a:chOff x="0" y="0"/>
            <a:chExt cx="3879355" cy="622300"/>
          </a:xfrm>
        </p:grpSpPr>
        <p:sp>
          <p:nvSpPr>
            <p:cNvPr name="Freeform 6" id="6"/>
            <p:cNvSpPr/>
            <p:nvPr/>
          </p:nvSpPr>
          <p:spPr>
            <a:xfrm flipH="false" flipV="false" rot="0">
              <a:off x="0" y="0"/>
              <a:ext cx="3879342" cy="622300"/>
            </a:xfrm>
            <a:custGeom>
              <a:avLst/>
              <a:gdLst/>
              <a:ahLst/>
              <a:cxnLst/>
              <a:rect r="r" b="b" t="t" l="l"/>
              <a:pathLst>
                <a:path h="622300" w="3879342">
                  <a:moveTo>
                    <a:pt x="0" y="0"/>
                  </a:moveTo>
                  <a:lnTo>
                    <a:pt x="3879342" y="0"/>
                  </a:lnTo>
                  <a:lnTo>
                    <a:pt x="3879342" y="622300"/>
                  </a:lnTo>
                  <a:lnTo>
                    <a:pt x="0" y="622300"/>
                  </a:lnTo>
                  <a:close/>
                </a:path>
              </a:pathLst>
            </a:custGeom>
            <a:blipFill>
              <a:blip r:embed="rId3">
                <a:alphaModFix amt="0"/>
              </a:blip>
              <a:stretch>
                <a:fillRect l="0" t="-71467" r="0" b="-71467"/>
              </a:stretch>
            </a:blipFill>
            <a:ln w="9525" cap="sq">
              <a:solidFill>
                <a:srgbClr val="F8ED43"/>
              </a:solidFill>
              <a:prstDash val="solid"/>
              <a:miter/>
            </a:ln>
          </p:spPr>
        </p:sp>
      </p:grpSp>
      <p:sp>
        <p:nvSpPr>
          <p:cNvPr name="TextBox 7" id="7"/>
          <p:cNvSpPr txBox="true"/>
          <p:nvPr/>
        </p:nvSpPr>
        <p:spPr>
          <a:xfrm rot="0">
            <a:off x="1085821" y="6424908"/>
            <a:ext cx="3471481" cy="314325"/>
          </a:xfrm>
          <a:prstGeom prst="rect">
            <a:avLst/>
          </a:prstGeom>
        </p:spPr>
        <p:txBody>
          <a:bodyPr anchor="t" rtlCol="false" tIns="0" lIns="0" bIns="0" rIns="0">
            <a:spAutoFit/>
          </a:bodyPr>
          <a:lstStyle/>
          <a:p>
            <a:pPr algn="l">
              <a:lnSpc>
                <a:spcPts val="2246"/>
              </a:lnSpc>
            </a:pPr>
            <a:r>
              <a:rPr lang="en-US" sz="1800" spc="72">
                <a:solidFill>
                  <a:srgbClr val="F8ED43"/>
                </a:solidFill>
                <a:latin typeface="Arimo"/>
                <a:ea typeface="Arimo"/>
                <a:cs typeface="Arimo"/>
                <a:sym typeface="Arimo"/>
              </a:rPr>
              <a:t>PRIVACY BY DESIGN</a:t>
            </a:r>
          </a:p>
        </p:txBody>
      </p:sp>
      <p:sp>
        <p:nvSpPr>
          <p:cNvPr name="TextBox 8" id="8"/>
          <p:cNvSpPr txBox="true"/>
          <p:nvPr/>
        </p:nvSpPr>
        <p:spPr>
          <a:xfrm rot="0">
            <a:off x="914381" y="7008314"/>
            <a:ext cx="4709103" cy="1724025"/>
          </a:xfrm>
          <a:prstGeom prst="rect">
            <a:avLst/>
          </a:prstGeom>
        </p:spPr>
        <p:txBody>
          <a:bodyPr anchor="t" rtlCol="false" tIns="0" lIns="0" bIns="0" rIns="0">
            <a:spAutoFit/>
          </a:bodyPr>
          <a:lstStyle/>
          <a:p>
            <a:pPr algn="l">
              <a:lnSpc>
                <a:spcPts val="3267"/>
              </a:lnSpc>
            </a:pPr>
            <a:r>
              <a:rPr lang="en-US" sz="2250" spc="44">
                <a:solidFill>
                  <a:srgbClr val="F8ED43"/>
                </a:solidFill>
                <a:latin typeface="Arimo"/>
                <a:ea typeface="Arimo"/>
                <a:cs typeface="Arimo"/>
                <a:sym typeface="Arimo"/>
              </a:rPr>
              <a:t>Never store or send the entered password; calculate the result in the browser.</a:t>
            </a:r>
          </a:p>
        </p:txBody>
      </p:sp>
      <p:sp>
        <p:nvSpPr>
          <p:cNvPr name="TextBox 9" id="9"/>
          <p:cNvSpPr txBox="true"/>
          <p:nvPr/>
        </p:nvSpPr>
        <p:spPr>
          <a:xfrm rot="0">
            <a:off x="914381" y="8967130"/>
            <a:ext cx="4709103" cy="963663"/>
          </a:xfrm>
          <a:prstGeom prst="rect">
            <a:avLst/>
          </a:prstGeom>
        </p:spPr>
        <p:txBody>
          <a:bodyPr anchor="t" rtlCol="false" tIns="0" lIns="0" bIns="0" rIns="0">
            <a:spAutoFit/>
          </a:bodyPr>
          <a:lstStyle/>
          <a:p>
            <a:pPr algn="l">
              <a:lnSpc>
                <a:spcPts val="2440"/>
              </a:lnSpc>
            </a:pPr>
            <a:r>
              <a:rPr lang="en-US" sz="1800">
                <a:solidFill>
                  <a:srgbClr val="BDB8D9"/>
                </a:solidFill>
                <a:latin typeface="Barlow"/>
                <a:ea typeface="Barlow"/>
                <a:cs typeface="Barlow"/>
                <a:sym typeface="Barlow"/>
              </a:rPr>
              <a:t>Feasible for a first prototype: one field, local rules, instant feedback. Phishing and stolen passwords remain separate risks.</a:t>
            </a:r>
          </a:p>
        </p:txBody>
      </p:sp>
      <p:grpSp>
        <p:nvGrpSpPr>
          <p:cNvPr name="Group 10" id="10"/>
          <p:cNvGrpSpPr/>
          <p:nvPr/>
        </p:nvGrpSpPr>
        <p:grpSpPr>
          <a:xfrm rot="0">
            <a:off x="6994893" y="0"/>
            <a:ext cx="11292650" cy="10287000"/>
            <a:chOff x="0" y="0"/>
            <a:chExt cx="15056866" cy="13716000"/>
          </a:xfrm>
        </p:grpSpPr>
        <p:sp>
          <p:nvSpPr>
            <p:cNvPr name="Freeform 11" id="11"/>
            <p:cNvSpPr/>
            <p:nvPr/>
          </p:nvSpPr>
          <p:spPr>
            <a:xfrm flipH="false" flipV="false" rot="0">
              <a:off x="0" y="0"/>
              <a:ext cx="15056865" cy="13716000"/>
            </a:xfrm>
            <a:custGeom>
              <a:avLst/>
              <a:gdLst/>
              <a:ahLst/>
              <a:cxnLst/>
              <a:rect r="r" b="b" t="t" l="l"/>
              <a:pathLst>
                <a:path h="13716000" w="15056865">
                  <a:moveTo>
                    <a:pt x="0" y="0"/>
                  </a:moveTo>
                  <a:lnTo>
                    <a:pt x="15056865" y="0"/>
                  </a:lnTo>
                  <a:lnTo>
                    <a:pt x="15056865" y="13716000"/>
                  </a:lnTo>
                  <a:lnTo>
                    <a:pt x="0" y="13716000"/>
                  </a:lnTo>
                  <a:close/>
                </a:path>
              </a:pathLst>
            </a:custGeom>
            <a:solidFill>
              <a:srgbClr val="40456A"/>
            </a:solidFill>
          </p:spPr>
        </p:sp>
      </p:grpSp>
      <p:sp>
        <p:nvSpPr>
          <p:cNvPr name="TextBox 12" id="12"/>
          <p:cNvSpPr txBox="true"/>
          <p:nvPr/>
        </p:nvSpPr>
        <p:spPr>
          <a:xfrm rot="0">
            <a:off x="7909274" y="2759526"/>
            <a:ext cx="10378269" cy="270424"/>
          </a:xfrm>
          <a:prstGeom prst="rect">
            <a:avLst/>
          </a:prstGeom>
        </p:spPr>
        <p:txBody>
          <a:bodyPr anchor="t" rtlCol="false" tIns="0" lIns="0" bIns="0" rIns="0">
            <a:spAutoFit/>
          </a:bodyPr>
          <a:lstStyle/>
          <a:p>
            <a:pPr algn="l">
              <a:lnSpc>
                <a:spcPts val="1980"/>
              </a:lnSpc>
            </a:pPr>
            <a:r>
              <a:rPr lang="en-US" sz="1650" spc="132">
                <a:solidFill>
                  <a:srgbClr val="FFFFFF"/>
                </a:solidFill>
                <a:latin typeface="Arimo"/>
                <a:ea typeface="Arimo"/>
                <a:cs typeface="Arimo"/>
                <a:sym typeface="Arimo"/>
              </a:rPr>
              <a:t>LOCAL CHECKER</a:t>
            </a:r>
          </a:p>
        </p:txBody>
      </p:sp>
      <p:grpSp>
        <p:nvGrpSpPr>
          <p:cNvPr name="Group 13" id="13"/>
          <p:cNvGrpSpPr/>
          <p:nvPr/>
        </p:nvGrpSpPr>
        <p:grpSpPr>
          <a:xfrm rot="0">
            <a:off x="7909274" y="3354591"/>
            <a:ext cx="9463745" cy="47473"/>
            <a:chOff x="0" y="0"/>
            <a:chExt cx="12618326" cy="63297"/>
          </a:xfrm>
        </p:grpSpPr>
        <p:sp>
          <p:nvSpPr>
            <p:cNvPr name="Freeform 14" id="14"/>
            <p:cNvSpPr/>
            <p:nvPr/>
          </p:nvSpPr>
          <p:spPr>
            <a:xfrm flipH="false" flipV="false" rot="0">
              <a:off x="0" y="0"/>
              <a:ext cx="12618339" cy="63246"/>
            </a:xfrm>
            <a:custGeom>
              <a:avLst/>
              <a:gdLst/>
              <a:ahLst/>
              <a:cxnLst/>
              <a:rect r="r" b="b" t="t" l="l"/>
              <a:pathLst>
                <a:path h="63246" w="12618339">
                  <a:moveTo>
                    <a:pt x="0" y="31623"/>
                  </a:moveTo>
                  <a:cubicBezTo>
                    <a:pt x="0" y="14224"/>
                    <a:pt x="14224" y="0"/>
                    <a:pt x="31623" y="0"/>
                  </a:cubicBezTo>
                  <a:lnTo>
                    <a:pt x="12586716" y="0"/>
                  </a:lnTo>
                  <a:cubicBezTo>
                    <a:pt x="12604242" y="0"/>
                    <a:pt x="12618339" y="14224"/>
                    <a:pt x="12618339" y="31623"/>
                  </a:cubicBezTo>
                  <a:cubicBezTo>
                    <a:pt x="12618339" y="49149"/>
                    <a:pt x="12604115" y="63246"/>
                    <a:pt x="12586716" y="63246"/>
                  </a:cubicBezTo>
                  <a:lnTo>
                    <a:pt x="31623" y="63246"/>
                  </a:lnTo>
                  <a:cubicBezTo>
                    <a:pt x="14224" y="63246"/>
                    <a:pt x="0" y="49149"/>
                    <a:pt x="0" y="31623"/>
                  </a:cubicBezTo>
                  <a:close/>
                </a:path>
              </a:pathLst>
            </a:custGeom>
            <a:solidFill>
              <a:srgbClr val="40456A"/>
            </a:solidFill>
          </p:spPr>
        </p:sp>
      </p:grpSp>
      <p:grpSp>
        <p:nvGrpSpPr>
          <p:cNvPr name="Group 15" id="15"/>
          <p:cNvGrpSpPr/>
          <p:nvPr/>
        </p:nvGrpSpPr>
        <p:grpSpPr>
          <a:xfrm rot="0">
            <a:off x="7904512" y="3723675"/>
            <a:ext cx="2157508" cy="466725"/>
            <a:chOff x="0" y="0"/>
            <a:chExt cx="2876677" cy="622300"/>
          </a:xfrm>
        </p:grpSpPr>
        <p:sp>
          <p:nvSpPr>
            <p:cNvPr name="Freeform 16" id="16"/>
            <p:cNvSpPr/>
            <p:nvPr/>
          </p:nvSpPr>
          <p:spPr>
            <a:xfrm flipH="false" flipV="false" rot="0">
              <a:off x="0" y="0"/>
              <a:ext cx="2876677" cy="622300"/>
            </a:xfrm>
            <a:custGeom>
              <a:avLst/>
              <a:gdLst/>
              <a:ahLst/>
              <a:cxnLst/>
              <a:rect r="r" b="b" t="t" l="l"/>
              <a:pathLst>
                <a:path h="622300" w="2876677">
                  <a:moveTo>
                    <a:pt x="0" y="0"/>
                  </a:moveTo>
                  <a:lnTo>
                    <a:pt x="2876677" y="0"/>
                  </a:lnTo>
                  <a:lnTo>
                    <a:pt x="2876677" y="622300"/>
                  </a:lnTo>
                  <a:lnTo>
                    <a:pt x="0" y="622300"/>
                  </a:lnTo>
                  <a:close/>
                </a:path>
              </a:pathLst>
            </a:custGeom>
            <a:blipFill>
              <a:blip r:embed="rId3">
                <a:alphaModFix amt="0"/>
              </a:blip>
              <a:stretch>
                <a:fillRect l="0" t="-40072" r="0" b="-40072"/>
              </a:stretch>
            </a:blipFill>
            <a:ln w="9525" cap="sq">
              <a:solidFill>
                <a:srgbClr val="FFFFFF"/>
              </a:solidFill>
              <a:prstDash val="solid"/>
              <a:miter/>
            </a:ln>
          </p:spPr>
        </p:sp>
      </p:grpSp>
      <p:sp>
        <p:nvSpPr>
          <p:cNvPr name="TextBox 17" id="17"/>
          <p:cNvSpPr txBox="true"/>
          <p:nvPr/>
        </p:nvSpPr>
        <p:spPr>
          <a:xfrm rot="0">
            <a:off x="8080715" y="3792741"/>
            <a:ext cx="2719473" cy="314325"/>
          </a:xfrm>
          <a:prstGeom prst="rect">
            <a:avLst/>
          </a:prstGeom>
        </p:spPr>
        <p:txBody>
          <a:bodyPr anchor="t" rtlCol="false" tIns="0" lIns="0" bIns="0" rIns="0">
            <a:spAutoFit/>
          </a:bodyPr>
          <a:lstStyle/>
          <a:p>
            <a:pPr algn="l">
              <a:lnSpc>
                <a:spcPts val="2246"/>
              </a:lnSpc>
            </a:pPr>
            <a:r>
              <a:rPr lang="en-US" sz="1800" spc="72">
                <a:solidFill>
                  <a:srgbClr val="FFFFFF"/>
                </a:solidFill>
                <a:latin typeface="Arimo"/>
                <a:ea typeface="Arimo"/>
                <a:cs typeface="Arimo"/>
                <a:sym typeface="Arimo"/>
              </a:rPr>
              <a:t>••••••••••••</a:t>
            </a:r>
          </a:p>
        </p:txBody>
      </p:sp>
      <p:grpSp>
        <p:nvGrpSpPr>
          <p:cNvPr name="Group 18" id="18"/>
          <p:cNvGrpSpPr/>
          <p:nvPr/>
        </p:nvGrpSpPr>
        <p:grpSpPr>
          <a:xfrm rot="0">
            <a:off x="10195370" y="3723675"/>
            <a:ext cx="2157508" cy="466725"/>
            <a:chOff x="0" y="0"/>
            <a:chExt cx="2876677" cy="622300"/>
          </a:xfrm>
        </p:grpSpPr>
        <p:sp>
          <p:nvSpPr>
            <p:cNvPr name="Freeform 19" id="19"/>
            <p:cNvSpPr/>
            <p:nvPr/>
          </p:nvSpPr>
          <p:spPr>
            <a:xfrm flipH="false" flipV="false" rot="0">
              <a:off x="0" y="0"/>
              <a:ext cx="2876677" cy="622300"/>
            </a:xfrm>
            <a:custGeom>
              <a:avLst/>
              <a:gdLst/>
              <a:ahLst/>
              <a:cxnLst/>
              <a:rect r="r" b="b" t="t" l="l"/>
              <a:pathLst>
                <a:path h="622300" w="2876677">
                  <a:moveTo>
                    <a:pt x="0" y="0"/>
                  </a:moveTo>
                  <a:lnTo>
                    <a:pt x="2876677" y="0"/>
                  </a:lnTo>
                  <a:lnTo>
                    <a:pt x="2876677" y="622300"/>
                  </a:lnTo>
                  <a:lnTo>
                    <a:pt x="0" y="622300"/>
                  </a:lnTo>
                  <a:close/>
                </a:path>
              </a:pathLst>
            </a:custGeom>
            <a:blipFill>
              <a:blip r:embed="rId3">
                <a:alphaModFix amt="0"/>
              </a:blip>
              <a:stretch>
                <a:fillRect l="0" t="-40072" r="0" b="-40072"/>
              </a:stretch>
            </a:blipFill>
            <a:ln w="9525" cap="sq">
              <a:solidFill>
                <a:srgbClr val="FFFFFF"/>
              </a:solidFill>
              <a:prstDash val="solid"/>
              <a:miter/>
            </a:ln>
          </p:spPr>
        </p:sp>
      </p:grpSp>
      <p:sp>
        <p:nvSpPr>
          <p:cNvPr name="TextBox 20" id="20"/>
          <p:cNvSpPr txBox="true"/>
          <p:nvPr/>
        </p:nvSpPr>
        <p:spPr>
          <a:xfrm rot="0">
            <a:off x="10371572" y="3792741"/>
            <a:ext cx="2719473" cy="314325"/>
          </a:xfrm>
          <a:prstGeom prst="rect">
            <a:avLst/>
          </a:prstGeom>
        </p:spPr>
        <p:txBody>
          <a:bodyPr anchor="t" rtlCol="false" tIns="0" lIns="0" bIns="0" rIns="0">
            <a:spAutoFit/>
          </a:bodyPr>
          <a:lstStyle/>
          <a:p>
            <a:pPr algn="l">
              <a:lnSpc>
                <a:spcPts val="2246"/>
              </a:lnSpc>
            </a:pPr>
            <a:r>
              <a:rPr lang="en-US" sz="1800" spc="72">
                <a:solidFill>
                  <a:srgbClr val="FFFFFF"/>
                </a:solidFill>
                <a:latin typeface="Arimo"/>
                <a:ea typeface="Arimo"/>
                <a:cs typeface="Arimo"/>
                <a:sym typeface="Arimo"/>
              </a:rPr>
              <a:t>RESET BUTTON</a:t>
            </a:r>
          </a:p>
        </p:txBody>
      </p:sp>
      <p:sp>
        <p:nvSpPr>
          <p:cNvPr name="TextBox 21" id="21"/>
          <p:cNvSpPr txBox="true"/>
          <p:nvPr/>
        </p:nvSpPr>
        <p:spPr>
          <a:xfrm rot="0">
            <a:off x="7909274" y="4438050"/>
            <a:ext cx="4617577" cy="533400"/>
          </a:xfrm>
          <a:prstGeom prst="rect">
            <a:avLst/>
          </a:prstGeom>
        </p:spPr>
        <p:txBody>
          <a:bodyPr anchor="t" rtlCol="false" tIns="0" lIns="0" bIns="0" rIns="0">
            <a:spAutoFit/>
          </a:bodyPr>
          <a:lstStyle/>
          <a:p>
            <a:pPr algn="l">
              <a:lnSpc>
                <a:spcPts val="3888"/>
              </a:lnSpc>
            </a:pPr>
            <a:r>
              <a:rPr lang="en-US" sz="3000" b="true">
                <a:solidFill>
                  <a:srgbClr val="FFFFFF"/>
                </a:solidFill>
                <a:latin typeface="Barlow Medium"/>
                <a:ea typeface="Barlow Medium"/>
                <a:cs typeface="Barlow Medium"/>
                <a:sym typeface="Barlow Medium"/>
              </a:rPr>
              <a:t>MEDIUM</a:t>
            </a:r>
          </a:p>
        </p:txBody>
      </p:sp>
      <p:sp>
        <p:nvSpPr>
          <p:cNvPr name="TextBox 22" id="22"/>
          <p:cNvSpPr txBox="true"/>
          <p:nvPr/>
        </p:nvSpPr>
        <p:spPr>
          <a:xfrm rot="0">
            <a:off x="12755442" y="4396388"/>
            <a:ext cx="4617720" cy="471488"/>
          </a:xfrm>
          <a:prstGeom prst="rect">
            <a:avLst/>
          </a:prstGeom>
        </p:spPr>
        <p:txBody>
          <a:bodyPr anchor="t" rtlCol="false" tIns="0" lIns="0" bIns="0" rIns="0">
            <a:spAutoFit/>
          </a:bodyPr>
          <a:lstStyle/>
          <a:p>
            <a:pPr algn="l">
              <a:lnSpc>
                <a:spcPts val="3267"/>
              </a:lnSpc>
            </a:pPr>
            <a:r>
              <a:rPr lang="en-US" sz="2250">
                <a:solidFill>
                  <a:srgbClr val="FFFFFF"/>
                </a:solidFill>
                <a:latin typeface="Barlow"/>
                <a:ea typeface="Barlow"/>
                <a:cs typeface="Barlow"/>
                <a:sym typeface="Barlow"/>
              </a:rPr>
              <a:t>Feedback updates live as you type</a:t>
            </a:r>
          </a:p>
        </p:txBody>
      </p:sp>
      <p:grpSp>
        <p:nvGrpSpPr>
          <p:cNvPr name="Group 23" id="23"/>
          <p:cNvGrpSpPr/>
          <p:nvPr/>
        </p:nvGrpSpPr>
        <p:grpSpPr>
          <a:xfrm rot="0">
            <a:off x="7909274" y="5264353"/>
            <a:ext cx="9463745" cy="47473"/>
            <a:chOff x="0" y="0"/>
            <a:chExt cx="12618326" cy="63297"/>
          </a:xfrm>
        </p:grpSpPr>
        <p:sp>
          <p:nvSpPr>
            <p:cNvPr name="Freeform 24" id="24"/>
            <p:cNvSpPr/>
            <p:nvPr/>
          </p:nvSpPr>
          <p:spPr>
            <a:xfrm flipH="false" flipV="false" rot="0">
              <a:off x="0" y="0"/>
              <a:ext cx="12618339" cy="63246"/>
            </a:xfrm>
            <a:custGeom>
              <a:avLst/>
              <a:gdLst/>
              <a:ahLst/>
              <a:cxnLst/>
              <a:rect r="r" b="b" t="t" l="l"/>
              <a:pathLst>
                <a:path h="63246" w="12618339">
                  <a:moveTo>
                    <a:pt x="0" y="31623"/>
                  </a:moveTo>
                  <a:cubicBezTo>
                    <a:pt x="0" y="14224"/>
                    <a:pt x="14224" y="0"/>
                    <a:pt x="31623" y="0"/>
                  </a:cubicBezTo>
                  <a:lnTo>
                    <a:pt x="12586716" y="0"/>
                  </a:lnTo>
                  <a:cubicBezTo>
                    <a:pt x="12604242" y="0"/>
                    <a:pt x="12618339" y="14224"/>
                    <a:pt x="12618339" y="31623"/>
                  </a:cubicBezTo>
                  <a:cubicBezTo>
                    <a:pt x="12618339" y="49149"/>
                    <a:pt x="12604115" y="63246"/>
                    <a:pt x="12586716" y="63246"/>
                  </a:cubicBezTo>
                  <a:lnTo>
                    <a:pt x="31623" y="63246"/>
                  </a:lnTo>
                  <a:cubicBezTo>
                    <a:pt x="14224" y="63246"/>
                    <a:pt x="0" y="49149"/>
                    <a:pt x="0" y="31623"/>
                  </a:cubicBezTo>
                  <a:close/>
                </a:path>
              </a:pathLst>
            </a:custGeom>
            <a:solidFill>
              <a:srgbClr val="40456A"/>
            </a:solidFill>
          </p:spPr>
        </p:sp>
      </p:grpSp>
      <p:sp>
        <p:nvSpPr>
          <p:cNvPr name="TextBox 25" id="25"/>
          <p:cNvSpPr txBox="true"/>
          <p:nvPr/>
        </p:nvSpPr>
        <p:spPr>
          <a:xfrm rot="0">
            <a:off x="7909274" y="5581050"/>
            <a:ext cx="9463897" cy="1928812"/>
          </a:xfrm>
          <a:prstGeom prst="rect">
            <a:avLst/>
          </a:prstGeom>
        </p:spPr>
        <p:txBody>
          <a:bodyPr anchor="t" rtlCol="false" tIns="0" lIns="0" bIns="0" rIns="0">
            <a:spAutoFit/>
          </a:bodyPr>
          <a:lstStyle/>
          <a:p>
            <a:pPr algn="l" marL="407194" indent="-203597" lvl="1">
              <a:lnSpc>
                <a:spcPts val="3267"/>
              </a:lnSpc>
              <a:buFont typeface="Arial"/>
              <a:buChar char="•"/>
            </a:pPr>
            <a:r>
              <a:rPr lang="en-US" b="true" sz="2250">
                <a:solidFill>
                  <a:srgbClr val="FFFFFF"/>
                </a:solidFill>
                <a:latin typeface="Barlow Bold"/>
                <a:ea typeface="Barlow Bold"/>
                <a:cs typeface="Barlow Bold"/>
                <a:sym typeface="Barlow Bold"/>
              </a:rPr>
              <a:t>Length</a:t>
            </a:r>
            <a:r>
              <a:rPr lang="en-US" sz="2250">
                <a:solidFill>
                  <a:srgbClr val="FFFFFF"/>
                </a:solidFill>
                <a:latin typeface="Barlow"/>
                <a:ea typeface="Barlow"/>
                <a:cs typeface="Barlow"/>
                <a:sym typeface="Barlow"/>
              </a:rPr>
              <a:t> is improving</a:t>
            </a:r>
          </a:p>
          <a:p>
            <a:pPr algn="l" marL="407194" indent="-203597" lvl="1">
              <a:lnSpc>
                <a:spcPts val="3267"/>
              </a:lnSpc>
              <a:buFont typeface="Arial"/>
              <a:buChar char="•"/>
            </a:pPr>
            <a:r>
              <a:rPr lang="en-US" b="true" sz="2250">
                <a:solidFill>
                  <a:srgbClr val="FFFFFF"/>
                </a:solidFill>
                <a:latin typeface="Barlow Bold"/>
                <a:ea typeface="Barlow Bold"/>
                <a:cs typeface="Barlow Bold"/>
                <a:sym typeface="Barlow Bold"/>
              </a:rPr>
              <a:t>Variety</a:t>
            </a:r>
            <a:r>
              <a:rPr lang="en-US" sz="2250">
                <a:solidFill>
                  <a:srgbClr val="FFFFFF"/>
                </a:solidFill>
                <a:latin typeface="Barlow"/>
                <a:ea typeface="Barlow"/>
                <a:cs typeface="Barlow"/>
                <a:sym typeface="Barlow"/>
              </a:rPr>
              <a:t> adds coverage</a:t>
            </a:r>
          </a:p>
          <a:p>
            <a:pPr algn="l" marL="407194" indent="-203597" lvl="1">
              <a:lnSpc>
                <a:spcPts val="3267"/>
              </a:lnSpc>
              <a:buFont typeface="Arial"/>
              <a:buChar char="•"/>
            </a:pPr>
            <a:r>
              <a:rPr lang="en-US" b="true" sz="2250">
                <a:solidFill>
                  <a:srgbClr val="FFFFFF"/>
                </a:solidFill>
                <a:latin typeface="Barlow Bold"/>
                <a:ea typeface="Barlow Bold"/>
                <a:cs typeface="Barlow Bold"/>
                <a:sym typeface="Barlow Bold"/>
              </a:rPr>
              <a:t>Predictability</a:t>
            </a:r>
            <a:r>
              <a:rPr lang="en-US" sz="2250">
                <a:solidFill>
                  <a:srgbClr val="FFFFFF"/>
                </a:solidFill>
                <a:latin typeface="Barlow"/>
                <a:ea typeface="Barlow"/>
                <a:cs typeface="Barlow"/>
                <a:sym typeface="Barlow"/>
              </a:rPr>
              <a:t> needs attention</a:t>
            </a:r>
          </a:p>
          <a:p>
            <a:pPr algn="l" marL="407194" indent="-203597" lvl="1">
              <a:lnSpc>
                <a:spcPts val="3267"/>
              </a:lnSpc>
              <a:buFont typeface="Arial"/>
              <a:buChar char="•"/>
            </a:pPr>
            <a:r>
              <a:rPr lang="en-US" sz="2250">
                <a:solidFill>
                  <a:srgbClr val="FFFFFF"/>
                </a:solidFill>
                <a:latin typeface="Barlow"/>
                <a:ea typeface="Barlow"/>
                <a:cs typeface="Barlow"/>
                <a:sym typeface="Barlow"/>
              </a:rPr>
              <a:t>Try a longer passphrase, then recheck</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E0E3F"/>
        </a:solidFill>
      </p:bgPr>
    </p:bg>
    <p:spTree>
      <p:nvGrpSpPr>
        <p:cNvPr id="1" name=""/>
        <p:cNvGrpSpPr/>
        <p:nvPr/>
      </p:nvGrpSpPr>
      <p:grpSpPr>
        <a:xfrm>
          <a:off x="0" y="0"/>
          <a:ext cx="0" cy="0"/>
          <a:chOff x="0" y="0"/>
          <a:chExt cx="0" cy="0"/>
        </a:xfrm>
      </p:grpSpPr>
      <p:sp>
        <p:nvSpPr>
          <p:cNvPr name="TextBox 2" id="2"/>
          <p:cNvSpPr txBox="true"/>
          <p:nvPr/>
        </p:nvSpPr>
        <p:spPr>
          <a:xfrm rot="0">
            <a:off x="914381" y="917448"/>
            <a:ext cx="17373162" cy="244821"/>
          </a:xfrm>
          <a:prstGeom prst="rect">
            <a:avLst/>
          </a:prstGeom>
        </p:spPr>
        <p:txBody>
          <a:bodyPr anchor="t" rtlCol="false" tIns="0" lIns="0" bIns="0" rIns="0">
            <a:spAutoFit/>
          </a:bodyPr>
          <a:lstStyle/>
          <a:p>
            <a:pPr algn="l">
              <a:lnSpc>
                <a:spcPts val="1889"/>
              </a:lnSpc>
            </a:pPr>
            <a:r>
              <a:rPr lang="en-US" sz="1575" spc="122">
                <a:solidFill>
                  <a:srgbClr val="C7D14F"/>
                </a:solidFill>
                <a:latin typeface="Arimo"/>
                <a:ea typeface="Arimo"/>
                <a:cs typeface="Arimo"/>
                <a:sym typeface="Arimo"/>
              </a:rPr>
              <a:t>07 · ROUGH PROTOTYPE</a:t>
            </a:r>
          </a:p>
        </p:txBody>
      </p:sp>
      <p:sp>
        <p:nvSpPr>
          <p:cNvPr name="TextBox 3" id="3"/>
          <p:cNvSpPr txBox="true"/>
          <p:nvPr/>
        </p:nvSpPr>
        <p:spPr>
          <a:xfrm rot="0">
            <a:off x="914381" y="1359408"/>
            <a:ext cx="16458790" cy="504673"/>
          </a:xfrm>
          <a:prstGeom prst="rect">
            <a:avLst/>
          </a:prstGeom>
        </p:spPr>
        <p:txBody>
          <a:bodyPr anchor="t" rtlCol="false" tIns="0" lIns="0" bIns="0" rIns="0">
            <a:spAutoFit/>
          </a:bodyPr>
          <a:lstStyle/>
          <a:p>
            <a:pPr algn="l">
              <a:lnSpc>
                <a:spcPts val="4435"/>
              </a:lnSpc>
            </a:pPr>
            <a:r>
              <a:rPr lang="en-US" sz="4200" spc="-21">
                <a:solidFill>
                  <a:srgbClr val="F8ED43"/>
                </a:solidFill>
                <a:latin typeface="Saira"/>
                <a:ea typeface="Saira"/>
                <a:cs typeface="Saira"/>
                <a:sym typeface="Saira"/>
              </a:rPr>
              <a:t>From idea to clickable screen</a:t>
            </a:r>
          </a:p>
        </p:txBody>
      </p:sp>
      <p:sp>
        <p:nvSpPr>
          <p:cNvPr name="TextBox 4" id="4"/>
          <p:cNvSpPr txBox="true"/>
          <p:nvPr/>
        </p:nvSpPr>
        <p:spPr>
          <a:xfrm rot="0">
            <a:off x="914381" y="2027777"/>
            <a:ext cx="17373162" cy="423262"/>
          </a:xfrm>
          <a:prstGeom prst="rect">
            <a:avLst/>
          </a:prstGeom>
        </p:spPr>
        <p:txBody>
          <a:bodyPr anchor="t" rtlCol="false" tIns="0" lIns="0" bIns="0" rIns="0">
            <a:spAutoFit/>
          </a:bodyPr>
          <a:lstStyle/>
          <a:p>
            <a:pPr algn="l">
              <a:lnSpc>
                <a:spcPts val="2948"/>
              </a:lnSpc>
            </a:pPr>
            <a:r>
              <a:rPr lang="en-US" sz="2100">
                <a:solidFill>
                  <a:srgbClr val="F3F1F8"/>
                </a:solidFill>
                <a:latin typeface="Barlow"/>
                <a:ea typeface="Barlow"/>
                <a:cs typeface="Barlow"/>
                <a:sym typeface="Barlow"/>
              </a:rPr>
              <a:t>The prototype turns the concept into one short, clickable interaction: enter fictional input, see feedback change, and choose a safer next step.</a:t>
            </a:r>
          </a:p>
        </p:txBody>
      </p:sp>
      <p:grpSp>
        <p:nvGrpSpPr>
          <p:cNvPr name="Group 5" id="5"/>
          <p:cNvGrpSpPr/>
          <p:nvPr/>
        </p:nvGrpSpPr>
        <p:grpSpPr>
          <a:xfrm rot="0">
            <a:off x="914381" y="2663276"/>
            <a:ext cx="495290" cy="495300"/>
            <a:chOff x="0" y="0"/>
            <a:chExt cx="660387" cy="660400"/>
          </a:xfrm>
        </p:grpSpPr>
        <p:sp>
          <p:nvSpPr>
            <p:cNvPr name="Freeform 6" id="6"/>
            <p:cNvSpPr/>
            <p:nvPr/>
          </p:nvSpPr>
          <p:spPr>
            <a:xfrm flipH="false" flipV="false" rot="0">
              <a:off x="0" y="0"/>
              <a:ext cx="660400" cy="660400"/>
            </a:xfrm>
            <a:custGeom>
              <a:avLst/>
              <a:gdLst/>
              <a:ahLst/>
              <a:cxnLst/>
              <a:rect r="r" b="b" t="t" l="l"/>
              <a:pathLst>
                <a:path h="660400" w="660400">
                  <a:moveTo>
                    <a:pt x="0" y="330200"/>
                  </a:moveTo>
                  <a:cubicBezTo>
                    <a:pt x="0" y="147828"/>
                    <a:pt x="147828" y="0"/>
                    <a:pt x="330200" y="0"/>
                  </a:cubicBezTo>
                  <a:cubicBezTo>
                    <a:pt x="512572" y="0"/>
                    <a:pt x="660400" y="147828"/>
                    <a:pt x="660400" y="330200"/>
                  </a:cubicBezTo>
                  <a:cubicBezTo>
                    <a:pt x="660400" y="512572"/>
                    <a:pt x="512572" y="660400"/>
                    <a:pt x="330200" y="660400"/>
                  </a:cubicBezTo>
                  <a:cubicBezTo>
                    <a:pt x="147828" y="660400"/>
                    <a:pt x="0" y="512572"/>
                    <a:pt x="0" y="330200"/>
                  </a:cubicBezTo>
                  <a:close/>
                </a:path>
              </a:pathLst>
            </a:custGeom>
            <a:solidFill>
              <a:srgbClr val="F8ED43"/>
            </a:solidFill>
          </p:spPr>
        </p:sp>
      </p:grpSp>
      <p:sp>
        <p:nvSpPr>
          <p:cNvPr name="TextBox 7" id="7"/>
          <p:cNvSpPr txBox="true"/>
          <p:nvPr/>
        </p:nvSpPr>
        <p:spPr>
          <a:xfrm rot="0">
            <a:off x="1048912" y="2815676"/>
            <a:ext cx="1140590" cy="219075"/>
          </a:xfrm>
          <a:prstGeom prst="rect">
            <a:avLst/>
          </a:prstGeom>
        </p:spPr>
        <p:txBody>
          <a:bodyPr anchor="t" rtlCol="false" tIns="0" lIns="0" bIns="0" rIns="0">
            <a:spAutoFit/>
          </a:bodyPr>
          <a:lstStyle/>
          <a:p>
            <a:pPr algn="l">
              <a:lnSpc>
                <a:spcPts val="1942"/>
              </a:lnSpc>
            </a:pPr>
            <a:r>
              <a:rPr lang="en-US" sz="1950" b="true">
                <a:solidFill>
                  <a:srgbClr val="000000"/>
                </a:solidFill>
                <a:latin typeface="Barlow Bold"/>
                <a:ea typeface="Barlow Bold"/>
                <a:cs typeface="Barlow Bold"/>
                <a:sym typeface="Barlow Bold"/>
              </a:rPr>
              <a:t>01</a:t>
            </a:r>
          </a:p>
        </p:txBody>
      </p:sp>
      <p:sp>
        <p:nvSpPr>
          <p:cNvPr name="TextBox 8" id="8"/>
          <p:cNvSpPr txBox="true"/>
          <p:nvPr/>
        </p:nvSpPr>
        <p:spPr>
          <a:xfrm rot="0">
            <a:off x="1677105" y="2703871"/>
            <a:ext cx="5546388" cy="399602"/>
          </a:xfrm>
          <a:prstGeom prst="rect">
            <a:avLst/>
          </a:prstGeom>
        </p:spPr>
        <p:txBody>
          <a:bodyPr anchor="t" rtlCol="false" tIns="0" lIns="0" bIns="0" rIns="0">
            <a:spAutoFit/>
          </a:bodyPr>
          <a:lstStyle/>
          <a:p>
            <a:pPr algn="l">
              <a:lnSpc>
                <a:spcPts val="2916"/>
              </a:lnSpc>
            </a:pPr>
            <a:r>
              <a:rPr lang="en-US" sz="2250" b="true">
                <a:solidFill>
                  <a:srgbClr val="F8ED43"/>
                </a:solidFill>
                <a:latin typeface="Barlow Medium"/>
                <a:ea typeface="Barlow Medium"/>
                <a:cs typeface="Barlow Medium"/>
                <a:sym typeface="Barlow Medium"/>
              </a:rPr>
              <a:t>Enter</a:t>
            </a:r>
          </a:p>
        </p:txBody>
      </p:sp>
      <p:sp>
        <p:nvSpPr>
          <p:cNvPr name="TextBox 9" id="9"/>
          <p:cNvSpPr txBox="true"/>
          <p:nvPr/>
        </p:nvSpPr>
        <p:spPr>
          <a:xfrm rot="0">
            <a:off x="1677105" y="3227032"/>
            <a:ext cx="5546388" cy="798909"/>
          </a:xfrm>
          <a:prstGeom prst="rect">
            <a:avLst/>
          </a:prstGeom>
        </p:spPr>
        <p:txBody>
          <a:bodyPr anchor="t" rtlCol="false" tIns="0" lIns="0" bIns="0" rIns="0">
            <a:spAutoFit/>
          </a:bodyPr>
          <a:lstStyle/>
          <a:p>
            <a:pPr algn="l">
              <a:lnSpc>
                <a:spcPts val="2948"/>
              </a:lnSpc>
            </a:pPr>
            <a:r>
              <a:rPr lang="en-US" sz="2100">
                <a:solidFill>
                  <a:srgbClr val="F3F1F8"/>
                </a:solidFill>
                <a:latin typeface="Barlow"/>
                <a:ea typeface="Barlow"/>
                <a:cs typeface="Barlow"/>
                <a:sym typeface="Barlow"/>
              </a:rPr>
              <a:t>Type fictional text in a masked field; keep focus on the input.</a:t>
            </a:r>
          </a:p>
        </p:txBody>
      </p:sp>
      <p:grpSp>
        <p:nvGrpSpPr>
          <p:cNvPr name="Group 10" id="10"/>
          <p:cNvGrpSpPr/>
          <p:nvPr/>
        </p:nvGrpSpPr>
        <p:grpSpPr>
          <a:xfrm rot="0">
            <a:off x="914381" y="4698502"/>
            <a:ext cx="495290" cy="495300"/>
            <a:chOff x="0" y="0"/>
            <a:chExt cx="660387" cy="660400"/>
          </a:xfrm>
        </p:grpSpPr>
        <p:sp>
          <p:nvSpPr>
            <p:cNvPr name="Freeform 11" id="11"/>
            <p:cNvSpPr/>
            <p:nvPr/>
          </p:nvSpPr>
          <p:spPr>
            <a:xfrm flipH="false" flipV="false" rot="0">
              <a:off x="0" y="0"/>
              <a:ext cx="660400" cy="660400"/>
            </a:xfrm>
            <a:custGeom>
              <a:avLst/>
              <a:gdLst/>
              <a:ahLst/>
              <a:cxnLst/>
              <a:rect r="r" b="b" t="t" l="l"/>
              <a:pathLst>
                <a:path h="660400" w="660400">
                  <a:moveTo>
                    <a:pt x="0" y="330200"/>
                  </a:moveTo>
                  <a:cubicBezTo>
                    <a:pt x="0" y="147828"/>
                    <a:pt x="147828" y="0"/>
                    <a:pt x="330200" y="0"/>
                  </a:cubicBezTo>
                  <a:cubicBezTo>
                    <a:pt x="512572" y="0"/>
                    <a:pt x="660400" y="147828"/>
                    <a:pt x="660400" y="330200"/>
                  </a:cubicBezTo>
                  <a:cubicBezTo>
                    <a:pt x="660400" y="512572"/>
                    <a:pt x="512572" y="660400"/>
                    <a:pt x="330200" y="660400"/>
                  </a:cubicBezTo>
                  <a:cubicBezTo>
                    <a:pt x="147828" y="660400"/>
                    <a:pt x="0" y="512572"/>
                    <a:pt x="0" y="330200"/>
                  </a:cubicBezTo>
                  <a:close/>
                </a:path>
              </a:pathLst>
            </a:custGeom>
            <a:solidFill>
              <a:srgbClr val="F8ED43"/>
            </a:solidFill>
          </p:spPr>
        </p:sp>
      </p:grpSp>
      <p:sp>
        <p:nvSpPr>
          <p:cNvPr name="TextBox 12" id="12"/>
          <p:cNvSpPr txBox="true"/>
          <p:nvPr/>
        </p:nvSpPr>
        <p:spPr>
          <a:xfrm rot="0">
            <a:off x="1021975" y="4850902"/>
            <a:ext cx="1194321" cy="219075"/>
          </a:xfrm>
          <a:prstGeom prst="rect">
            <a:avLst/>
          </a:prstGeom>
        </p:spPr>
        <p:txBody>
          <a:bodyPr anchor="t" rtlCol="false" tIns="0" lIns="0" bIns="0" rIns="0">
            <a:spAutoFit/>
          </a:bodyPr>
          <a:lstStyle/>
          <a:p>
            <a:pPr algn="l">
              <a:lnSpc>
                <a:spcPts val="1942"/>
              </a:lnSpc>
            </a:pPr>
            <a:r>
              <a:rPr lang="en-US" sz="1950" b="true">
                <a:solidFill>
                  <a:srgbClr val="000000"/>
                </a:solidFill>
                <a:latin typeface="Barlow Bold"/>
                <a:ea typeface="Barlow Bold"/>
                <a:cs typeface="Barlow Bold"/>
                <a:sym typeface="Barlow Bold"/>
              </a:rPr>
              <a:t>02</a:t>
            </a:r>
          </a:p>
        </p:txBody>
      </p:sp>
      <p:sp>
        <p:nvSpPr>
          <p:cNvPr name="TextBox 13" id="13"/>
          <p:cNvSpPr txBox="true"/>
          <p:nvPr/>
        </p:nvSpPr>
        <p:spPr>
          <a:xfrm rot="0">
            <a:off x="1677105" y="4739088"/>
            <a:ext cx="5546388" cy="399602"/>
          </a:xfrm>
          <a:prstGeom prst="rect">
            <a:avLst/>
          </a:prstGeom>
        </p:spPr>
        <p:txBody>
          <a:bodyPr anchor="t" rtlCol="false" tIns="0" lIns="0" bIns="0" rIns="0">
            <a:spAutoFit/>
          </a:bodyPr>
          <a:lstStyle/>
          <a:p>
            <a:pPr algn="l">
              <a:lnSpc>
                <a:spcPts val="2916"/>
              </a:lnSpc>
            </a:pPr>
            <a:r>
              <a:rPr lang="en-US" sz="2250" b="true">
                <a:solidFill>
                  <a:srgbClr val="F8ED43"/>
                </a:solidFill>
                <a:latin typeface="Barlow Medium"/>
                <a:ea typeface="Barlow Medium"/>
                <a:cs typeface="Barlow Medium"/>
                <a:sym typeface="Barlow Medium"/>
              </a:rPr>
              <a:t>Watch</a:t>
            </a:r>
          </a:p>
        </p:txBody>
      </p:sp>
      <p:sp>
        <p:nvSpPr>
          <p:cNvPr name="TextBox 14" id="14"/>
          <p:cNvSpPr txBox="true"/>
          <p:nvPr/>
        </p:nvSpPr>
        <p:spPr>
          <a:xfrm rot="0">
            <a:off x="1677105" y="5262258"/>
            <a:ext cx="5546388" cy="798909"/>
          </a:xfrm>
          <a:prstGeom prst="rect">
            <a:avLst/>
          </a:prstGeom>
        </p:spPr>
        <p:txBody>
          <a:bodyPr anchor="t" rtlCol="false" tIns="0" lIns="0" bIns="0" rIns="0">
            <a:spAutoFit/>
          </a:bodyPr>
          <a:lstStyle/>
          <a:p>
            <a:pPr algn="l">
              <a:lnSpc>
                <a:spcPts val="2948"/>
              </a:lnSpc>
            </a:pPr>
            <a:r>
              <a:rPr lang="en-US" sz="2100">
                <a:solidFill>
                  <a:srgbClr val="F3F1F8"/>
                </a:solidFill>
                <a:latin typeface="Barlow"/>
                <a:ea typeface="Barlow"/>
                <a:cs typeface="Barlow"/>
                <a:sym typeface="Barlow"/>
              </a:rPr>
              <a:t>See weak, fair, and strong states change as length and variety shift.</a:t>
            </a:r>
          </a:p>
        </p:txBody>
      </p:sp>
      <p:grpSp>
        <p:nvGrpSpPr>
          <p:cNvPr name="Group 15" id="15"/>
          <p:cNvGrpSpPr/>
          <p:nvPr/>
        </p:nvGrpSpPr>
        <p:grpSpPr>
          <a:xfrm rot="0">
            <a:off x="914381" y="6733727"/>
            <a:ext cx="495290" cy="495300"/>
            <a:chOff x="0" y="0"/>
            <a:chExt cx="660387" cy="660400"/>
          </a:xfrm>
        </p:grpSpPr>
        <p:sp>
          <p:nvSpPr>
            <p:cNvPr name="Freeform 16" id="16"/>
            <p:cNvSpPr/>
            <p:nvPr/>
          </p:nvSpPr>
          <p:spPr>
            <a:xfrm flipH="false" flipV="false" rot="0">
              <a:off x="0" y="0"/>
              <a:ext cx="660400" cy="660400"/>
            </a:xfrm>
            <a:custGeom>
              <a:avLst/>
              <a:gdLst/>
              <a:ahLst/>
              <a:cxnLst/>
              <a:rect r="r" b="b" t="t" l="l"/>
              <a:pathLst>
                <a:path h="660400" w="660400">
                  <a:moveTo>
                    <a:pt x="0" y="330200"/>
                  </a:moveTo>
                  <a:cubicBezTo>
                    <a:pt x="0" y="147828"/>
                    <a:pt x="147828" y="0"/>
                    <a:pt x="330200" y="0"/>
                  </a:cubicBezTo>
                  <a:cubicBezTo>
                    <a:pt x="512572" y="0"/>
                    <a:pt x="660400" y="147828"/>
                    <a:pt x="660400" y="330200"/>
                  </a:cubicBezTo>
                  <a:cubicBezTo>
                    <a:pt x="660400" y="512572"/>
                    <a:pt x="512572" y="660400"/>
                    <a:pt x="330200" y="660400"/>
                  </a:cubicBezTo>
                  <a:cubicBezTo>
                    <a:pt x="147828" y="660400"/>
                    <a:pt x="0" y="512572"/>
                    <a:pt x="0" y="330200"/>
                  </a:cubicBezTo>
                  <a:close/>
                </a:path>
              </a:pathLst>
            </a:custGeom>
            <a:solidFill>
              <a:srgbClr val="F8ED43"/>
            </a:solidFill>
          </p:spPr>
        </p:sp>
      </p:grpSp>
      <p:sp>
        <p:nvSpPr>
          <p:cNvPr name="TextBox 17" id="17"/>
          <p:cNvSpPr txBox="true"/>
          <p:nvPr/>
        </p:nvSpPr>
        <p:spPr>
          <a:xfrm rot="0">
            <a:off x="1024509" y="6886127"/>
            <a:ext cx="1189406" cy="219075"/>
          </a:xfrm>
          <a:prstGeom prst="rect">
            <a:avLst/>
          </a:prstGeom>
        </p:spPr>
        <p:txBody>
          <a:bodyPr anchor="t" rtlCol="false" tIns="0" lIns="0" bIns="0" rIns="0">
            <a:spAutoFit/>
          </a:bodyPr>
          <a:lstStyle/>
          <a:p>
            <a:pPr algn="l">
              <a:lnSpc>
                <a:spcPts val="1942"/>
              </a:lnSpc>
            </a:pPr>
            <a:r>
              <a:rPr lang="en-US" sz="1950" b="true">
                <a:solidFill>
                  <a:srgbClr val="000000"/>
                </a:solidFill>
                <a:latin typeface="Barlow Bold"/>
                <a:ea typeface="Barlow Bold"/>
                <a:cs typeface="Barlow Bold"/>
                <a:sym typeface="Barlow Bold"/>
              </a:rPr>
              <a:t>03</a:t>
            </a:r>
          </a:p>
        </p:txBody>
      </p:sp>
      <p:sp>
        <p:nvSpPr>
          <p:cNvPr name="TextBox 18" id="18"/>
          <p:cNvSpPr txBox="true"/>
          <p:nvPr/>
        </p:nvSpPr>
        <p:spPr>
          <a:xfrm rot="0">
            <a:off x="1677105" y="6774313"/>
            <a:ext cx="5546388" cy="399602"/>
          </a:xfrm>
          <a:prstGeom prst="rect">
            <a:avLst/>
          </a:prstGeom>
        </p:spPr>
        <p:txBody>
          <a:bodyPr anchor="t" rtlCol="false" tIns="0" lIns="0" bIns="0" rIns="0">
            <a:spAutoFit/>
          </a:bodyPr>
          <a:lstStyle/>
          <a:p>
            <a:pPr algn="l">
              <a:lnSpc>
                <a:spcPts val="2916"/>
              </a:lnSpc>
            </a:pPr>
            <a:r>
              <a:rPr lang="en-US" sz="2250" b="true">
                <a:solidFill>
                  <a:srgbClr val="F8ED43"/>
                </a:solidFill>
                <a:latin typeface="Barlow Medium"/>
                <a:ea typeface="Barlow Medium"/>
                <a:cs typeface="Barlow Medium"/>
                <a:sym typeface="Barlow Medium"/>
              </a:rPr>
              <a:t>Learn</a:t>
            </a:r>
          </a:p>
        </p:txBody>
      </p:sp>
      <p:sp>
        <p:nvSpPr>
          <p:cNvPr name="TextBox 19" id="19"/>
          <p:cNvSpPr txBox="true"/>
          <p:nvPr/>
        </p:nvSpPr>
        <p:spPr>
          <a:xfrm rot="0">
            <a:off x="1677105" y="7297483"/>
            <a:ext cx="5546388" cy="798909"/>
          </a:xfrm>
          <a:prstGeom prst="rect">
            <a:avLst/>
          </a:prstGeom>
        </p:spPr>
        <p:txBody>
          <a:bodyPr anchor="t" rtlCol="false" tIns="0" lIns="0" bIns="0" rIns="0">
            <a:spAutoFit/>
          </a:bodyPr>
          <a:lstStyle/>
          <a:p>
            <a:pPr algn="l">
              <a:lnSpc>
                <a:spcPts val="2948"/>
              </a:lnSpc>
            </a:pPr>
            <a:r>
              <a:rPr lang="en-US" sz="2100">
                <a:solidFill>
                  <a:srgbClr val="F3F1F8"/>
                </a:solidFill>
                <a:latin typeface="Barlow"/>
                <a:ea typeface="Barlow"/>
                <a:cs typeface="Barlow"/>
                <a:sym typeface="Barlow"/>
              </a:rPr>
              <a:t>Read one next action, such as “Add length” or “Avoid names and dates.”</a:t>
            </a:r>
          </a:p>
        </p:txBody>
      </p:sp>
      <p:grpSp>
        <p:nvGrpSpPr>
          <p:cNvPr name="Group 20" id="20"/>
          <p:cNvGrpSpPr/>
          <p:nvPr/>
        </p:nvGrpSpPr>
        <p:grpSpPr>
          <a:xfrm rot="0">
            <a:off x="914381" y="8768953"/>
            <a:ext cx="495290" cy="495300"/>
            <a:chOff x="0" y="0"/>
            <a:chExt cx="660387" cy="660400"/>
          </a:xfrm>
        </p:grpSpPr>
        <p:sp>
          <p:nvSpPr>
            <p:cNvPr name="Freeform 21" id="21"/>
            <p:cNvSpPr/>
            <p:nvPr/>
          </p:nvSpPr>
          <p:spPr>
            <a:xfrm flipH="false" flipV="false" rot="0">
              <a:off x="0" y="0"/>
              <a:ext cx="660400" cy="660400"/>
            </a:xfrm>
            <a:custGeom>
              <a:avLst/>
              <a:gdLst/>
              <a:ahLst/>
              <a:cxnLst/>
              <a:rect r="r" b="b" t="t" l="l"/>
              <a:pathLst>
                <a:path h="660400" w="660400">
                  <a:moveTo>
                    <a:pt x="0" y="330200"/>
                  </a:moveTo>
                  <a:cubicBezTo>
                    <a:pt x="0" y="147828"/>
                    <a:pt x="147828" y="0"/>
                    <a:pt x="330200" y="0"/>
                  </a:cubicBezTo>
                  <a:cubicBezTo>
                    <a:pt x="512572" y="0"/>
                    <a:pt x="660400" y="147828"/>
                    <a:pt x="660400" y="330200"/>
                  </a:cubicBezTo>
                  <a:cubicBezTo>
                    <a:pt x="660400" y="512572"/>
                    <a:pt x="512572" y="660400"/>
                    <a:pt x="330200" y="660400"/>
                  </a:cubicBezTo>
                  <a:cubicBezTo>
                    <a:pt x="147828" y="660400"/>
                    <a:pt x="0" y="512572"/>
                    <a:pt x="0" y="330200"/>
                  </a:cubicBezTo>
                  <a:close/>
                </a:path>
              </a:pathLst>
            </a:custGeom>
            <a:solidFill>
              <a:srgbClr val="F8ED43"/>
            </a:solidFill>
          </p:spPr>
        </p:sp>
      </p:grpSp>
      <p:sp>
        <p:nvSpPr>
          <p:cNvPr name="TextBox 22" id="22"/>
          <p:cNvSpPr txBox="true"/>
          <p:nvPr/>
        </p:nvSpPr>
        <p:spPr>
          <a:xfrm rot="0">
            <a:off x="1016470" y="8921353"/>
            <a:ext cx="1205474" cy="219075"/>
          </a:xfrm>
          <a:prstGeom prst="rect">
            <a:avLst/>
          </a:prstGeom>
        </p:spPr>
        <p:txBody>
          <a:bodyPr anchor="t" rtlCol="false" tIns="0" lIns="0" bIns="0" rIns="0">
            <a:spAutoFit/>
          </a:bodyPr>
          <a:lstStyle/>
          <a:p>
            <a:pPr algn="l">
              <a:lnSpc>
                <a:spcPts val="1942"/>
              </a:lnSpc>
            </a:pPr>
            <a:r>
              <a:rPr lang="en-US" sz="1950" b="true">
                <a:solidFill>
                  <a:srgbClr val="000000"/>
                </a:solidFill>
                <a:latin typeface="Barlow Bold"/>
                <a:ea typeface="Barlow Bold"/>
                <a:cs typeface="Barlow Bold"/>
                <a:sym typeface="Barlow Bold"/>
              </a:rPr>
              <a:t>04</a:t>
            </a:r>
          </a:p>
        </p:txBody>
      </p:sp>
      <p:sp>
        <p:nvSpPr>
          <p:cNvPr name="TextBox 23" id="23"/>
          <p:cNvSpPr txBox="true"/>
          <p:nvPr/>
        </p:nvSpPr>
        <p:spPr>
          <a:xfrm rot="0">
            <a:off x="1677105" y="8809539"/>
            <a:ext cx="5546388" cy="399602"/>
          </a:xfrm>
          <a:prstGeom prst="rect">
            <a:avLst/>
          </a:prstGeom>
        </p:spPr>
        <p:txBody>
          <a:bodyPr anchor="t" rtlCol="false" tIns="0" lIns="0" bIns="0" rIns="0">
            <a:spAutoFit/>
          </a:bodyPr>
          <a:lstStyle/>
          <a:p>
            <a:pPr algn="l">
              <a:lnSpc>
                <a:spcPts val="2916"/>
              </a:lnSpc>
            </a:pPr>
            <a:r>
              <a:rPr lang="en-US" sz="2250" b="true">
                <a:solidFill>
                  <a:srgbClr val="F8ED43"/>
                </a:solidFill>
                <a:latin typeface="Barlow Medium"/>
                <a:ea typeface="Barlow Medium"/>
                <a:cs typeface="Barlow Medium"/>
                <a:sym typeface="Barlow Medium"/>
              </a:rPr>
              <a:t>Try again</a:t>
            </a:r>
          </a:p>
        </p:txBody>
      </p:sp>
      <p:sp>
        <p:nvSpPr>
          <p:cNvPr name="TextBox 24" id="24"/>
          <p:cNvSpPr txBox="true"/>
          <p:nvPr/>
        </p:nvSpPr>
        <p:spPr>
          <a:xfrm rot="0">
            <a:off x="1677105" y="9332709"/>
            <a:ext cx="5546388" cy="798909"/>
          </a:xfrm>
          <a:prstGeom prst="rect">
            <a:avLst/>
          </a:prstGeom>
        </p:spPr>
        <p:txBody>
          <a:bodyPr anchor="t" rtlCol="false" tIns="0" lIns="0" bIns="0" rIns="0">
            <a:spAutoFit/>
          </a:bodyPr>
          <a:lstStyle/>
          <a:p>
            <a:pPr algn="l">
              <a:lnSpc>
                <a:spcPts val="2948"/>
              </a:lnSpc>
            </a:pPr>
            <a:r>
              <a:rPr lang="en-US" sz="2100">
                <a:solidFill>
                  <a:srgbClr val="F3F1F8"/>
                </a:solidFill>
                <a:latin typeface="Barlow"/>
                <a:ea typeface="Barlow"/>
                <a:cs typeface="Barlow"/>
                <a:sym typeface="Barlow"/>
              </a:rPr>
              <a:t>Try a neutral passphrase example, then clear the field and start again.</a:t>
            </a:r>
          </a:p>
        </p:txBody>
      </p:sp>
      <p:grpSp>
        <p:nvGrpSpPr>
          <p:cNvPr name="Group 25" id="25"/>
          <p:cNvGrpSpPr/>
          <p:nvPr/>
        </p:nvGrpSpPr>
        <p:grpSpPr>
          <a:xfrm rot="0">
            <a:off x="8055038" y="2717994"/>
            <a:ext cx="8589062" cy="6938745"/>
            <a:chOff x="0" y="0"/>
            <a:chExt cx="12618720" cy="10194138"/>
          </a:xfrm>
        </p:grpSpPr>
        <p:sp>
          <p:nvSpPr>
            <p:cNvPr name="Freeform 26" id="26"/>
            <p:cNvSpPr/>
            <p:nvPr/>
          </p:nvSpPr>
          <p:spPr>
            <a:xfrm flipH="false" flipV="false" rot="0">
              <a:off x="0" y="0"/>
              <a:ext cx="12618720" cy="10194163"/>
            </a:xfrm>
            <a:custGeom>
              <a:avLst/>
              <a:gdLst/>
              <a:ahLst/>
              <a:cxnLst/>
              <a:rect r="r" b="b" t="t" l="l"/>
              <a:pathLst>
                <a:path h="10194163" w="12618720">
                  <a:moveTo>
                    <a:pt x="0" y="0"/>
                  </a:moveTo>
                  <a:lnTo>
                    <a:pt x="12618720" y="0"/>
                  </a:lnTo>
                  <a:lnTo>
                    <a:pt x="12618720" y="10194163"/>
                  </a:lnTo>
                  <a:lnTo>
                    <a:pt x="0" y="10194163"/>
                  </a:lnTo>
                  <a:close/>
                </a:path>
              </a:pathLst>
            </a:custGeom>
            <a:solidFill>
              <a:srgbClr val="40456A"/>
            </a:solidFill>
          </p:spPr>
        </p:sp>
      </p:grpSp>
      <p:sp>
        <p:nvSpPr>
          <p:cNvPr name="TextBox 27" id="27"/>
          <p:cNvSpPr txBox="true"/>
          <p:nvPr/>
        </p:nvSpPr>
        <p:spPr>
          <a:xfrm rot="0">
            <a:off x="8252012" y="4324417"/>
            <a:ext cx="9121150" cy="244821"/>
          </a:xfrm>
          <a:prstGeom prst="rect">
            <a:avLst/>
          </a:prstGeom>
        </p:spPr>
        <p:txBody>
          <a:bodyPr anchor="t" rtlCol="false" tIns="0" lIns="0" bIns="0" rIns="0">
            <a:spAutoFit/>
          </a:bodyPr>
          <a:lstStyle/>
          <a:p>
            <a:pPr algn="l">
              <a:lnSpc>
                <a:spcPts val="1889"/>
              </a:lnSpc>
            </a:pPr>
            <a:r>
              <a:rPr lang="en-US" sz="1575" spc="122">
                <a:solidFill>
                  <a:srgbClr val="FFFFFF"/>
                </a:solidFill>
                <a:latin typeface="Arimo"/>
                <a:ea typeface="Arimo"/>
                <a:cs typeface="Arimo"/>
                <a:sym typeface="Arimo"/>
              </a:rPr>
              <a:t>CHECK A SAMPLE · LOCAL ONLY</a:t>
            </a:r>
          </a:p>
        </p:txBody>
      </p:sp>
      <p:sp>
        <p:nvSpPr>
          <p:cNvPr name="TextBox 28" id="28"/>
          <p:cNvSpPr txBox="true"/>
          <p:nvPr/>
        </p:nvSpPr>
        <p:spPr>
          <a:xfrm rot="0">
            <a:off x="8252012" y="4613929"/>
            <a:ext cx="9121150" cy="565099"/>
          </a:xfrm>
          <a:prstGeom prst="rect">
            <a:avLst/>
          </a:prstGeom>
        </p:spPr>
        <p:txBody>
          <a:bodyPr anchor="t" rtlCol="false" tIns="0" lIns="0" bIns="0" rIns="0">
            <a:spAutoFit/>
          </a:bodyPr>
          <a:lstStyle/>
          <a:p>
            <a:pPr algn="l">
              <a:lnSpc>
                <a:spcPts val="3580"/>
              </a:lnSpc>
            </a:pPr>
            <a:r>
              <a:rPr lang="en-US" sz="2550">
                <a:solidFill>
                  <a:srgbClr val="FFFFFF"/>
                </a:solidFill>
                <a:latin typeface="Consolas"/>
                <a:ea typeface="Consolas"/>
                <a:cs typeface="Consolas"/>
                <a:sym typeface="Consolas"/>
              </a:rPr>
              <a:t>••••••••••••••</a:t>
            </a:r>
          </a:p>
        </p:txBody>
      </p:sp>
      <p:sp>
        <p:nvSpPr>
          <p:cNvPr name="TextBox 29" id="29"/>
          <p:cNvSpPr txBox="true"/>
          <p:nvPr/>
        </p:nvSpPr>
        <p:spPr>
          <a:xfrm rot="0">
            <a:off x="8252012" y="5294195"/>
            <a:ext cx="9121150" cy="317449"/>
          </a:xfrm>
          <a:prstGeom prst="rect">
            <a:avLst/>
          </a:prstGeom>
        </p:spPr>
        <p:txBody>
          <a:bodyPr anchor="t" rtlCol="false" tIns="0" lIns="0" bIns="0" rIns="0">
            <a:spAutoFit/>
          </a:bodyPr>
          <a:lstStyle/>
          <a:p>
            <a:pPr algn="l">
              <a:lnSpc>
                <a:spcPts val="2217"/>
              </a:lnSpc>
            </a:pPr>
            <a:r>
              <a:rPr lang="en-US" sz="1650">
                <a:solidFill>
                  <a:srgbClr val="FFFFFF"/>
                </a:solidFill>
                <a:latin typeface="Barlow"/>
                <a:ea typeface="Barlow"/>
                <a:cs typeface="Barlow"/>
                <a:sym typeface="Barlow"/>
              </a:rPr>
              <a:t>No account, upload, or network call.</a:t>
            </a:r>
          </a:p>
        </p:txBody>
      </p:sp>
      <p:grpSp>
        <p:nvGrpSpPr>
          <p:cNvPr name="Group 30" id="30"/>
          <p:cNvGrpSpPr/>
          <p:nvPr/>
        </p:nvGrpSpPr>
        <p:grpSpPr>
          <a:xfrm rot="0">
            <a:off x="8252012" y="5744318"/>
            <a:ext cx="2926032" cy="190500"/>
            <a:chOff x="0" y="0"/>
            <a:chExt cx="3901376" cy="254000"/>
          </a:xfrm>
        </p:grpSpPr>
        <p:sp>
          <p:nvSpPr>
            <p:cNvPr name="Freeform 31" id="31"/>
            <p:cNvSpPr/>
            <p:nvPr/>
          </p:nvSpPr>
          <p:spPr>
            <a:xfrm flipH="false" flipV="false" rot="0">
              <a:off x="0" y="0"/>
              <a:ext cx="3901440" cy="254000"/>
            </a:xfrm>
            <a:custGeom>
              <a:avLst/>
              <a:gdLst/>
              <a:ahLst/>
              <a:cxnLst/>
              <a:rect r="r" b="b" t="t" l="l"/>
              <a:pathLst>
                <a:path h="254000" w="3901440">
                  <a:moveTo>
                    <a:pt x="0" y="0"/>
                  </a:moveTo>
                  <a:lnTo>
                    <a:pt x="3901440" y="0"/>
                  </a:lnTo>
                  <a:lnTo>
                    <a:pt x="3901440" y="254000"/>
                  </a:lnTo>
                  <a:lnTo>
                    <a:pt x="0" y="254000"/>
                  </a:lnTo>
                  <a:close/>
                </a:path>
              </a:pathLst>
            </a:custGeom>
            <a:solidFill>
              <a:srgbClr val="F8ED43"/>
            </a:solidFill>
          </p:spPr>
        </p:sp>
      </p:grpSp>
      <p:grpSp>
        <p:nvGrpSpPr>
          <p:cNvPr name="Group 32" id="32"/>
          <p:cNvGrpSpPr/>
          <p:nvPr/>
        </p:nvGrpSpPr>
        <p:grpSpPr>
          <a:xfrm rot="0">
            <a:off x="11178054" y="5744318"/>
            <a:ext cx="2926032" cy="190500"/>
            <a:chOff x="0" y="0"/>
            <a:chExt cx="3901376" cy="254000"/>
          </a:xfrm>
        </p:grpSpPr>
        <p:sp>
          <p:nvSpPr>
            <p:cNvPr name="Freeform 33" id="33"/>
            <p:cNvSpPr/>
            <p:nvPr/>
          </p:nvSpPr>
          <p:spPr>
            <a:xfrm flipH="false" flipV="false" rot="0">
              <a:off x="0" y="0"/>
              <a:ext cx="3901440" cy="254000"/>
            </a:xfrm>
            <a:custGeom>
              <a:avLst/>
              <a:gdLst/>
              <a:ahLst/>
              <a:cxnLst/>
              <a:rect r="r" b="b" t="t" l="l"/>
              <a:pathLst>
                <a:path h="254000" w="3901440">
                  <a:moveTo>
                    <a:pt x="0" y="0"/>
                  </a:moveTo>
                  <a:lnTo>
                    <a:pt x="3901440" y="0"/>
                  </a:lnTo>
                  <a:lnTo>
                    <a:pt x="3901440" y="254000"/>
                  </a:lnTo>
                  <a:lnTo>
                    <a:pt x="0" y="254000"/>
                  </a:lnTo>
                  <a:close/>
                </a:path>
              </a:pathLst>
            </a:custGeom>
            <a:solidFill>
              <a:srgbClr val="C7D14F"/>
            </a:solidFill>
          </p:spPr>
        </p:sp>
      </p:grpSp>
      <p:sp>
        <p:nvSpPr>
          <p:cNvPr name="TextBox 34" id="34"/>
          <p:cNvSpPr txBox="true"/>
          <p:nvPr/>
        </p:nvSpPr>
        <p:spPr>
          <a:xfrm rot="0">
            <a:off x="8252012" y="6158636"/>
            <a:ext cx="8778259" cy="492328"/>
          </a:xfrm>
          <a:prstGeom prst="rect">
            <a:avLst/>
          </a:prstGeom>
        </p:spPr>
        <p:txBody>
          <a:bodyPr anchor="t" rtlCol="false" tIns="0" lIns="0" bIns="0" rIns="0">
            <a:spAutoFit/>
          </a:bodyPr>
          <a:lstStyle/>
          <a:p>
            <a:pPr algn="l">
              <a:lnSpc>
                <a:spcPts val="3596"/>
              </a:lnSpc>
            </a:pPr>
            <a:r>
              <a:rPr lang="en-US" sz="2775" b="true">
                <a:solidFill>
                  <a:srgbClr val="F8ED43"/>
                </a:solidFill>
                <a:latin typeface="Barlow Medium"/>
                <a:ea typeface="Barlow Medium"/>
                <a:cs typeface="Barlow Medium"/>
                <a:sym typeface="Barlow Medium"/>
              </a:rPr>
              <a:t>STRONG</a:t>
            </a:r>
          </a:p>
        </p:txBody>
      </p:sp>
      <p:sp>
        <p:nvSpPr>
          <p:cNvPr name="TextBox 35" id="35"/>
          <p:cNvSpPr txBox="true"/>
          <p:nvPr/>
        </p:nvSpPr>
        <p:spPr>
          <a:xfrm rot="0">
            <a:off x="8252012" y="6755902"/>
            <a:ext cx="8778259" cy="1320698"/>
          </a:xfrm>
          <a:prstGeom prst="rect">
            <a:avLst/>
          </a:prstGeom>
        </p:spPr>
        <p:txBody>
          <a:bodyPr anchor="t" rtlCol="false" tIns="0" lIns="0" bIns="0" rIns="0">
            <a:spAutoFit/>
          </a:bodyPr>
          <a:lstStyle/>
          <a:p>
            <a:pPr algn="l">
              <a:lnSpc>
                <a:spcPts val="2948"/>
              </a:lnSpc>
            </a:pPr>
            <a:r>
              <a:rPr lang="en-US" sz="2100">
                <a:solidFill>
                  <a:srgbClr val="FFFFFF"/>
                </a:solidFill>
                <a:latin typeface="Barlow"/>
                <a:ea typeface="Barlow"/>
                <a:cs typeface="Barlow"/>
                <a:sym typeface="Barlow"/>
              </a:rPr>
              <a:t>meter changes live · no score overload</a:t>
            </a:r>
          </a:p>
          <a:p>
            <a:pPr algn="l">
              <a:lnSpc>
                <a:spcPts val="2948"/>
              </a:lnSpc>
            </a:pPr>
            <a:r>
              <a:rPr lang="en-US" sz="2100" b="true">
                <a:solidFill>
                  <a:srgbClr val="FFFFFF"/>
                </a:solidFill>
                <a:latin typeface="Barlow Bold"/>
                <a:ea typeface="Barlow Bold"/>
                <a:cs typeface="Barlow Bold"/>
                <a:sym typeface="Barlow Bold"/>
              </a:rPr>
              <a:t>Add length.</a:t>
            </a:r>
            <a:r>
              <a:rPr lang="en-US" sz="2100">
                <a:solidFill>
                  <a:srgbClr val="FFFFFF"/>
                </a:solidFill>
                <a:latin typeface="Barlow"/>
                <a:ea typeface="Barlow"/>
                <a:cs typeface="Barlow"/>
                <a:sym typeface="Barlow"/>
              </a:rPr>
              <a:t> Avoid names and dates. Try several unrelated words. The next action stays visible beside the result.</a:t>
            </a:r>
          </a:p>
        </p:txBody>
      </p:sp>
      <p:grpSp>
        <p:nvGrpSpPr>
          <p:cNvPr name="Group 36" id="36"/>
          <p:cNvGrpSpPr/>
          <p:nvPr/>
        </p:nvGrpSpPr>
        <p:grpSpPr>
          <a:xfrm rot="0">
            <a:off x="8247250" y="8217989"/>
            <a:ext cx="2583590" cy="437407"/>
            <a:chOff x="0" y="0"/>
            <a:chExt cx="3444786" cy="583209"/>
          </a:xfrm>
        </p:grpSpPr>
        <p:sp>
          <p:nvSpPr>
            <p:cNvPr name="Freeform 37" id="37"/>
            <p:cNvSpPr/>
            <p:nvPr/>
          </p:nvSpPr>
          <p:spPr>
            <a:xfrm flipH="false" flipV="false" rot="0">
              <a:off x="0" y="0"/>
              <a:ext cx="3444748" cy="583184"/>
            </a:xfrm>
            <a:custGeom>
              <a:avLst/>
              <a:gdLst/>
              <a:ahLst/>
              <a:cxnLst/>
              <a:rect r="r" b="b" t="t" l="l"/>
              <a:pathLst>
                <a:path h="583184" w="3444748">
                  <a:moveTo>
                    <a:pt x="0" y="0"/>
                  </a:moveTo>
                  <a:lnTo>
                    <a:pt x="3444748" y="0"/>
                  </a:lnTo>
                  <a:lnTo>
                    <a:pt x="3444748" y="583184"/>
                  </a:lnTo>
                  <a:lnTo>
                    <a:pt x="0" y="583184"/>
                  </a:lnTo>
                  <a:close/>
                </a:path>
              </a:pathLst>
            </a:custGeom>
            <a:blipFill>
              <a:blip r:embed="rId3">
                <a:alphaModFix amt="0"/>
              </a:blip>
              <a:stretch>
                <a:fillRect l="0" t="-65093" r="-1" b="-65097"/>
              </a:stretch>
            </a:blipFill>
            <a:ln w="9525" cap="sq">
              <a:solidFill>
                <a:srgbClr val="FFFFFF"/>
              </a:solidFill>
              <a:prstDash val="solid"/>
              <a:miter/>
            </a:ln>
          </p:spPr>
        </p:sp>
      </p:grpSp>
      <p:sp>
        <p:nvSpPr>
          <p:cNvPr name="TextBox 38" id="38"/>
          <p:cNvSpPr txBox="true"/>
          <p:nvPr/>
        </p:nvSpPr>
        <p:spPr>
          <a:xfrm rot="0">
            <a:off x="8412451" y="8278939"/>
            <a:ext cx="3167577" cy="296018"/>
          </a:xfrm>
          <a:prstGeom prst="rect">
            <a:avLst/>
          </a:prstGeom>
        </p:spPr>
        <p:txBody>
          <a:bodyPr anchor="t" rtlCol="false" tIns="0" lIns="0" bIns="0" rIns="0">
            <a:spAutoFit/>
          </a:bodyPr>
          <a:lstStyle/>
          <a:p>
            <a:pPr algn="l">
              <a:lnSpc>
                <a:spcPts val="2059"/>
              </a:lnSpc>
            </a:pPr>
            <a:r>
              <a:rPr lang="en-US" sz="1650" spc="67">
                <a:solidFill>
                  <a:srgbClr val="FFFFFF"/>
                </a:solidFill>
                <a:latin typeface="Arimo"/>
                <a:ea typeface="Arimo"/>
                <a:cs typeface="Arimo"/>
                <a:sym typeface="Arimo"/>
              </a:rPr>
              <a:t>TRY A PASSPHRASE</a:t>
            </a:r>
          </a:p>
        </p:txBody>
      </p:sp>
      <p:grpSp>
        <p:nvGrpSpPr>
          <p:cNvPr name="Group 39" id="39"/>
          <p:cNvGrpSpPr/>
          <p:nvPr/>
        </p:nvGrpSpPr>
        <p:grpSpPr>
          <a:xfrm rot="0">
            <a:off x="10954960" y="8217989"/>
            <a:ext cx="1034625" cy="437407"/>
            <a:chOff x="0" y="0"/>
            <a:chExt cx="1379499" cy="583209"/>
          </a:xfrm>
        </p:grpSpPr>
        <p:sp>
          <p:nvSpPr>
            <p:cNvPr name="Freeform 40" id="40"/>
            <p:cNvSpPr/>
            <p:nvPr/>
          </p:nvSpPr>
          <p:spPr>
            <a:xfrm flipH="false" flipV="false" rot="0">
              <a:off x="0" y="0"/>
              <a:ext cx="1379474" cy="583184"/>
            </a:xfrm>
            <a:custGeom>
              <a:avLst/>
              <a:gdLst/>
              <a:ahLst/>
              <a:cxnLst/>
              <a:rect r="r" b="b" t="t" l="l"/>
              <a:pathLst>
                <a:path h="583184" w="1379474">
                  <a:moveTo>
                    <a:pt x="0" y="0"/>
                  </a:moveTo>
                  <a:lnTo>
                    <a:pt x="1379474" y="0"/>
                  </a:lnTo>
                  <a:lnTo>
                    <a:pt x="1379474" y="583184"/>
                  </a:lnTo>
                  <a:lnTo>
                    <a:pt x="0" y="583184"/>
                  </a:lnTo>
                  <a:close/>
                </a:path>
              </a:pathLst>
            </a:custGeom>
            <a:blipFill>
              <a:blip r:embed="rId3">
                <a:alphaModFix amt="0"/>
              </a:blip>
              <a:stretch>
                <a:fillRect l="-4242" t="0" r="-4244" b="-4"/>
              </a:stretch>
            </a:blipFill>
            <a:ln w="9525" cap="sq">
              <a:solidFill>
                <a:srgbClr val="FFFFFF"/>
              </a:solidFill>
              <a:prstDash val="solid"/>
              <a:miter/>
            </a:ln>
          </p:spPr>
        </p:sp>
      </p:grpSp>
      <p:sp>
        <p:nvSpPr>
          <p:cNvPr name="TextBox 41" id="41"/>
          <p:cNvSpPr txBox="true"/>
          <p:nvPr/>
        </p:nvSpPr>
        <p:spPr>
          <a:xfrm rot="0">
            <a:off x="11120161" y="8278939"/>
            <a:ext cx="1618612" cy="296018"/>
          </a:xfrm>
          <a:prstGeom prst="rect">
            <a:avLst/>
          </a:prstGeom>
        </p:spPr>
        <p:txBody>
          <a:bodyPr anchor="t" rtlCol="false" tIns="0" lIns="0" bIns="0" rIns="0">
            <a:spAutoFit/>
          </a:bodyPr>
          <a:lstStyle/>
          <a:p>
            <a:pPr algn="l">
              <a:lnSpc>
                <a:spcPts val="2059"/>
              </a:lnSpc>
            </a:pPr>
            <a:r>
              <a:rPr lang="en-US" sz="1650" spc="67">
                <a:solidFill>
                  <a:srgbClr val="FFFFFF"/>
                </a:solidFill>
                <a:latin typeface="Arimo"/>
                <a:ea typeface="Arimo"/>
                <a:cs typeface="Arimo"/>
                <a:sym typeface="Arimo"/>
              </a:rPr>
              <a:t>RESET</a:t>
            </a:r>
          </a:p>
        </p:txBody>
      </p:sp>
      <p:grpSp>
        <p:nvGrpSpPr>
          <p:cNvPr name="Group 42" id="42"/>
          <p:cNvGrpSpPr/>
          <p:nvPr/>
        </p:nvGrpSpPr>
        <p:grpSpPr>
          <a:xfrm rot="0">
            <a:off x="914381" y="4341314"/>
            <a:ext cx="6309112" cy="28575"/>
            <a:chOff x="0" y="0"/>
            <a:chExt cx="8412150" cy="38100"/>
          </a:xfrm>
        </p:grpSpPr>
        <p:sp>
          <p:nvSpPr>
            <p:cNvPr name="Freeform 43" id="43"/>
            <p:cNvSpPr/>
            <p:nvPr/>
          </p:nvSpPr>
          <p:spPr>
            <a:xfrm flipH="false" flipV="false" rot="0">
              <a:off x="0" y="0"/>
              <a:ext cx="8412099" cy="38100"/>
            </a:xfrm>
            <a:custGeom>
              <a:avLst/>
              <a:gdLst/>
              <a:ahLst/>
              <a:cxnLst/>
              <a:rect r="r" b="b" t="t" l="l"/>
              <a:pathLst>
                <a:path h="38100" w="8412099">
                  <a:moveTo>
                    <a:pt x="0" y="0"/>
                  </a:moveTo>
                  <a:lnTo>
                    <a:pt x="8412099" y="0"/>
                  </a:lnTo>
                  <a:lnTo>
                    <a:pt x="8412099" y="38100"/>
                  </a:lnTo>
                  <a:lnTo>
                    <a:pt x="0" y="38100"/>
                  </a:lnTo>
                  <a:close/>
                </a:path>
              </a:pathLst>
            </a:custGeom>
            <a:solidFill>
              <a:srgbClr val="40456A"/>
            </a:solidFill>
          </p:spPr>
        </p:sp>
      </p:grpSp>
      <p:grpSp>
        <p:nvGrpSpPr>
          <p:cNvPr name="Group 44" id="44"/>
          <p:cNvGrpSpPr/>
          <p:nvPr/>
        </p:nvGrpSpPr>
        <p:grpSpPr>
          <a:xfrm rot="0">
            <a:off x="914381" y="6376540"/>
            <a:ext cx="6309112" cy="28575"/>
            <a:chOff x="0" y="0"/>
            <a:chExt cx="8412150" cy="38100"/>
          </a:xfrm>
        </p:grpSpPr>
        <p:sp>
          <p:nvSpPr>
            <p:cNvPr name="Freeform 45" id="45"/>
            <p:cNvSpPr/>
            <p:nvPr/>
          </p:nvSpPr>
          <p:spPr>
            <a:xfrm flipH="false" flipV="false" rot="0">
              <a:off x="0" y="0"/>
              <a:ext cx="8412099" cy="38100"/>
            </a:xfrm>
            <a:custGeom>
              <a:avLst/>
              <a:gdLst/>
              <a:ahLst/>
              <a:cxnLst/>
              <a:rect r="r" b="b" t="t" l="l"/>
              <a:pathLst>
                <a:path h="38100" w="8412099">
                  <a:moveTo>
                    <a:pt x="0" y="0"/>
                  </a:moveTo>
                  <a:lnTo>
                    <a:pt x="8412099" y="0"/>
                  </a:lnTo>
                  <a:lnTo>
                    <a:pt x="8412099" y="38100"/>
                  </a:lnTo>
                  <a:lnTo>
                    <a:pt x="0" y="38100"/>
                  </a:lnTo>
                  <a:close/>
                </a:path>
              </a:pathLst>
            </a:custGeom>
            <a:solidFill>
              <a:srgbClr val="40456A"/>
            </a:solidFill>
          </p:spPr>
        </p:sp>
      </p:grpSp>
      <p:grpSp>
        <p:nvGrpSpPr>
          <p:cNvPr name="Group 46" id="46"/>
          <p:cNvGrpSpPr/>
          <p:nvPr/>
        </p:nvGrpSpPr>
        <p:grpSpPr>
          <a:xfrm rot="0">
            <a:off x="914381" y="8411766"/>
            <a:ext cx="6309112" cy="28575"/>
            <a:chOff x="0" y="0"/>
            <a:chExt cx="8412150" cy="38100"/>
          </a:xfrm>
        </p:grpSpPr>
        <p:sp>
          <p:nvSpPr>
            <p:cNvPr name="Freeform 47" id="47"/>
            <p:cNvSpPr/>
            <p:nvPr/>
          </p:nvSpPr>
          <p:spPr>
            <a:xfrm flipH="false" flipV="false" rot="0">
              <a:off x="0" y="0"/>
              <a:ext cx="8412099" cy="38100"/>
            </a:xfrm>
            <a:custGeom>
              <a:avLst/>
              <a:gdLst/>
              <a:ahLst/>
              <a:cxnLst/>
              <a:rect r="r" b="b" t="t" l="l"/>
              <a:pathLst>
                <a:path h="38100" w="8412099">
                  <a:moveTo>
                    <a:pt x="0" y="0"/>
                  </a:moveTo>
                  <a:lnTo>
                    <a:pt x="8412099" y="0"/>
                  </a:lnTo>
                  <a:lnTo>
                    <a:pt x="8412099" y="38100"/>
                  </a:lnTo>
                  <a:lnTo>
                    <a:pt x="0" y="38100"/>
                  </a:lnTo>
                  <a:close/>
                </a:path>
              </a:pathLst>
            </a:custGeom>
            <a:solidFill>
              <a:srgbClr val="40456A"/>
            </a:solid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E0E3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7543" cy="10287000"/>
            <a:chOff x="0" y="0"/>
            <a:chExt cx="24383390" cy="13716000"/>
          </a:xfrm>
        </p:grpSpPr>
        <p:sp>
          <p:nvSpPr>
            <p:cNvPr name="Freeform 3" id="3" descr="preencoded.png"/>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lnTo>
                    <a:pt x="0" y="0"/>
                  </a:lnTo>
                  <a:close/>
                </a:path>
              </a:pathLst>
            </a:custGeom>
            <a:blipFill>
              <a:blip r:embed="rId3"/>
              <a:stretch>
                <a:fillRect l="-1" t="0" r="-1" b="0"/>
              </a:stretch>
            </a:blipFill>
          </p:spPr>
        </p:sp>
      </p:grpSp>
      <p:grpSp>
        <p:nvGrpSpPr>
          <p:cNvPr name="Group 4" id="4"/>
          <p:cNvGrpSpPr/>
          <p:nvPr/>
        </p:nvGrpSpPr>
        <p:grpSpPr>
          <a:xfrm rot="0">
            <a:off x="0" y="0"/>
            <a:ext cx="18287543" cy="10287000"/>
            <a:chOff x="0" y="0"/>
            <a:chExt cx="24383390" cy="13716000"/>
          </a:xfrm>
        </p:grpSpPr>
        <p:sp>
          <p:nvSpPr>
            <p:cNvPr name="Freeform 5" id="5"/>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00000">
                <a:alpha val="3137"/>
              </a:srgbClr>
            </a:solidFill>
          </p:spPr>
        </p:sp>
      </p:grpSp>
      <p:grpSp>
        <p:nvGrpSpPr>
          <p:cNvPr name="Group 6" id="6"/>
          <p:cNvGrpSpPr/>
          <p:nvPr/>
        </p:nvGrpSpPr>
        <p:grpSpPr>
          <a:xfrm rot="0">
            <a:off x="914381" y="1028700"/>
            <a:ext cx="8343690" cy="8191500"/>
            <a:chOff x="0" y="0"/>
            <a:chExt cx="11124921" cy="10922000"/>
          </a:xfrm>
        </p:grpSpPr>
        <p:sp>
          <p:nvSpPr>
            <p:cNvPr name="Freeform 7" id="7"/>
            <p:cNvSpPr/>
            <p:nvPr/>
          </p:nvSpPr>
          <p:spPr>
            <a:xfrm flipH="false" flipV="false" rot="0">
              <a:off x="0" y="0"/>
              <a:ext cx="11124946" cy="10922000"/>
            </a:xfrm>
            <a:custGeom>
              <a:avLst/>
              <a:gdLst/>
              <a:ahLst/>
              <a:cxnLst/>
              <a:rect r="r" b="b" t="t" l="l"/>
              <a:pathLst>
                <a:path h="10922000" w="11124946">
                  <a:moveTo>
                    <a:pt x="0" y="57150"/>
                  </a:moveTo>
                  <a:cubicBezTo>
                    <a:pt x="0" y="25527"/>
                    <a:pt x="25527" y="0"/>
                    <a:pt x="57150" y="0"/>
                  </a:cubicBezTo>
                  <a:lnTo>
                    <a:pt x="11067796" y="0"/>
                  </a:lnTo>
                  <a:cubicBezTo>
                    <a:pt x="11099292" y="0"/>
                    <a:pt x="11124946" y="25527"/>
                    <a:pt x="11124946" y="57150"/>
                  </a:cubicBezTo>
                  <a:lnTo>
                    <a:pt x="11124946" y="10864850"/>
                  </a:lnTo>
                  <a:cubicBezTo>
                    <a:pt x="11124946" y="10896346"/>
                    <a:pt x="11099419" y="10922000"/>
                    <a:pt x="11067796" y="10922000"/>
                  </a:cubicBezTo>
                  <a:lnTo>
                    <a:pt x="57150" y="10922000"/>
                  </a:lnTo>
                  <a:cubicBezTo>
                    <a:pt x="25654" y="10922000"/>
                    <a:pt x="0" y="10896473"/>
                    <a:pt x="0" y="10864850"/>
                  </a:cubicBezTo>
                  <a:close/>
                </a:path>
              </a:pathLst>
            </a:custGeom>
            <a:solidFill>
              <a:srgbClr val="1E0E3F"/>
            </a:solidFill>
          </p:spPr>
        </p:sp>
      </p:grpSp>
      <p:sp>
        <p:nvSpPr>
          <p:cNvPr name="TextBox 8" id="8"/>
          <p:cNvSpPr txBox="true"/>
          <p:nvPr/>
        </p:nvSpPr>
        <p:spPr>
          <a:xfrm rot="0">
            <a:off x="1485862" y="1506541"/>
            <a:ext cx="8115100" cy="270424"/>
          </a:xfrm>
          <a:prstGeom prst="rect">
            <a:avLst/>
          </a:prstGeom>
        </p:spPr>
        <p:txBody>
          <a:bodyPr anchor="t" rtlCol="false" tIns="0" lIns="0" bIns="0" rIns="0">
            <a:spAutoFit/>
          </a:bodyPr>
          <a:lstStyle/>
          <a:p>
            <a:pPr algn="l">
              <a:lnSpc>
                <a:spcPts val="1980"/>
              </a:lnSpc>
            </a:pPr>
            <a:r>
              <a:rPr lang="en-US" sz="1650" spc="132">
                <a:solidFill>
                  <a:srgbClr val="FFFFFF"/>
                </a:solidFill>
                <a:latin typeface="Arimo"/>
                <a:ea typeface="Arimo"/>
                <a:cs typeface="Arimo"/>
                <a:sym typeface="Arimo"/>
              </a:rPr>
              <a:t>08 · DEMONSTRATION</a:t>
            </a:r>
          </a:p>
        </p:txBody>
      </p:sp>
      <p:sp>
        <p:nvSpPr>
          <p:cNvPr name="TextBox 9" id="9"/>
          <p:cNvSpPr txBox="true"/>
          <p:nvPr/>
        </p:nvSpPr>
        <p:spPr>
          <a:xfrm rot="0">
            <a:off x="1485862" y="1999212"/>
            <a:ext cx="7200719" cy="533400"/>
          </a:xfrm>
          <a:prstGeom prst="rect">
            <a:avLst/>
          </a:prstGeom>
        </p:spPr>
        <p:txBody>
          <a:bodyPr anchor="t" rtlCol="false" tIns="0" lIns="0" bIns="0" rIns="0">
            <a:spAutoFit/>
          </a:bodyPr>
          <a:lstStyle/>
          <a:p>
            <a:pPr algn="l">
              <a:lnSpc>
                <a:spcPts val="4752"/>
              </a:lnSpc>
            </a:pPr>
            <a:r>
              <a:rPr lang="en-US" sz="4500" spc="-22">
                <a:solidFill>
                  <a:srgbClr val="F8ED43"/>
                </a:solidFill>
                <a:latin typeface="Saira"/>
                <a:ea typeface="Saira"/>
                <a:cs typeface="Saira"/>
                <a:sym typeface="Saira"/>
              </a:rPr>
              <a:t>Test, learn, improve</a:t>
            </a:r>
          </a:p>
        </p:txBody>
      </p:sp>
      <p:grpSp>
        <p:nvGrpSpPr>
          <p:cNvPr name="Group 10" id="10"/>
          <p:cNvGrpSpPr/>
          <p:nvPr/>
        </p:nvGrpSpPr>
        <p:grpSpPr>
          <a:xfrm rot="0">
            <a:off x="1485862" y="2870749"/>
            <a:ext cx="495290" cy="495300"/>
            <a:chOff x="0" y="0"/>
            <a:chExt cx="660387" cy="660400"/>
          </a:xfrm>
        </p:grpSpPr>
        <p:sp>
          <p:nvSpPr>
            <p:cNvPr name="Freeform 11" id="11"/>
            <p:cNvSpPr/>
            <p:nvPr/>
          </p:nvSpPr>
          <p:spPr>
            <a:xfrm flipH="false" flipV="false" rot="0">
              <a:off x="0" y="0"/>
              <a:ext cx="660400" cy="660400"/>
            </a:xfrm>
            <a:custGeom>
              <a:avLst/>
              <a:gdLst/>
              <a:ahLst/>
              <a:cxnLst/>
              <a:rect r="r" b="b" t="t" l="l"/>
              <a:pathLst>
                <a:path h="660400" w="660400">
                  <a:moveTo>
                    <a:pt x="0" y="330200"/>
                  </a:moveTo>
                  <a:cubicBezTo>
                    <a:pt x="0" y="147828"/>
                    <a:pt x="147828" y="0"/>
                    <a:pt x="330200" y="0"/>
                  </a:cubicBezTo>
                  <a:cubicBezTo>
                    <a:pt x="512572" y="0"/>
                    <a:pt x="660400" y="147828"/>
                    <a:pt x="660400" y="330200"/>
                  </a:cubicBezTo>
                  <a:cubicBezTo>
                    <a:pt x="660400" y="512572"/>
                    <a:pt x="512572" y="660400"/>
                    <a:pt x="330200" y="660400"/>
                  </a:cubicBezTo>
                  <a:cubicBezTo>
                    <a:pt x="147828" y="660400"/>
                    <a:pt x="0" y="512572"/>
                    <a:pt x="0" y="330200"/>
                  </a:cubicBezTo>
                  <a:close/>
                </a:path>
              </a:pathLst>
            </a:custGeom>
            <a:solidFill>
              <a:srgbClr val="F8ED43"/>
            </a:solidFill>
          </p:spPr>
        </p:sp>
      </p:grpSp>
      <p:sp>
        <p:nvSpPr>
          <p:cNvPr name="TextBox 12" id="12"/>
          <p:cNvSpPr txBox="true"/>
          <p:nvPr/>
        </p:nvSpPr>
        <p:spPr>
          <a:xfrm rot="0">
            <a:off x="1620403" y="3023149"/>
            <a:ext cx="1140590" cy="219075"/>
          </a:xfrm>
          <a:prstGeom prst="rect">
            <a:avLst/>
          </a:prstGeom>
        </p:spPr>
        <p:txBody>
          <a:bodyPr anchor="t" rtlCol="false" tIns="0" lIns="0" bIns="0" rIns="0">
            <a:spAutoFit/>
          </a:bodyPr>
          <a:lstStyle/>
          <a:p>
            <a:pPr algn="l">
              <a:lnSpc>
                <a:spcPts val="1942"/>
              </a:lnSpc>
            </a:pPr>
            <a:r>
              <a:rPr lang="en-US" sz="1950" b="true">
                <a:solidFill>
                  <a:srgbClr val="000000"/>
                </a:solidFill>
                <a:latin typeface="Barlow Bold"/>
                <a:ea typeface="Barlow Bold"/>
                <a:cs typeface="Barlow Bold"/>
                <a:sym typeface="Barlow Bold"/>
              </a:rPr>
              <a:t>01</a:t>
            </a:r>
          </a:p>
        </p:txBody>
      </p:sp>
      <p:sp>
        <p:nvSpPr>
          <p:cNvPr name="TextBox 13" id="13"/>
          <p:cNvSpPr txBox="true"/>
          <p:nvPr/>
        </p:nvSpPr>
        <p:spPr>
          <a:xfrm rot="0">
            <a:off x="2266893" y="2883608"/>
            <a:ext cx="6419688" cy="434283"/>
          </a:xfrm>
          <a:prstGeom prst="rect">
            <a:avLst/>
          </a:prstGeom>
        </p:spPr>
        <p:txBody>
          <a:bodyPr anchor="t" rtlCol="false" tIns="0" lIns="0" bIns="0" rIns="0">
            <a:spAutoFit/>
          </a:bodyPr>
          <a:lstStyle/>
          <a:p>
            <a:pPr algn="l">
              <a:lnSpc>
                <a:spcPts val="3110"/>
              </a:lnSpc>
            </a:pPr>
            <a:r>
              <a:rPr lang="en-US" sz="2400" b="true">
                <a:solidFill>
                  <a:srgbClr val="F8ED43"/>
                </a:solidFill>
                <a:latin typeface="Barlow Medium"/>
                <a:ea typeface="Barlow Medium"/>
                <a:cs typeface="Barlow Medium"/>
                <a:sym typeface="Barlow Medium"/>
              </a:rPr>
              <a:t>123456</a:t>
            </a:r>
          </a:p>
        </p:txBody>
      </p:sp>
      <p:sp>
        <p:nvSpPr>
          <p:cNvPr name="TextBox 14" id="14"/>
          <p:cNvSpPr txBox="true"/>
          <p:nvPr/>
        </p:nvSpPr>
        <p:spPr>
          <a:xfrm rot="0">
            <a:off x="2266893" y="3453851"/>
            <a:ext cx="6419688" cy="1300162"/>
          </a:xfrm>
          <a:prstGeom prst="rect">
            <a:avLst/>
          </a:prstGeom>
        </p:spPr>
        <p:txBody>
          <a:bodyPr anchor="t" rtlCol="false" tIns="0" lIns="0" bIns="0" rIns="0">
            <a:spAutoFit/>
          </a:bodyPr>
          <a:lstStyle/>
          <a:p>
            <a:pPr algn="l">
              <a:lnSpc>
                <a:spcPts val="3267"/>
              </a:lnSpc>
            </a:pPr>
            <a:r>
              <a:rPr lang="en-US" sz="2250">
                <a:solidFill>
                  <a:srgbClr val="FFFFFF"/>
                </a:solidFill>
                <a:latin typeface="Barlow"/>
                <a:ea typeface="Barlow"/>
                <a:cs typeface="Barlow"/>
                <a:sym typeface="Barlow"/>
              </a:rPr>
              <a:t>Weak and predictable — the meter should flag it immediately, explain why, and avoid shaming language.</a:t>
            </a:r>
          </a:p>
        </p:txBody>
      </p:sp>
      <p:grpSp>
        <p:nvGrpSpPr>
          <p:cNvPr name="Group 15" id="15"/>
          <p:cNvGrpSpPr/>
          <p:nvPr/>
        </p:nvGrpSpPr>
        <p:grpSpPr>
          <a:xfrm rot="0">
            <a:off x="1485862" y="5048098"/>
            <a:ext cx="495290" cy="495300"/>
            <a:chOff x="0" y="0"/>
            <a:chExt cx="660387" cy="660400"/>
          </a:xfrm>
        </p:grpSpPr>
        <p:sp>
          <p:nvSpPr>
            <p:cNvPr name="Freeform 16" id="16"/>
            <p:cNvSpPr/>
            <p:nvPr/>
          </p:nvSpPr>
          <p:spPr>
            <a:xfrm flipH="false" flipV="false" rot="0">
              <a:off x="0" y="0"/>
              <a:ext cx="660400" cy="660400"/>
            </a:xfrm>
            <a:custGeom>
              <a:avLst/>
              <a:gdLst/>
              <a:ahLst/>
              <a:cxnLst/>
              <a:rect r="r" b="b" t="t" l="l"/>
              <a:pathLst>
                <a:path h="660400" w="660400">
                  <a:moveTo>
                    <a:pt x="0" y="330200"/>
                  </a:moveTo>
                  <a:cubicBezTo>
                    <a:pt x="0" y="147828"/>
                    <a:pt x="147828" y="0"/>
                    <a:pt x="330200" y="0"/>
                  </a:cubicBezTo>
                  <a:cubicBezTo>
                    <a:pt x="512572" y="0"/>
                    <a:pt x="660400" y="147828"/>
                    <a:pt x="660400" y="330200"/>
                  </a:cubicBezTo>
                  <a:cubicBezTo>
                    <a:pt x="660400" y="512572"/>
                    <a:pt x="512572" y="660400"/>
                    <a:pt x="330200" y="660400"/>
                  </a:cubicBezTo>
                  <a:cubicBezTo>
                    <a:pt x="147828" y="660400"/>
                    <a:pt x="0" y="512572"/>
                    <a:pt x="0" y="330200"/>
                  </a:cubicBezTo>
                  <a:close/>
                </a:path>
              </a:pathLst>
            </a:custGeom>
            <a:solidFill>
              <a:srgbClr val="F8ED43"/>
            </a:solidFill>
          </p:spPr>
        </p:sp>
      </p:grpSp>
      <p:sp>
        <p:nvSpPr>
          <p:cNvPr name="TextBox 17" id="17"/>
          <p:cNvSpPr txBox="true"/>
          <p:nvPr/>
        </p:nvSpPr>
        <p:spPr>
          <a:xfrm rot="0">
            <a:off x="1593466" y="5200498"/>
            <a:ext cx="1194321" cy="219075"/>
          </a:xfrm>
          <a:prstGeom prst="rect">
            <a:avLst/>
          </a:prstGeom>
        </p:spPr>
        <p:txBody>
          <a:bodyPr anchor="t" rtlCol="false" tIns="0" lIns="0" bIns="0" rIns="0">
            <a:spAutoFit/>
          </a:bodyPr>
          <a:lstStyle/>
          <a:p>
            <a:pPr algn="l">
              <a:lnSpc>
                <a:spcPts val="1942"/>
              </a:lnSpc>
            </a:pPr>
            <a:r>
              <a:rPr lang="en-US" sz="1950" b="true">
                <a:solidFill>
                  <a:srgbClr val="000000"/>
                </a:solidFill>
                <a:latin typeface="Barlow Bold"/>
                <a:ea typeface="Barlow Bold"/>
                <a:cs typeface="Barlow Bold"/>
                <a:sym typeface="Barlow Bold"/>
              </a:rPr>
              <a:t>02</a:t>
            </a:r>
          </a:p>
        </p:txBody>
      </p:sp>
      <p:sp>
        <p:nvSpPr>
          <p:cNvPr name="TextBox 18" id="18"/>
          <p:cNvSpPr txBox="true"/>
          <p:nvPr/>
        </p:nvSpPr>
        <p:spPr>
          <a:xfrm rot="0">
            <a:off x="2266893" y="5060956"/>
            <a:ext cx="6419688" cy="434283"/>
          </a:xfrm>
          <a:prstGeom prst="rect">
            <a:avLst/>
          </a:prstGeom>
        </p:spPr>
        <p:txBody>
          <a:bodyPr anchor="t" rtlCol="false" tIns="0" lIns="0" bIns="0" rIns="0">
            <a:spAutoFit/>
          </a:bodyPr>
          <a:lstStyle/>
          <a:p>
            <a:pPr algn="l">
              <a:lnSpc>
                <a:spcPts val="3110"/>
              </a:lnSpc>
            </a:pPr>
            <a:r>
              <a:rPr lang="en-US" sz="2400" b="true">
                <a:solidFill>
                  <a:srgbClr val="F8ED43"/>
                </a:solidFill>
                <a:latin typeface="Barlow Medium"/>
                <a:ea typeface="Barlow Medium"/>
                <a:cs typeface="Barlow Medium"/>
                <a:sym typeface="Barlow Medium"/>
              </a:rPr>
              <a:t>Short mixed-case</a:t>
            </a:r>
          </a:p>
        </p:txBody>
      </p:sp>
      <p:sp>
        <p:nvSpPr>
          <p:cNvPr name="TextBox 19" id="19"/>
          <p:cNvSpPr txBox="true"/>
          <p:nvPr/>
        </p:nvSpPr>
        <p:spPr>
          <a:xfrm rot="0">
            <a:off x="2266893" y="5631209"/>
            <a:ext cx="6419688" cy="1300162"/>
          </a:xfrm>
          <a:prstGeom prst="rect">
            <a:avLst/>
          </a:prstGeom>
        </p:spPr>
        <p:txBody>
          <a:bodyPr anchor="t" rtlCol="false" tIns="0" lIns="0" bIns="0" rIns="0">
            <a:spAutoFit/>
          </a:bodyPr>
          <a:lstStyle/>
          <a:p>
            <a:pPr algn="l">
              <a:lnSpc>
                <a:spcPts val="3267"/>
              </a:lnSpc>
            </a:pPr>
            <a:r>
              <a:rPr lang="en-US" sz="2250">
                <a:solidFill>
                  <a:srgbClr val="FFFFFF"/>
                </a:solidFill>
                <a:latin typeface="Barlow"/>
                <a:ea typeface="Barlow"/>
                <a:cs typeface="Barlow"/>
                <a:sym typeface="Barlow"/>
              </a:rPr>
              <a:t>Looks complex at a glance, but limited length keeps the score moderate; the feedback should make that distinction obvious.</a:t>
            </a:r>
          </a:p>
        </p:txBody>
      </p:sp>
      <p:grpSp>
        <p:nvGrpSpPr>
          <p:cNvPr name="Group 20" id="20"/>
          <p:cNvGrpSpPr/>
          <p:nvPr/>
        </p:nvGrpSpPr>
        <p:grpSpPr>
          <a:xfrm rot="0">
            <a:off x="1485862" y="7225455"/>
            <a:ext cx="495290" cy="495300"/>
            <a:chOff x="0" y="0"/>
            <a:chExt cx="660387" cy="660400"/>
          </a:xfrm>
        </p:grpSpPr>
        <p:sp>
          <p:nvSpPr>
            <p:cNvPr name="Freeform 21" id="21"/>
            <p:cNvSpPr/>
            <p:nvPr/>
          </p:nvSpPr>
          <p:spPr>
            <a:xfrm flipH="false" flipV="false" rot="0">
              <a:off x="0" y="0"/>
              <a:ext cx="660400" cy="660400"/>
            </a:xfrm>
            <a:custGeom>
              <a:avLst/>
              <a:gdLst/>
              <a:ahLst/>
              <a:cxnLst/>
              <a:rect r="r" b="b" t="t" l="l"/>
              <a:pathLst>
                <a:path h="660400" w="660400">
                  <a:moveTo>
                    <a:pt x="0" y="330200"/>
                  </a:moveTo>
                  <a:cubicBezTo>
                    <a:pt x="0" y="147828"/>
                    <a:pt x="147828" y="0"/>
                    <a:pt x="330200" y="0"/>
                  </a:cubicBezTo>
                  <a:cubicBezTo>
                    <a:pt x="512572" y="0"/>
                    <a:pt x="660400" y="147828"/>
                    <a:pt x="660400" y="330200"/>
                  </a:cubicBezTo>
                  <a:cubicBezTo>
                    <a:pt x="660400" y="512572"/>
                    <a:pt x="512572" y="660400"/>
                    <a:pt x="330200" y="660400"/>
                  </a:cubicBezTo>
                  <a:cubicBezTo>
                    <a:pt x="147828" y="660400"/>
                    <a:pt x="0" y="512572"/>
                    <a:pt x="0" y="330200"/>
                  </a:cubicBezTo>
                  <a:close/>
                </a:path>
              </a:pathLst>
            </a:custGeom>
            <a:solidFill>
              <a:srgbClr val="F8ED43"/>
            </a:solidFill>
          </p:spPr>
        </p:sp>
      </p:grpSp>
      <p:sp>
        <p:nvSpPr>
          <p:cNvPr name="TextBox 22" id="22"/>
          <p:cNvSpPr txBox="true"/>
          <p:nvPr/>
        </p:nvSpPr>
        <p:spPr>
          <a:xfrm rot="0">
            <a:off x="1595990" y="7377855"/>
            <a:ext cx="1189406" cy="219075"/>
          </a:xfrm>
          <a:prstGeom prst="rect">
            <a:avLst/>
          </a:prstGeom>
        </p:spPr>
        <p:txBody>
          <a:bodyPr anchor="t" rtlCol="false" tIns="0" lIns="0" bIns="0" rIns="0">
            <a:spAutoFit/>
          </a:bodyPr>
          <a:lstStyle/>
          <a:p>
            <a:pPr algn="l">
              <a:lnSpc>
                <a:spcPts val="1942"/>
              </a:lnSpc>
            </a:pPr>
            <a:r>
              <a:rPr lang="en-US" sz="1950" b="true">
                <a:solidFill>
                  <a:srgbClr val="000000"/>
                </a:solidFill>
                <a:latin typeface="Barlow Bold"/>
                <a:ea typeface="Barlow Bold"/>
                <a:cs typeface="Barlow Bold"/>
                <a:sym typeface="Barlow Bold"/>
              </a:rPr>
              <a:t>03</a:t>
            </a:r>
          </a:p>
        </p:txBody>
      </p:sp>
      <p:sp>
        <p:nvSpPr>
          <p:cNvPr name="TextBox 23" id="23"/>
          <p:cNvSpPr txBox="true"/>
          <p:nvPr/>
        </p:nvSpPr>
        <p:spPr>
          <a:xfrm rot="0">
            <a:off x="2266893" y="7238314"/>
            <a:ext cx="6419688" cy="434283"/>
          </a:xfrm>
          <a:prstGeom prst="rect">
            <a:avLst/>
          </a:prstGeom>
        </p:spPr>
        <p:txBody>
          <a:bodyPr anchor="t" rtlCol="false" tIns="0" lIns="0" bIns="0" rIns="0">
            <a:spAutoFit/>
          </a:bodyPr>
          <a:lstStyle/>
          <a:p>
            <a:pPr algn="l">
              <a:lnSpc>
                <a:spcPts val="3110"/>
              </a:lnSpc>
            </a:pPr>
            <a:r>
              <a:rPr lang="en-US" sz="2400" b="true">
                <a:solidFill>
                  <a:srgbClr val="F8ED43"/>
                </a:solidFill>
                <a:latin typeface="Barlow Medium"/>
                <a:ea typeface="Barlow Medium"/>
                <a:cs typeface="Barlow Medium"/>
                <a:sym typeface="Barlow Medium"/>
              </a:rPr>
              <a:t>Long passphrase</a:t>
            </a:r>
          </a:p>
        </p:txBody>
      </p:sp>
      <p:sp>
        <p:nvSpPr>
          <p:cNvPr name="TextBox 24" id="24"/>
          <p:cNvSpPr txBox="true"/>
          <p:nvPr/>
        </p:nvSpPr>
        <p:spPr>
          <a:xfrm rot="0">
            <a:off x="2266893" y="7808566"/>
            <a:ext cx="6419688" cy="1300162"/>
          </a:xfrm>
          <a:prstGeom prst="rect">
            <a:avLst/>
          </a:prstGeom>
        </p:spPr>
        <p:txBody>
          <a:bodyPr anchor="t" rtlCol="false" tIns="0" lIns="0" bIns="0" rIns="0">
            <a:spAutoFit/>
          </a:bodyPr>
          <a:lstStyle/>
          <a:p>
            <a:pPr algn="l">
              <a:lnSpc>
                <a:spcPts val="3267"/>
              </a:lnSpc>
            </a:pPr>
            <a:r>
              <a:rPr lang="en-US" sz="2250">
                <a:solidFill>
                  <a:srgbClr val="FFFFFF"/>
                </a:solidFill>
                <a:latin typeface="Barlow"/>
                <a:ea typeface="Barlow"/>
                <a:cs typeface="Barlow"/>
                <a:sym typeface="Barlow"/>
              </a:rPr>
              <a:t>Longer and unique — the prototype should reward length, show a clear next step, and keep the guidance easy to act on.</a:t>
            </a:r>
          </a:p>
        </p:txBody>
      </p:sp>
      <p:sp>
        <p:nvSpPr>
          <p:cNvPr name="TextBox 25" id="25"/>
          <p:cNvSpPr txBox="true"/>
          <p:nvPr/>
        </p:nvSpPr>
        <p:spPr>
          <a:xfrm rot="0">
            <a:off x="1485862" y="9461154"/>
            <a:ext cx="8115100" cy="471488"/>
          </a:xfrm>
          <a:prstGeom prst="rect">
            <a:avLst/>
          </a:prstGeom>
        </p:spPr>
        <p:txBody>
          <a:bodyPr anchor="t" rtlCol="false" tIns="0" lIns="0" bIns="0" rIns="0">
            <a:spAutoFit/>
          </a:bodyPr>
          <a:lstStyle/>
          <a:p>
            <a:pPr algn="l">
              <a:lnSpc>
                <a:spcPts val="3267"/>
              </a:lnSpc>
            </a:pPr>
            <a:r>
              <a:rPr lang="en-US" sz="2250" spc="44">
                <a:solidFill>
                  <a:srgbClr val="FFFFFF"/>
                </a:solidFill>
                <a:latin typeface="Barlow"/>
                <a:ea typeface="Barlow"/>
                <a:cs typeface="Barlow"/>
                <a:sym typeface="Barlow"/>
              </a:rPr>
              <a:t>watch: score change · reason shown · next step clear</a:t>
            </a:r>
          </a:p>
        </p:txBody>
      </p:sp>
      <p:grpSp>
        <p:nvGrpSpPr>
          <p:cNvPr name="Group 26" id="26"/>
          <p:cNvGrpSpPr/>
          <p:nvPr/>
        </p:nvGrpSpPr>
        <p:grpSpPr>
          <a:xfrm rot="0">
            <a:off x="1485862" y="4881410"/>
            <a:ext cx="7200719" cy="28575"/>
            <a:chOff x="0" y="0"/>
            <a:chExt cx="9600959" cy="38100"/>
          </a:xfrm>
        </p:grpSpPr>
        <p:sp>
          <p:nvSpPr>
            <p:cNvPr name="Freeform 27" id="27"/>
            <p:cNvSpPr/>
            <p:nvPr/>
          </p:nvSpPr>
          <p:spPr>
            <a:xfrm flipH="false" flipV="false" rot="0">
              <a:off x="0" y="0"/>
              <a:ext cx="9600946" cy="38100"/>
            </a:xfrm>
            <a:custGeom>
              <a:avLst/>
              <a:gdLst/>
              <a:ahLst/>
              <a:cxnLst/>
              <a:rect r="r" b="b" t="t" l="l"/>
              <a:pathLst>
                <a:path h="38100" w="9600946">
                  <a:moveTo>
                    <a:pt x="0" y="0"/>
                  </a:moveTo>
                  <a:lnTo>
                    <a:pt x="9600946" y="0"/>
                  </a:lnTo>
                  <a:lnTo>
                    <a:pt x="9600946" y="38100"/>
                  </a:lnTo>
                  <a:lnTo>
                    <a:pt x="0" y="38100"/>
                  </a:lnTo>
                  <a:close/>
                </a:path>
              </a:pathLst>
            </a:custGeom>
            <a:solidFill>
              <a:srgbClr val="40456A"/>
            </a:solidFill>
          </p:spPr>
        </p:sp>
      </p:grpSp>
      <p:grpSp>
        <p:nvGrpSpPr>
          <p:cNvPr name="Group 28" id="28"/>
          <p:cNvGrpSpPr/>
          <p:nvPr/>
        </p:nvGrpSpPr>
        <p:grpSpPr>
          <a:xfrm rot="0">
            <a:off x="1485862" y="7058768"/>
            <a:ext cx="7200719" cy="28575"/>
            <a:chOff x="0" y="0"/>
            <a:chExt cx="9600959" cy="38100"/>
          </a:xfrm>
        </p:grpSpPr>
        <p:sp>
          <p:nvSpPr>
            <p:cNvPr name="Freeform 29" id="29"/>
            <p:cNvSpPr/>
            <p:nvPr/>
          </p:nvSpPr>
          <p:spPr>
            <a:xfrm flipH="false" flipV="false" rot="0">
              <a:off x="0" y="0"/>
              <a:ext cx="9600946" cy="38100"/>
            </a:xfrm>
            <a:custGeom>
              <a:avLst/>
              <a:gdLst/>
              <a:ahLst/>
              <a:cxnLst/>
              <a:rect r="r" b="b" t="t" l="l"/>
              <a:pathLst>
                <a:path h="38100" w="9600946">
                  <a:moveTo>
                    <a:pt x="0" y="0"/>
                  </a:moveTo>
                  <a:lnTo>
                    <a:pt x="9600946" y="0"/>
                  </a:lnTo>
                  <a:lnTo>
                    <a:pt x="9600946" y="38100"/>
                  </a:lnTo>
                  <a:lnTo>
                    <a:pt x="0" y="38100"/>
                  </a:lnTo>
                  <a:close/>
                </a:path>
              </a:pathLst>
            </a:custGeom>
            <a:solidFill>
              <a:srgbClr val="40456A"/>
            </a:solid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E0E3F"/>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7543" cy="10287000"/>
            <a:chOff x="0" y="0"/>
            <a:chExt cx="24383390" cy="13716000"/>
          </a:xfrm>
        </p:grpSpPr>
        <p:sp>
          <p:nvSpPr>
            <p:cNvPr name="Freeform 3" id="3" descr="preencoded.png"/>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lnTo>
                    <a:pt x="0" y="0"/>
                  </a:lnTo>
                  <a:close/>
                </a:path>
              </a:pathLst>
            </a:custGeom>
            <a:blipFill>
              <a:blip r:embed="rId3"/>
              <a:stretch>
                <a:fillRect l="-1" t="0" r="-1" b="0"/>
              </a:stretch>
            </a:blipFill>
          </p:spPr>
        </p:sp>
      </p:grpSp>
      <p:grpSp>
        <p:nvGrpSpPr>
          <p:cNvPr name="Group 4" id="4"/>
          <p:cNvGrpSpPr/>
          <p:nvPr/>
        </p:nvGrpSpPr>
        <p:grpSpPr>
          <a:xfrm rot="0">
            <a:off x="914381" y="914400"/>
            <a:ext cx="16458790" cy="4441327"/>
            <a:chOff x="0" y="0"/>
            <a:chExt cx="21945054" cy="5921769"/>
          </a:xfrm>
        </p:grpSpPr>
        <p:sp>
          <p:nvSpPr>
            <p:cNvPr name="Freeform 5" id="5"/>
            <p:cNvSpPr/>
            <p:nvPr/>
          </p:nvSpPr>
          <p:spPr>
            <a:xfrm flipH="false" flipV="false" rot="0">
              <a:off x="0" y="0"/>
              <a:ext cx="21945092" cy="5921756"/>
            </a:xfrm>
            <a:custGeom>
              <a:avLst/>
              <a:gdLst/>
              <a:ahLst/>
              <a:cxnLst/>
              <a:rect r="r" b="b" t="t" l="l"/>
              <a:pathLst>
                <a:path h="5921756" w="21945092">
                  <a:moveTo>
                    <a:pt x="0" y="0"/>
                  </a:moveTo>
                  <a:lnTo>
                    <a:pt x="21945092" y="0"/>
                  </a:lnTo>
                  <a:lnTo>
                    <a:pt x="21945092" y="5921756"/>
                  </a:lnTo>
                  <a:lnTo>
                    <a:pt x="0" y="5921756"/>
                  </a:lnTo>
                  <a:close/>
                </a:path>
              </a:pathLst>
            </a:custGeom>
            <a:solidFill>
              <a:srgbClr val="0B1F33"/>
            </a:solidFill>
          </p:spPr>
        </p:sp>
      </p:grpSp>
      <p:sp>
        <p:nvSpPr>
          <p:cNvPr name="TextBox 6" id="6"/>
          <p:cNvSpPr txBox="true"/>
          <p:nvPr/>
        </p:nvSpPr>
        <p:spPr>
          <a:xfrm rot="0">
            <a:off x="1562062" y="1430341"/>
            <a:ext cx="15811100" cy="270424"/>
          </a:xfrm>
          <a:prstGeom prst="rect">
            <a:avLst/>
          </a:prstGeom>
        </p:spPr>
        <p:txBody>
          <a:bodyPr anchor="t" rtlCol="false" tIns="0" lIns="0" bIns="0" rIns="0">
            <a:spAutoFit/>
          </a:bodyPr>
          <a:lstStyle/>
          <a:p>
            <a:pPr algn="l">
              <a:lnSpc>
                <a:spcPts val="1980"/>
              </a:lnSpc>
            </a:pPr>
            <a:r>
              <a:rPr lang="en-US" sz="1650" spc="132">
                <a:solidFill>
                  <a:srgbClr val="FFFFFF"/>
                </a:solidFill>
                <a:latin typeface="Arimo"/>
                <a:ea typeface="Arimo"/>
                <a:cs typeface="Arimo"/>
                <a:sym typeface="Arimo"/>
              </a:rPr>
              <a:t>THANK YOU</a:t>
            </a:r>
          </a:p>
        </p:txBody>
      </p:sp>
      <p:sp>
        <p:nvSpPr>
          <p:cNvPr name="TextBox 7" id="7"/>
          <p:cNvSpPr txBox="true"/>
          <p:nvPr/>
        </p:nvSpPr>
        <p:spPr>
          <a:xfrm rot="0">
            <a:off x="1562062" y="1970637"/>
            <a:ext cx="15163419" cy="714375"/>
          </a:xfrm>
          <a:prstGeom prst="rect">
            <a:avLst/>
          </a:prstGeom>
        </p:spPr>
        <p:txBody>
          <a:bodyPr anchor="t" rtlCol="false" tIns="0" lIns="0" bIns="0" rIns="0">
            <a:spAutoFit/>
          </a:bodyPr>
          <a:lstStyle/>
          <a:p>
            <a:pPr algn="l">
              <a:lnSpc>
                <a:spcPts val="6336"/>
              </a:lnSpc>
            </a:pPr>
            <a:r>
              <a:rPr lang="en-US" sz="6000" spc="-30">
                <a:solidFill>
                  <a:srgbClr val="FFFFFF"/>
                </a:solidFill>
                <a:latin typeface="Saira"/>
                <a:ea typeface="Saira"/>
                <a:cs typeface="Saira"/>
                <a:sym typeface="Saira"/>
              </a:rPr>
              <a:t>Thank You</a:t>
            </a:r>
          </a:p>
        </p:txBody>
      </p:sp>
      <p:sp>
        <p:nvSpPr>
          <p:cNvPr name="TextBox 8" id="8"/>
          <p:cNvSpPr txBox="true"/>
          <p:nvPr/>
        </p:nvSpPr>
        <p:spPr>
          <a:xfrm rot="0">
            <a:off x="1562062" y="2852890"/>
            <a:ext cx="15811100" cy="471488"/>
          </a:xfrm>
          <a:prstGeom prst="rect">
            <a:avLst/>
          </a:prstGeom>
        </p:spPr>
        <p:txBody>
          <a:bodyPr anchor="t" rtlCol="false" tIns="0" lIns="0" bIns="0" rIns="0">
            <a:spAutoFit/>
          </a:bodyPr>
          <a:lstStyle/>
          <a:p>
            <a:pPr algn="l">
              <a:lnSpc>
                <a:spcPts val="3267"/>
              </a:lnSpc>
            </a:pPr>
            <a:r>
              <a:rPr lang="en-US" sz="2250">
                <a:solidFill>
                  <a:srgbClr val="FFFFFF"/>
                </a:solidFill>
                <a:latin typeface="Barlow"/>
                <a:ea typeface="Barlow"/>
                <a:cs typeface="Barlow"/>
                <a:sym typeface="Barlow"/>
              </a:rPr>
              <a:t>Safer habits start with small, clear choices.</a:t>
            </a:r>
          </a:p>
        </p:txBody>
      </p:sp>
      <p:sp>
        <p:nvSpPr>
          <p:cNvPr name="TextBox 9" id="9"/>
          <p:cNvSpPr txBox="true"/>
          <p:nvPr/>
        </p:nvSpPr>
        <p:spPr>
          <a:xfrm rot="0">
            <a:off x="1562062" y="3433915"/>
            <a:ext cx="15163419" cy="885825"/>
          </a:xfrm>
          <a:prstGeom prst="rect">
            <a:avLst/>
          </a:prstGeom>
        </p:spPr>
        <p:txBody>
          <a:bodyPr anchor="t" rtlCol="false" tIns="0" lIns="0" bIns="0" rIns="0">
            <a:spAutoFit/>
          </a:bodyPr>
          <a:lstStyle/>
          <a:p>
            <a:pPr algn="l">
              <a:lnSpc>
                <a:spcPts val="3267"/>
              </a:lnSpc>
            </a:pPr>
            <a:r>
              <a:rPr lang="en-US" sz="2250">
                <a:solidFill>
                  <a:srgbClr val="FFFFFF"/>
                </a:solidFill>
                <a:latin typeface="Barlow"/>
                <a:ea typeface="Barlow"/>
                <a:cs typeface="Barlow"/>
                <a:sym typeface="Barlow"/>
              </a:rPr>
              <a:t>Use a unique password for every account, store them in a trusted password manager, and turn on multifactor authentication wherever it is available.</a:t>
            </a:r>
          </a:p>
        </p:txBody>
      </p:sp>
      <p:sp>
        <p:nvSpPr>
          <p:cNvPr name="TextBox 10" id="10"/>
          <p:cNvSpPr txBox="true"/>
          <p:nvPr/>
        </p:nvSpPr>
        <p:spPr>
          <a:xfrm rot="0">
            <a:off x="1562062" y="4453328"/>
            <a:ext cx="15811100" cy="346624"/>
          </a:xfrm>
          <a:prstGeom prst="rect">
            <a:avLst/>
          </a:prstGeom>
        </p:spPr>
        <p:txBody>
          <a:bodyPr anchor="t" rtlCol="false" tIns="0" lIns="0" bIns="0" rIns="0">
            <a:spAutoFit/>
          </a:bodyPr>
          <a:lstStyle/>
          <a:p>
            <a:pPr algn="l">
              <a:lnSpc>
                <a:spcPts val="2440"/>
              </a:lnSpc>
            </a:pPr>
            <a:r>
              <a:rPr lang="en-US" sz="1800">
                <a:solidFill>
                  <a:srgbClr val="FFFFFF"/>
                </a:solidFill>
                <a:latin typeface="Barlow"/>
                <a:ea typeface="Barlow"/>
                <a:cs typeface="Barlow"/>
                <a:sym typeface="Barlow"/>
              </a:rPr>
              <a:t>Make security easier to understand — and easier to practice.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DAHXVqqHLyA</dc:identifier>
  <dcterms:modified xsi:type="dcterms:W3CDTF">2011-08-01T06:04:30Z</dcterms:modified>
  <cp:revision>1</cp:revision>
  <dc:title>1-Problem-Weak-passwords-are-easy-targets-no-gamma-1.pptx</dc:title>
</cp:coreProperties>
</file>