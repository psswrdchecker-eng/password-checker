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7" y="9331414"/>
            <a:ext cx="18286730" cy="951865"/>
          </a:xfrm>
          <a:custGeom>
            <a:avLst/>
            <a:gdLst/>
            <a:ahLst/>
            <a:cxnLst/>
            <a:rect l="l" t="t" r="r" b="b"/>
            <a:pathLst>
              <a:path w="18286730" h="951865">
                <a:moveTo>
                  <a:pt x="18286324" y="951815"/>
                </a:moveTo>
                <a:lnTo>
                  <a:pt x="0" y="951815"/>
                </a:lnTo>
                <a:lnTo>
                  <a:pt x="0" y="0"/>
                </a:lnTo>
                <a:lnTo>
                  <a:pt x="18286324" y="0"/>
                </a:lnTo>
                <a:lnTo>
                  <a:pt x="18286324" y="951815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9326670"/>
            <a:ext cx="18282920" cy="951865"/>
          </a:xfrm>
          <a:custGeom>
            <a:avLst/>
            <a:gdLst/>
            <a:ahLst/>
            <a:cxnLst/>
            <a:rect l="l" t="t" r="r" b="b"/>
            <a:pathLst>
              <a:path w="18282920" h="951865">
                <a:moveTo>
                  <a:pt x="0" y="951815"/>
                </a:moveTo>
                <a:lnTo>
                  <a:pt x="18282400" y="951815"/>
                </a:lnTo>
                <a:lnTo>
                  <a:pt x="18282400" y="0"/>
                </a:lnTo>
                <a:lnTo>
                  <a:pt x="0" y="0"/>
                </a:lnTo>
              </a:path>
            </a:pathLst>
          </a:custGeom>
          <a:ln w="9487">
            <a:solidFill>
              <a:srgbClr val="B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2709" y="781799"/>
            <a:ext cx="14107794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1565" y="2397918"/>
            <a:ext cx="15568294" cy="4625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87399" y="9643070"/>
            <a:ext cx="651510" cy="424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74651" y="9643070"/>
            <a:ext cx="8548370" cy="424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85903" y="1693341"/>
            <a:ext cx="7316470" cy="1714500"/>
          </a:xfrm>
          <a:prstGeom prst="rect"/>
        </p:spPr>
        <p:txBody>
          <a:bodyPr wrap="square" lIns="0" tIns="167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dirty="0" spc="-10" b="1">
                <a:latin typeface="Calibri"/>
                <a:cs typeface="Calibri"/>
              </a:rPr>
              <a:t>GuessWise</a:t>
            </a: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dirty="0" sz="3000">
                <a:solidFill>
                  <a:srgbClr val="585858"/>
                </a:solidFill>
              </a:rPr>
              <a:t>A</a:t>
            </a:r>
            <a:r>
              <a:rPr dirty="0" sz="3000" spc="-20">
                <a:solidFill>
                  <a:srgbClr val="585858"/>
                </a:solidFill>
              </a:rPr>
              <a:t> </a:t>
            </a:r>
            <a:r>
              <a:rPr dirty="0" sz="3000">
                <a:solidFill>
                  <a:srgbClr val="585858"/>
                </a:solidFill>
              </a:rPr>
              <a:t>password</a:t>
            </a:r>
            <a:r>
              <a:rPr dirty="0" sz="3000" spc="-20">
                <a:solidFill>
                  <a:srgbClr val="585858"/>
                </a:solidFill>
              </a:rPr>
              <a:t> </a:t>
            </a:r>
            <a:r>
              <a:rPr dirty="0" sz="3000">
                <a:solidFill>
                  <a:srgbClr val="585858"/>
                </a:solidFill>
              </a:rPr>
              <a:t>checker</a:t>
            </a:r>
            <a:r>
              <a:rPr dirty="0" sz="3000" spc="-20">
                <a:solidFill>
                  <a:srgbClr val="585858"/>
                </a:solidFill>
              </a:rPr>
              <a:t> </a:t>
            </a:r>
            <a:r>
              <a:rPr dirty="0" sz="3000">
                <a:solidFill>
                  <a:srgbClr val="585858"/>
                </a:solidFill>
              </a:rPr>
              <a:t>that</a:t>
            </a:r>
            <a:r>
              <a:rPr dirty="0" sz="3000" spc="-20">
                <a:solidFill>
                  <a:srgbClr val="585858"/>
                </a:solidFill>
              </a:rPr>
              <a:t> </a:t>
            </a:r>
            <a:r>
              <a:rPr dirty="0" sz="3000">
                <a:solidFill>
                  <a:srgbClr val="585858"/>
                </a:solidFill>
              </a:rPr>
              <a:t>thinks</a:t>
            </a:r>
            <a:r>
              <a:rPr dirty="0" sz="3000" spc="-20">
                <a:solidFill>
                  <a:srgbClr val="585858"/>
                </a:solidFill>
              </a:rPr>
              <a:t> </a:t>
            </a:r>
            <a:r>
              <a:rPr dirty="0" sz="3000">
                <a:solidFill>
                  <a:srgbClr val="585858"/>
                </a:solidFill>
              </a:rPr>
              <a:t>like</a:t>
            </a:r>
            <a:r>
              <a:rPr dirty="0" sz="3000" spc="-20">
                <a:solidFill>
                  <a:srgbClr val="585858"/>
                </a:solidFill>
              </a:rPr>
              <a:t> </a:t>
            </a:r>
            <a:r>
              <a:rPr dirty="0" sz="3000">
                <a:solidFill>
                  <a:srgbClr val="585858"/>
                </a:solidFill>
              </a:rPr>
              <a:t>an</a:t>
            </a:r>
            <a:r>
              <a:rPr dirty="0" sz="3000" spc="-15">
                <a:solidFill>
                  <a:srgbClr val="585858"/>
                </a:solidFill>
              </a:rPr>
              <a:t> </a:t>
            </a:r>
            <a:r>
              <a:rPr dirty="0" sz="3000" spc="-10">
                <a:solidFill>
                  <a:srgbClr val="585858"/>
                </a:solidFill>
              </a:rPr>
              <a:t>attacker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999843" y="4454638"/>
            <a:ext cx="14517369" cy="347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800" spc="-155">
                <a:solidFill>
                  <a:srgbClr val="00B0F0"/>
                </a:solidFill>
                <a:latin typeface="Trebuchet MS"/>
                <a:cs typeface="Trebuchet MS"/>
              </a:rPr>
              <a:t>Design</a:t>
            </a:r>
            <a:r>
              <a:rPr dirty="0" sz="4800" spc="-295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dirty="0" sz="4800" spc="-170">
                <a:solidFill>
                  <a:srgbClr val="00B0F0"/>
                </a:solidFill>
                <a:latin typeface="Trebuchet MS"/>
                <a:cs typeface="Trebuchet MS"/>
              </a:rPr>
              <a:t>Thinking</a:t>
            </a:r>
            <a:r>
              <a:rPr dirty="0" sz="4800" spc="-295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dirty="0" sz="4800" spc="-125">
                <a:solidFill>
                  <a:srgbClr val="00B0F0"/>
                </a:solidFill>
                <a:latin typeface="Trebuchet MS"/>
                <a:cs typeface="Trebuchet MS"/>
              </a:rPr>
              <a:t>for</a:t>
            </a:r>
            <a:r>
              <a:rPr dirty="0" sz="4800" spc="-29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dirty="0" sz="4800" spc="-165">
                <a:solidFill>
                  <a:srgbClr val="00B0F0"/>
                </a:solidFill>
                <a:latin typeface="Trebuchet MS"/>
                <a:cs typeface="Trebuchet MS"/>
              </a:rPr>
              <a:t>innovation</a:t>
            </a:r>
            <a:r>
              <a:rPr dirty="0" sz="4800" spc="-295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dirty="0" sz="4800">
                <a:solidFill>
                  <a:srgbClr val="00B0F0"/>
                </a:solidFill>
                <a:latin typeface="Trebuchet MS"/>
                <a:cs typeface="Trebuchet MS"/>
              </a:rPr>
              <a:t>&amp;</a:t>
            </a:r>
            <a:r>
              <a:rPr dirty="0" sz="4800" spc="-295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dirty="0" sz="4800" spc="-175">
                <a:solidFill>
                  <a:srgbClr val="00B0F0"/>
                </a:solidFill>
                <a:latin typeface="Trebuchet MS"/>
                <a:cs typeface="Trebuchet MS"/>
              </a:rPr>
              <a:t>Entrepreneurship</a:t>
            </a:r>
            <a:r>
              <a:rPr dirty="0" sz="4800" spc="-29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dirty="0" sz="4800" spc="-25">
                <a:solidFill>
                  <a:srgbClr val="00B0F0"/>
                </a:solidFill>
                <a:latin typeface="Trebuchet MS"/>
                <a:cs typeface="Trebuchet MS"/>
              </a:rPr>
              <a:t>(DTIE)</a:t>
            </a:r>
            <a:endParaRPr sz="4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4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4800" spc="-155">
                <a:solidFill>
                  <a:srgbClr val="BF0000"/>
                </a:solidFill>
                <a:latin typeface="Trebuchet MS"/>
                <a:cs typeface="Trebuchet MS"/>
              </a:rPr>
              <a:t>Section</a:t>
            </a:r>
            <a:r>
              <a:rPr dirty="0" sz="4800" spc="-300">
                <a:solidFill>
                  <a:srgbClr val="BF0000"/>
                </a:solidFill>
                <a:latin typeface="Trebuchet MS"/>
                <a:cs typeface="Trebuchet MS"/>
              </a:rPr>
              <a:t> </a:t>
            </a:r>
            <a:r>
              <a:rPr dirty="0" sz="4800" spc="-50">
                <a:solidFill>
                  <a:srgbClr val="BF0000"/>
                </a:solidFill>
                <a:latin typeface="Trebuchet MS"/>
                <a:cs typeface="Trebuchet MS"/>
              </a:rPr>
              <a:t>:</a:t>
            </a:r>
            <a:endParaRPr sz="4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4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3600" spc="-150">
                <a:solidFill>
                  <a:srgbClr val="00B04F"/>
                </a:solidFill>
                <a:latin typeface="Trebuchet MS"/>
                <a:cs typeface="Trebuchet MS"/>
              </a:rPr>
              <a:t>Project</a:t>
            </a:r>
            <a:r>
              <a:rPr dirty="0" sz="3600" spc="-180">
                <a:solidFill>
                  <a:srgbClr val="00B04F"/>
                </a:solidFill>
                <a:latin typeface="Trebuchet MS"/>
                <a:cs typeface="Trebuchet MS"/>
              </a:rPr>
              <a:t> </a:t>
            </a:r>
            <a:r>
              <a:rPr dirty="0" sz="3600" spc="-165">
                <a:solidFill>
                  <a:srgbClr val="00B04F"/>
                </a:solidFill>
                <a:latin typeface="Trebuchet MS"/>
                <a:cs typeface="Trebuchet MS"/>
              </a:rPr>
              <a:t>Batch-</a:t>
            </a:r>
            <a:r>
              <a:rPr dirty="0" sz="3600" spc="-50">
                <a:solidFill>
                  <a:srgbClr val="00B04F"/>
                </a:solidFill>
                <a:latin typeface="Trebuchet MS"/>
                <a:cs typeface="Trebuchet MS"/>
              </a:rPr>
              <a:t>A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2686" y="882650"/>
            <a:ext cx="524573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Team</a:t>
            </a:r>
            <a:r>
              <a:rPr dirty="0" spc="-245"/>
              <a:t> </a:t>
            </a:r>
            <a:r>
              <a:rPr dirty="0" spc="-75"/>
              <a:t>Members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145386" y="2684829"/>
          <a:ext cx="11149330" cy="5312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5700"/>
                <a:gridCol w="2425700"/>
                <a:gridCol w="6182995"/>
              </a:tblGrid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  <a:solidFill>
                      <a:srgbClr val="FFCCCC"/>
                    </a:solidFill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</a:tr>
              <a:tr h="1128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</a:tr>
              <a:tr h="1128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9999"/>
                      </a:solidFill>
                      <a:prstDash val="solid"/>
                    </a:lnL>
                    <a:lnR w="38100">
                      <a:solidFill>
                        <a:srgbClr val="FF9999"/>
                      </a:solidFill>
                      <a:prstDash val="solid"/>
                    </a:lnR>
                    <a:lnT w="38100">
                      <a:solidFill>
                        <a:srgbClr val="FF9999"/>
                      </a:solidFill>
                      <a:prstDash val="solid"/>
                    </a:lnT>
                    <a:lnB w="38100">
                      <a:solidFill>
                        <a:srgbClr val="FF99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Vision</a:t>
            </a:r>
            <a:r>
              <a:rPr dirty="0" spc="-315"/>
              <a:t> </a:t>
            </a:r>
            <a:r>
              <a:rPr dirty="0"/>
              <a:t>and</a:t>
            </a:r>
            <a:r>
              <a:rPr dirty="0" spc="-300"/>
              <a:t> </a:t>
            </a:r>
            <a:r>
              <a:rPr dirty="0" spc="-35"/>
              <a:t>Mission</a:t>
            </a:r>
          </a:p>
        </p:txBody>
      </p:sp>
      <p:sp>
        <p:nvSpPr>
          <p:cNvPr id="6" name="object 6"/>
          <p:cNvSpPr/>
          <p:nvPr/>
        </p:nvSpPr>
        <p:spPr>
          <a:xfrm>
            <a:off x="1028699" y="2614101"/>
            <a:ext cx="5826760" cy="5958840"/>
          </a:xfrm>
          <a:custGeom>
            <a:avLst/>
            <a:gdLst/>
            <a:ahLst/>
            <a:cxnLst/>
            <a:rect l="l" t="t" r="r" b="b"/>
            <a:pathLst>
              <a:path w="5826759" h="5958840">
                <a:moveTo>
                  <a:pt x="5536696" y="5958397"/>
                </a:moveTo>
                <a:lnTo>
                  <a:pt x="291405" y="5958397"/>
                </a:lnTo>
                <a:lnTo>
                  <a:pt x="244141" y="5954581"/>
                </a:lnTo>
                <a:lnTo>
                  <a:pt x="199304" y="5943531"/>
                </a:lnTo>
                <a:lnTo>
                  <a:pt x="157494" y="5925849"/>
                </a:lnTo>
                <a:lnTo>
                  <a:pt x="119311" y="5902135"/>
                </a:lnTo>
                <a:lnTo>
                  <a:pt x="85356" y="5872990"/>
                </a:lnTo>
                <a:lnTo>
                  <a:pt x="56228" y="5839014"/>
                </a:lnTo>
                <a:lnTo>
                  <a:pt x="32528" y="5800808"/>
                </a:lnTo>
                <a:lnTo>
                  <a:pt x="14857" y="5758973"/>
                </a:lnTo>
                <a:lnTo>
                  <a:pt x="3814" y="5714109"/>
                </a:lnTo>
                <a:lnTo>
                  <a:pt x="0" y="5666816"/>
                </a:lnTo>
                <a:lnTo>
                  <a:pt x="0" y="291581"/>
                </a:lnTo>
                <a:lnTo>
                  <a:pt x="3814" y="244288"/>
                </a:lnTo>
                <a:lnTo>
                  <a:pt x="14857" y="199424"/>
                </a:lnTo>
                <a:lnTo>
                  <a:pt x="32528" y="157589"/>
                </a:lnTo>
                <a:lnTo>
                  <a:pt x="56228" y="119383"/>
                </a:lnTo>
                <a:lnTo>
                  <a:pt x="85356" y="85407"/>
                </a:lnTo>
                <a:lnTo>
                  <a:pt x="119311" y="56262"/>
                </a:lnTo>
                <a:lnTo>
                  <a:pt x="157494" y="32548"/>
                </a:lnTo>
                <a:lnTo>
                  <a:pt x="199304" y="14866"/>
                </a:lnTo>
                <a:lnTo>
                  <a:pt x="244141" y="3816"/>
                </a:lnTo>
                <a:lnTo>
                  <a:pt x="291405" y="0"/>
                </a:lnTo>
                <a:lnTo>
                  <a:pt x="5536696" y="0"/>
                </a:lnTo>
                <a:lnTo>
                  <a:pt x="5583960" y="3816"/>
                </a:lnTo>
                <a:lnTo>
                  <a:pt x="5628797" y="14866"/>
                </a:lnTo>
                <a:lnTo>
                  <a:pt x="5670607" y="32548"/>
                </a:lnTo>
                <a:lnTo>
                  <a:pt x="5708790" y="56262"/>
                </a:lnTo>
                <a:lnTo>
                  <a:pt x="5742745" y="85407"/>
                </a:lnTo>
                <a:lnTo>
                  <a:pt x="5771873" y="119383"/>
                </a:lnTo>
                <a:lnTo>
                  <a:pt x="5795572" y="157589"/>
                </a:lnTo>
                <a:lnTo>
                  <a:pt x="5813244" y="199424"/>
                </a:lnTo>
                <a:lnTo>
                  <a:pt x="5824287" y="244288"/>
                </a:lnTo>
                <a:lnTo>
                  <a:pt x="5826380" y="270234"/>
                </a:lnTo>
                <a:lnTo>
                  <a:pt x="5826380" y="5688163"/>
                </a:lnTo>
                <a:lnTo>
                  <a:pt x="5813244" y="5758973"/>
                </a:lnTo>
                <a:lnTo>
                  <a:pt x="5795572" y="5800808"/>
                </a:lnTo>
                <a:lnTo>
                  <a:pt x="5771873" y="5839014"/>
                </a:lnTo>
                <a:lnTo>
                  <a:pt x="5742745" y="5872990"/>
                </a:lnTo>
                <a:lnTo>
                  <a:pt x="5708790" y="5902135"/>
                </a:lnTo>
                <a:lnTo>
                  <a:pt x="5670607" y="5925849"/>
                </a:lnTo>
                <a:lnTo>
                  <a:pt x="5628797" y="5943531"/>
                </a:lnTo>
                <a:lnTo>
                  <a:pt x="5583960" y="5954581"/>
                </a:lnTo>
                <a:lnTo>
                  <a:pt x="5536696" y="5958397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729182" y="2660205"/>
            <a:ext cx="76898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0">
                <a:solidFill>
                  <a:srgbClr val="F4CCCC"/>
                </a:solidFill>
                <a:latin typeface="Calibri"/>
                <a:cs typeface="Calibri"/>
              </a:rPr>
              <a:t>VISION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52742" y="2411592"/>
            <a:ext cx="9415780" cy="5944870"/>
          </a:xfrm>
          <a:custGeom>
            <a:avLst/>
            <a:gdLst/>
            <a:ahLst/>
            <a:cxnLst/>
            <a:rect l="l" t="t" r="r" b="b"/>
            <a:pathLst>
              <a:path w="9415780" h="5944870">
                <a:moveTo>
                  <a:pt x="9115000" y="5944353"/>
                </a:moveTo>
                <a:lnTo>
                  <a:pt x="300708" y="5944353"/>
                </a:lnTo>
                <a:lnTo>
                  <a:pt x="293266" y="5943881"/>
                </a:lnTo>
                <a:lnTo>
                  <a:pt x="244731" y="5934516"/>
                </a:lnTo>
                <a:lnTo>
                  <a:pt x="199044" y="5919469"/>
                </a:lnTo>
                <a:lnTo>
                  <a:pt x="156740" y="5899201"/>
                </a:lnTo>
                <a:lnTo>
                  <a:pt x="118349" y="5874171"/>
                </a:lnTo>
                <a:lnTo>
                  <a:pt x="84404" y="5844839"/>
                </a:lnTo>
                <a:lnTo>
                  <a:pt x="55438" y="5811665"/>
                </a:lnTo>
                <a:lnTo>
                  <a:pt x="31982" y="5775110"/>
                </a:lnTo>
                <a:lnTo>
                  <a:pt x="14569" y="5735632"/>
                </a:lnTo>
                <a:lnTo>
                  <a:pt x="3731" y="5693692"/>
                </a:lnTo>
                <a:lnTo>
                  <a:pt x="0" y="5649749"/>
                </a:lnTo>
                <a:lnTo>
                  <a:pt x="0" y="297355"/>
                </a:lnTo>
                <a:lnTo>
                  <a:pt x="3731" y="253412"/>
                </a:lnTo>
                <a:lnTo>
                  <a:pt x="14569" y="211472"/>
                </a:lnTo>
                <a:lnTo>
                  <a:pt x="31982" y="171995"/>
                </a:lnTo>
                <a:lnTo>
                  <a:pt x="55438" y="135439"/>
                </a:lnTo>
                <a:lnTo>
                  <a:pt x="84404" y="102265"/>
                </a:lnTo>
                <a:lnTo>
                  <a:pt x="118349" y="72934"/>
                </a:lnTo>
                <a:lnTo>
                  <a:pt x="156740" y="47904"/>
                </a:lnTo>
                <a:lnTo>
                  <a:pt x="199044" y="27636"/>
                </a:lnTo>
                <a:lnTo>
                  <a:pt x="244731" y="12589"/>
                </a:lnTo>
                <a:lnTo>
                  <a:pt x="293266" y="3224"/>
                </a:lnTo>
                <a:lnTo>
                  <a:pt x="344119" y="0"/>
                </a:lnTo>
                <a:lnTo>
                  <a:pt x="9071588" y="0"/>
                </a:lnTo>
                <a:lnTo>
                  <a:pt x="9122441" y="3224"/>
                </a:lnTo>
                <a:lnTo>
                  <a:pt x="9170977" y="12589"/>
                </a:lnTo>
                <a:lnTo>
                  <a:pt x="9216664" y="27636"/>
                </a:lnTo>
                <a:lnTo>
                  <a:pt x="9258968" y="47904"/>
                </a:lnTo>
                <a:lnTo>
                  <a:pt x="9297359" y="72934"/>
                </a:lnTo>
                <a:lnTo>
                  <a:pt x="9331304" y="102265"/>
                </a:lnTo>
                <a:lnTo>
                  <a:pt x="9360270" y="135439"/>
                </a:lnTo>
                <a:lnTo>
                  <a:pt x="9383726" y="171995"/>
                </a:lnTo>
                <a:lnTo>
                  <a:pt x="9401139" y="211472"/>
                </a:lnTo>
                <a:lnTo>
                  <a:pt x="9411977" y="253412"/>
                </a:lnTo>
                <a:lnTo>
                  <a:pt x="9415708" y="297355"/>
                </a:lnTo>
                <a:lnTo>
                  <a:pt x="9415708" y="5649749"/>
                </a:lnTo>
                <a:lnTo>
                  <a:pt x="9411977" y="5693692"/>
                </a:lnTo>
                <a:lnTo>
                  <a:pt x="9401139" y="5735632"/>
                </a:lnTo>
                <a:lnTo>
                  <a:pt x="9383726" y="5775110"/>
                </a:lnTo>
                <a:lnTo>
                  <a:pt x="9360270" y="5811665"/>
                </a:lnTo>
                <a:lnTo>
                  <a:pt x="9331304" y="5844839"/>
                </a:lnTo>
                <a:lnTo>
                  <a:pt x="9297359" y="5874171"/>
                </a:lnTo>
                <a:lnTo>
                  <a:pt x="9258968" y="5899201"/>
                </a:lnTo>
                <a:lnTo>
                  <a:pt x="9216664" y="5919469"/>
                </a:lnTo>
                <a:lnTo>
                  <a:pt x="9170977" y="5934516"/>
                </a:lnTo>
                <a:lnTo>
                  <a:pt x="9122441" y="5943881"/>
                </a:lnTo>
                <a:lnTo>
                  <a:pt x="9115000" y="5944353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559800" y="2680969"/>
            <a:ext cx="10090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BF0000"/>
                </a:solidFill>
                <a:latin typeface="Calibri"/>
                <a:cs typeface="Calibri"/>
              </a:rPr>
              <a:t>MISSION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0496" y="3392451"/>
            <a:ext cx="5216525" cy="3545204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algn="ctr" marL="12065" marR="5080">
              <a:lnSpc>
                <a:spcPts val="5530"/>
              </a:lnSpc>
              <a:spcBef>
                <a:spcPts val="260"/>
              </a:spcBef>
            </a:pP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dirty="0" sz="46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r>
              <a:rPr dirty="0" sz="465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46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465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spc="-20" b="1">
                <a:solidFill>
                  <a:srgbClr val="FFFFFF"/>
                </a:solidFill>
                <a:latin typeface="Calibri"/>
                <a:cs typeface="Calibri"/>
              </a:rPr>
              <a:t>make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465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accounts</a:t>
            </a:r>
            <a:r>
              <a:rPr dirty="0" sz="465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spc="-10" b="1">
                <a:solidFill>
                  <a:srgbClr val="FFFFFF"/>
                </a:solidFill>
                <a:latin typeface="Calibri"/>
                <a:cs typeface="Calibri"/>
              </a:rPr>
              <a:t>safer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46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helping</a:t>
            </a:r>
            <a:r>
              <a:rPr dirty="0" sz="46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spc="-10" b="1">
                <a:solidFill>
                  <a:srgbClr val="FFFFFF"/>
                </a:solidFill>
                <a:latin typeface="Calibri"/>
                <a:cs typeface="Calibri"/>
              </a:rPr>
              <a:t>everyone </a:t>
            </a:r>
            <a:r>
              <a:rPr dirty="0" sz="4650" b="1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dirty="0" sz="4650" spc="-1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650" spc="-10" b="1">
                <a:solidFill>
                  <a:srgbClr val="FFFFFF"/>
                </a:solidFill>
                <a:latin typeface="Calibri"/>
                <a:cs typeface="Calibri"/>
              </a:rPr>
              <a:t>strong passwords.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72500" y="3497579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7190" y="754380"/>
                </a:moveTo>
                <a:lnTo>
                  <a:pt x="329877" y="751441"/>
                </a:lnTo>
                <a:lnTo>
                  <a:pt x="284317" y="742859"/>
                </a:lnTo>
                <a:lnTo>
                  <a:pt x="240865" y="728990"/>
                </a:lnTo>
                <a:lnTo>
                  <a:pt x="199873" y="710185"/>
                </a:lnTo>
                <a:lnTo>
                  <a:pt x="161695" y="686798"/>
                </a:lnTo>
                <a:lnTo>
                  <a:pt x="126684" y="659184"/>
                </a:lnTo>
                <a:lnTo>
                  <a:pt x="95195" y="627695"/>
                </a:lnTo>
                <a:lnTo>
                  <a:pt x="67581" y="592684"/>
                </a:lnTo>
                <a:lnTo>
                  <a:pt x="44194" y="554506"/>
                </a:lnTo>
                <a:lnTo>
                  <a:pt x="25389" y="513514"/>
                </a:lnTo>
                <a:lnTo>
                  <a:pt x="11520" y="470062"/>
                </a:lnTo>
                <a:lnTo>
                  <a:pt x="2938" y="424503"/>
                </a:lnTo>
                <a:lnTo>
                  <a:pt x="0" y="377190"/>
                </a:lnTo>
                <a:lnTo>
                  <a:pt x="2938" y="329876"/>
                </a:lnTo>
                <a:lnTo>
                  <a:pt x="11520" y="284317"/>
                </a:lnTo>
                <a:lnTo>
                  <a:pt x="25389" y="240865"/>
                </a:lnTo>
                <a:lnTo>
                  <a:pt x="44194" y="199873"/>
                </a:lnTo>
                <a:lnTo>
                  <a:pt x="67581" y="161695"/>
                </a:lnTo>
                <a:lnTo>
                  <a:pt x="95195" y="126684"/>
                </a:lnTo>
                <a:lnTo>
                  <a:pt x="126684" y="95195"/>
                </a:lnTo>
                <a:lnTo>
                  <a:pt x="161695" y="67581"/>
                </a:lnTo>
                <a:lnTo>
                  <a:pt x="199873" y="44194"/>
                </a:lnTo>
                <a:lnTo>
                  <a:pt x="240865" y="25389"/>
                </a:lnTo>
                <a:lnTo>
                  <a:pt x="284317" y="11520"/>
                </a:lnTo>
                <a:lnTo>
                  <a:pt x="329877" y="2938"/>
                </a:lnTo>
                <a:lnTo>
                  <a:pt x="377190" y="0"/>
                </a:lnTo>
                <a:lnTo>
                  <a:pt x="424503" y="2938"/>
                </a:lnTo>
                <a:lnTo>
                  <a:pt x="470062" y="11520"/>
                </a:lnTo>
                <a:lnTo>
                  <a:pt x="513515" y="25389"/>
                </a:lnTo>
                <a:lnTo>
                  <a:pt x="554506" y="44194"/>
                </a:lnTo>
                <a:lnTo>
                  <a:pt x="592684" y="67581"/>
                </a:lnTo>
                <a:lnTo>
                  <a:pt x="627695" y="95195"/>
                </a:lnTo>
                <a:lnTo>
                  <a:pt x="659184" y="126684"/>
                </a:lnTo>
                <a:lnTo>
                  <a:pt x="686798" y="161695"/>
                </a:lnTo>
                <a:lnTo>
                  <a:pt x="710185" y="199873"/>
                </a:lnTo>
                <a:lnTo>
                  <a:pt x="728990" y="240865"/>
                </a:lnTo>
                <a:lnTo>
                  <a:pt x="742860" y="284317"/>
                </a:lnTo>
                <a:lnTo>
                  <a:pt x="751441" y="329876"/>
                </a:lnTo>
                <a:lnTo>
                  <a:pt x="754380" y="377190"/>
                </a:lnTo>
                <a:lnTo>
                  <a:pt x="751441" y="424503"/>
                </a:lnTo>
                <a:lnTo>
                  <a:pt x="742860" y="470062"/>
                </a:lnTo>
                <a:lnTo>
                  <a:pt x="728990" y="513514"/>
                </a:lnTo>
                <a:lnTo>
                  <a:pt x="710185" y="554506"/>
                </a:lnTo>
                <a:lnTo>
                  <a:pt x="686798" y="592684"/>
                </a:lnTo>
                <a:lnTo>
                  <a:pt x="659184" y="627695"/>
                </a:lnTo>
                <a:lnTo>
                  <a:pt x="627695" y="659184"/>
                </a:lnTo>
                <a:lnTo>
                  <a:pt x="592684" y="686798"/>
                </a:lnTo>
                <a:lnTo>
                  <a:pt x="554506" y="710185"/>
                </a:lnTo>
                <a:lnTo>
                  <a:pt x="513515" y="728990"/>
                </a:lnTo>
                <a:lnTo>
                  <a:pt x="470062" y="742859"/>
                </a:lnTo>
                <a:lnTo>
                  <a:pt x="424503" y="751441"/>
                </a:lnTo>
                <a:lnTo>
                  <a:pt x="377190" y="75438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859688" y="363727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57079" y="3359150"/>
            <a:ext cx="6735445" cy="1078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Judge</a:t>
            </a:r>
            <a:r>
              <a:rPr dirty="0" sz="2700" spc="-7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2700" spc="-7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like</a:t>
            </a:r>
            <a:r>
              <a:rPr dirty="0" sz="2700" spc="-7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dirty="0" sz="2700" spc="-7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attacker</a:t>
            </a:r>
            <a:r>
              <a:rPr dirty="0" sz="2700" spc="-6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252525"/>
                </a:solidFill>
                <a:latin typeface="Calibri"/>
                <a:cs typeface="Calibri"/>
              </a:rPr>
              <a:t>would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480"/>
              </a:lnSpc>
              <a:spcBef>
                <a:spcPts val="17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Score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guessability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from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real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patterns,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from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character-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type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checkboxes.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72500" y="5280659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7190" y="754380"/>
                </a:moveTo>
                <a:lnTo>
                  <a:pt x="329877" y="751441"/>
                </a:lnTo>
                <a:lnTo>
                  <a:pt x="284317" y="742860"/>
                </a:lnTo>
                <a:lnTo>
                  <a:pt x="240865" y="728990"/>
                </a:lnTo>
                <a:lnTo>
                  <a:pt x="199873" y="710185"/>
                </a:lnTo>
                <a:lnTo>
                  <a:pt x="161695" y="686798"/>
                </a:lnTo>
                <a:lnTo>
                  <a:pt x="126684" y="659184"/>
                </a:lnTo>
                <a:lnTo>
                  <a:pt x="95195" y="627695"/>
                </a:lnTo>
                <a:lnTo>
                  <a:pt x="67581" y="592684"/>
                </a:lnTo>
                <a:lnTo>
                  <a:pt x="44194" y="554506"/>
                </a:lnTo>
                <a:lnTo>
                  <a:pt x="25389" y="513515"/>
                </a:lnTo>
                <a:lnTo>
                  <a:pt x="11520" y="470062"/>
                </a:lnTo>
                <a:lnTo>
                  <a:pt x="2938" y="424503"/>
                </a:lnTo>
                <a:lnTo>
                  <a:pt x="0" y="377190"/>
                </a:lnTo>
                <a:lnTo>
                  <a:pt x="2938" y="329877"/>
                </a:lnTo>
                <a:lnTo>
                  <a:pt x="11520" y="284317"/>
                </a:lnTo>
                <a:lnTo>
                  <a:pt x="25389" y="240865"/>
                </a:lnTo>
                <a:lnTo>
                  <a:pt x="44194" y="199873"/>
                </a:lnTo>
                <a:lnTo>
                  <a:pt x="67581" y="161695"/>
                </a:lnTo>
                <a:lnTo>
                  <a:pt x="95195" y="126684"/>
                </a:lnTo>
                <a:lnTo>
                  <a:pt x="126684" y="95195"/>
                </a:lnTo>
                <a:lnTo>
                  <a:pt x="161695" y="67581"/>
                </a:lnTo>
                <a:lnTo>
                  <a:pt x="199873" y="44194"/>
                </a:lnTo>
                <a:lnTo>
                  <a:pt x="240865" y="25389"/>
                </a:lnTo>
                <a:lnTo>
                  <a:pt x="284317" y="11520"/>
                </a:lnTo>
                <a:lnTo>
                  <a:pt x="329877" y="2938"/>
                </a:lnTo>
                <a:lnTo>
                  <a:pt x="377190" y="0"/>
                </a:lnTo>
                <a:lnTo>
                  <a:pt x="424503" y="2938"/>
                </a:lnTo>
                <a:lnTo>
                  <a:pt x="470062" y="11520"/>
                </a:lnTo>
                <a:lnTo>
                  <a:pt x="513515" y="25389"/>
                </a:lnTo>
                <a:lnTo>
                  <a:pt x="554506" y="44194"/>
                </a:lnTo>
                <a:lnTo>
                  <a:pt x="592684" y="67581"/>
                </a:lnTo>
                <a:lnTo>
                  <a:pt x="627695" y="95195"/>
                </a:lnTo>
                <a:lnTo>
                  <a:pt x="659184" y="126684"/>
                </a:lnTo>
                <a:lnTo>
                  <a:pt x="686798" y="161695"/>
                </a:lnTo>
                <a:lnTo>
                  <a:pt x="710185" y="199873"/>
                </a:lnTo>
                <a:lnTo>
                  <a:pt x="728990" y="240865"/>
                </a:lnTo>
                <a:lnTo>
                  <a:pt x="742860" y="284317"/>
                </a:lnTo>
                <a:lnTo>
                  <a:pt x="751441" y="329877"/>
                </a:lnTo>
                <a:lnTo>
                  <a:pt x="754380" y="377190"/>
                </a:lnTo>
                <a:lnTo>
                  <a:pt x="751441" y="424503"/>
                </a:lnTo>
                <a:lnTo>
                  <a:pt x="742860" y="470062"/>
                </a:lnTo>
                <a:lnTo>
                  <a:pt x="728990" y="513515"/>
                </a:lnTo>
                <a:lnTo>
                  <a:pt x="710185" y="554506"/>
                </a:lnTo>
                <a:lnTo>
                  <a:pt x="686798" y="592684"/>
                </a:lnTo>
                <a:lnTo>
                  <a:pt x="659184" y="627695"/>
                </a:lnTo>
                <a:lnTo>
                  <a:pt x="627695" y="659184"/>
                </a:lnTo>
                <a:lnTo>
                  <a:pt x="592684" y="686798"/>
                </a:lnTo>
                <a:lnTo>
                  <a:pt x="554506" y="710185"/>
                </a:lnTo>
                <a:lnTo>
                  <a:pt x="513515" y="728990"/>
                </a:lnTo>
                <a:lnTo>
                  <a:pt x="470062" y="742860"/>
                </a:lnTo>
                <a:lnTo>
                  <a:pt x="424503" y="751441"/>
                </a:lnTo>
                <a:lnTo>
                  <a:pt x="377190" y="75438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859688" y="5420360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7079" y="5142229"/>
            <a:ext cx="6598920" cy="1078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Stop</a:t>
            </a:r>
            <a:r>
              <a:rPr dirty="0" sz="2700" spc="-6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breached</a:t>
            </a:r>
            <a:r>
              <a:rPr dirty="0" sz="2700" spc="-5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2700" spc="-6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at</a:t>
            </a:r>
            <a:r>
              <a:rPr dirty="0" sz="2700" spc="-5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700" spc="-5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20" b="1">
                <a:solidFill>
                  <a:srgbClr val="252525"/>
                </a:solidFill>
                <a:latin typeface="Calibri"/>
                <a:cs typeface="Calibri"/>
              </a:rPr>
              <a:t>door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480"/>
              </a:lnSpc>
              <a:spcBef>
                <a:spcPts val="17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Check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against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known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leaks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without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password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leaving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the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device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recoverable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form.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72500" y="7063739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377190" y="754380"/>
                </a:moveTo>
                <a:lnTo>
                  <a:pt x="329877" y="751441"/>
                </a:lnTo>
                <a:lnTo>
                  <a:pt x="284317" y="742860"/>
                </a:lnTo>
                <a:lnTo>
                  <a:pt x="240865" y="728990"/>
                </a:lnTo>
                <a:lnTo>
                  <a:pt x="199873" y="710185"/>
                </a:lnTo>
                <a:lnTo>
                  <a:pt x="161695" y="686798"/>
                </a:lnTo>
                <a:lnTo>
                  <a:pt x="126684" y="659184"/>
                </a:lnTo>
                <a:lnTo>
                  <a:pt x="95195" y="627695"/>
                </a:lnTo>
                <a:lnTo>
                  <a:pt x="67581" y="592684"/>
                </a:lnTo>
                <a:lnTo>
                  <a:pt x="44194" y="554506"/>
                </a:lnTo>
                <a:lnTo>
                  <a:pt x="25389" y="513515"/>
                </a:lnTo>
                <a:lnTo>
                  <a:pt x="11520" y="470062"/>
                </a:lnTo>
                <a:lnTo>
                  <a:pt x="2938" y="424503"/>
                </a:lnTo>
                <a:lnTo>
                  <a:pt x="0" y="377190"/>
                </a:lnTo>
                <a:lnTo>
                  <a:pt x="2938" y="329877"/>
                </a:lnTo>
                <a:lnTo>
                  <a:pt x="11520" y="284317"/>
                </a:lnTo>
                <a:lnTo>
                  <a:pt x="25389" y="240865"/>
                </a:lnTo>
                <a:lnTo>
                  <a:pt x="44194" y="199873"/>
                </a:lnTo>
                <a:lnTo>
                  <a:pt x="67581" y="161695"/>
                </a:lnTo>
                <a:lnTo>
                  <a:pt x="95195" y="126684"/>
                </a:lnTo>
                <a:lnTo>
                  <a:pt x="126684" y="95195"/>
                </a:lnTo>
                <a:lnTo>
                  <a:pt x="161695" y="67581"/>
                </a:lnTo>
                <a:lnTo>
                  <a:pt x="199873" y="44194"/>
                </a:lnTo>
                <a:lnTo>
                  <a:pt x="240865" y="25389"/>
                </a:lnTo>
                <a:lnTo>
                  <a:pt x="284317" y="11520"/>
                </a:lnTo>
                <a:lnTo>
                  <a:pt x="329877" y="2938"/>
                </a:lnTo>
                <a:lnTo>
                  <a:pt x="377190" y="0"/>
                </a:lnTo>
                <a:lnTo>
                  <a:pt x="424503" y="2938"/>
                </a:lnTo>
                <a:lnTo>
                  <a:pt x="470062" y="11520"/>
                </a:lnTo>
                <a:lnTo>
                  <a:pt x="513515" y="25389"/>
                </a:lnTo>
                <a:lnTo>
                  <a:pt x="554506" y="44194"/>
                </a:lnTo>
                <a:lnTo>
                  <a:pt x="592684" y="67581"/>
                </a:lnTo>
                <a:lnTo>
                  <a:pt x="627695" y="95195"/>
                </a:lnTo>
                <a:lnTo>
                  <a:pt x="659184" y="126684"/>
                </a:lnTo>
                <a:lnTo>
                  <a:pt x="686798" y="161695"/>
                </a:lnTo>
                <a:lnTo>
                  <a:pt x="710185" y="199873"/>
                </a:lnTo>
                <a:lnTo>
                  <a:pt x="728990" y="240865"/>
                </a:lnTo>
                <a:lnTo>
                  <a:pt x="742860" y="284317"/>
                </a:lnTo>
                <a:lnTo>
                  <a:pt x="751441" y="329877"/>
                </a:lnTo>
                <a:lnTo>
                  <a:pt x="754380" y="377190"/>
                </a:lnTo>
                <a:lnTo>
                  <a:pt x="751441" y="424503"/>
                </a:lnTo>
                <a:lnTo>
                  <a:pt x="742860" y="470062"/>
                </a:lnTo>
                <a:lnTo>
                  <a:pt x="728990" y="513515"/>
                </a:lnTo>
                <a:lnTo>
                  <a:pt x="710185" y="554506"/>
                </a:lnTo>
                <a:lnTo>
                  <a:pt x="686798" y="592684"/>
                </a:lnTo>
                <a:lnTo>
                  <a:pt x="659184" y="627695"/>
                </a:lnTo>
                <a:lnTo>
                  <a:pt x="627695" y="659184"/>
                </a:lnTo>
                <a:lnTo>
                  <a:pt x="592684" y="686798"/>
                </a:lnTo>
                <a:lnTo>
                  <a:pt x="554506" y="710185"/>
                </a:lnTo>
                <a:lnTo>
                  <a:pt x="513515" y="728990"/>
                </a:lnTo>
                <a:lnTo>
                  <a:pt x="470062" y="742860"/>
                </a:lnTo>
                <a:lnTo>
                  <a:pt x="424503" y="751441"/>
                </a:lnTo>
                <a:lnTo>
                  <a:pt x="377190" y="75438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859688" y="7203440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57079" y="6925309"/>
            <a:ext cx="6072505" cy="1078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Make</a:t>
            </a:r>
            <a:r>
              <a:rPr dirty="0" sz="2700" spc="-4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good</a:t>
            </a:r>
            <a:r>
              <a:rPr dirty="0" sz="27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advice</a:t>
            </a:r>
            <a:r>
              <a:rPr dirty="0" sz="2700" spc="-4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easy</a:t>
            </a:r>
            <a:r>
              <a:rPr dirty="0" sz="27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dirty="0" sz="2700" spc="-4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252525"/>
                </a:solidFill>
                <a:latin typeface="Calibri"/>
                <a:cs typeface="Calibri"/>
              </a:rPr>
              <a:t>follow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480"/>
              </a:lnSpc>
              <a:spcBef>
                <a:spcPts val="17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Plain-language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fixes</a:t>
            </a:r>
            <a:r>
              <a:rPr dirty="0" sz="21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21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passphrase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nudges</a:t>
            </a:r>
            <a:r>
              <a:rPr dirty="0" sz="21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that</a:t>
            </a:r>
            <a:r>
              <a:rPr dirty="0" sz="21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people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actually act 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on.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62709" y="781799"/>
            <a:ext cx="646176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Problem</a:t>
            </a:r>
            <a:r>
              <a:rPr dirty="0" spc="-225"/>
              <a:t> </a:t>
            </a:r>
            <a:r>
              <a:rPr dirty="0" spc="-80"/>
              <a:t>Statement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8899" y="2452369"/>
            <a:ext cx="1485201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Password</a:t>
            </a:r>
            <a:r>
              <a:rPr dirty="0" sz="30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checkers</a:t>
            </a:r>
            <a:r>
              <a:rPr dirty="0" sz="30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measure</a:t>
            </a:r>
            <a:r>
              <a:rPr dirty="0" sz="30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whether</a:t>
            </a:r>
            <a:r>
              <a:rPr dirty="0" sz="30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30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password</a:t>
            </a:r>
            <a:r>
              <a:rPr dirty="0" sz="30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BF0000"/>
                </a:solidFill>
                <a:latin typeface="Calibri"/>
                <a:cs typeface="Calibri"/>
              </a:rPr>
              <a:t>looks</a:t>
            </a:r>
            <a:r>
              <a:rPr dirty="0" sz="3000" spc="-2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BF0000"/>
                </a:solidFill>
                <a:latin typeface="Calibri"/>
                <a:cs typeface="Calibri"/>
              </a:rPr>
              <a:t>complex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,</a:t>
            </a:r>
            <a:r>
              <a:rPr dirty="0" sz="30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not</a:t>
            </a:r>
            <a:r>
              <a:rPr dirty="0" sz="30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whether</a:t>
            </a:r>
            <a:r>
              <a:rPr dirty="0" sz="30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dirty="0" sz="30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attacker</a:t>
            </a:r>
            <a:r>
              <a:rPr dirty="0" sz="30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252525"/>
                </a:solidFill>
                <a:latin typeface="Calibri"/>
                <a:cs typeface="Calibri"/>
              </a:rPr>
              <a:t>could </a:t>
            </a:r>
            <a:r>
              <a:rPr dirty="0" sz="3000">
                <a:solidFill>
                  <a:srgbClr val="252525"/>
                </a:solidFill>
                <a:latin typeface="Calibri"/>
                <a:cs typeface="Calibri"/>
              </a:rPr>
              <a:t>actually guess </a:t>
            </a:r>
            <a:r>
              <a:rPr dirty="0" sz="3000" spc="-25">
                <a:solidFill>
                  <a:srgbClr val="252525"/>
                </a:solidFill>
                <a:latin typeface="Calibri"/>
                <a:cs typeface="Calibri"/>
              </a:rPr>
              <a:t>it.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28699" y="3909059"/>
            <a:ext cx="4937760" cy="4937760"/>
          </a:xfrm>
          <a:custGeom>
            <a:avLst/>
            <a:gdLst/>
            <a:ahLst/>
            <a:cxnLst/>
            <a:rect l="l" t="t" r="r" b="b"/>
            <a:pathLst>
              <a:path w="4937760" h="4937759">
                <a:moveTo>
                  <a:pt x="4690871" y="4937759"/>
                </a:moveTo>
                <a:lnTo>
                  <a:pt x="246887" y="4937759"/>
                </a:lnTo>
                <a:lnTo>
                  <a:pt x="197118" y="4932745"/>
                </a:lnTo>
                <a:lnTo>
                  <a:pt x="150768" y="4918364"/>
                </a:lnTo>
                <a:lnTo>
                  <a:pt x="108830" y="4895607"/>
                </a:lnTo>
                <a:lnTo>
                  <a:pt x="72294" y="4865465"/>
                </a:lnTo>
                <a:lnTo>
                  <a:pt x="42152" y="4828929"/>
                </a:lnTo>
                <a:lnTo>
                  <a:pt x="19395" y="4786990"/>
                </a:lnTo>
                <a:lnTo>
                  <a:pt x="5014" y="4740641"/>
                </a:lnTo>
                <a:lnTo>
                  <a:pt x="0" y="4690871"/>
                </a:lnTo>
                <a:lnTo>
                  <a:pt x="0" y="246887"/>
                </a:lnTo>
                <a:lnTo>
                  <a:pt x="5014" y="197118"/>
                </a:lnTo>
                <a:lnTo>
                  <a:pt x="19395" y="150768"/>
                </a:lnTo>
                <a:lnTo>
                  <a:pt x="42152" y="108830"/>
                </a:lnTo>
                <a:lnTo>
                  <a:pt x="72294" y="72294"/>
                </a:lnTo>
                <a:lnTo>
                  <a:pt x="108830" y="42152"/>
                </a:lnTo>
                <a:lnTo>
                  <a:pt x="150768" y="19395"/>
                </a:lnTo>
                <a:lnTo>
                  <a:pt x="197118" y="5014"/>
                </a:lnTo>
                <a:lnTo>
                  <a:pt x="246887" y="0"/>
                </a:lnTo>
                <a:lnTo>
                  <a:pt x="4690871" y="0"/>
                </a:lnTo>
                <a:lnTo>
                  <a:pt x="4740641" y="5014"/>
                </a:lnTo>
                <a:lnTo>
                  <a:pt x="4786990" y="19395"/>
                </a:lnTo>
                <a:lnTo>
                  <a:pt x="4828929" y="42152"/>
                </a:lnTo>
                <a:lnTo>
                  <a:pt x="4865465" y="72294"/>
                </a:lnTo>
                <a:lnTo>
                  <a:pt x="4895607" y="108830"/>
                </a:lnTo>
                <a:lnTo>
                  <a:pt x="4918364" y="150768"/>
                </a:lnTo>
                <a:lnTo>
                  <a:pt x="4932745" y="197118"/>
                </a:lnTo>
                <a:lnTo>
                  <a:pt x="4937759" y="246887"/>
                </a:lnTo>
                <a:lnTo>
                  <a:pt x="4937759" y="4690871"/>
                </a:lnTo>
                <a:lnTo>
                  <a:pt x="4932745" y="4740641"/>
                </a:lnTo>
                <a:lnTo>
                  <a:pt x="4918364" y="4786990"/>
                </a:lnTo>
                <a:lnTo>
                  <a:pt x="4895607" y="4828929"/>
                </a:lnTo>
                <a:lnTo>
                  <a:pt x="4865465" y="4865465"/>
                </a:lnTo>
                <a:lnTo>
                  <a:pt x="4828929" y="4895607"/>
                </a:lnTo>
                <a:lnTo>
                  <a:pt x="4786990" y="4918364"/>
                </a:lnTo>
                <a:lnTo>
                  <a:pt x="4740641" y="4932745"/>
                </a:lnTo>
                <a:lnTo>
                  <a:pt x="4690871" y="493775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54100" y="3414348"/>
            <a:ext cx="4777740" cy="3616960"/>
          </a:xfrm>
          <a:prstGeom prst="rect">
            <a:avLst/>
          </a:prstGeom>
        </p:spPr>
        <p:txBody>
          <a:bodyPr wrap="square" lIns="0" tIns="586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15"/>
              </a:spcBef>
            </a:pPr>
            <a:r>
              <a:rPr dirty="0" sz="9900" spc="-25" b="1">
                <a:solidFill>
                  <a:srgbClr val="FFFFFF"/>
                </a:solidFill>
                <a:latin typeface="Calibri"/>
                <a:cs typeface="Calibri"/>
              </a:rPr>
              <a:t>22%</a:t>
            </a:r>
            <a:endParaRPr sz="99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  <a:spcBef>
                <a:spcPts val="109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breaches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began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stolen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abused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credentials,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dirty="0" sz="2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common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way 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in.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115"/>
              </a:lnSpc>
            </a:pPr>
            <a:r>
              <a:rPr dirty="0" sz="1800">
                <a:solidFill>
                  <a:srgbClr val="F4CCCC"/>
                </a:solidFill>
                <a:latin typeface="Calibri"/>
                <a:cs typeface="Calibri"/>
              </a:rPr>
              <a:t>Verizon</a:t>
            </a:r>
            <a:r>
              <a:rPr dirty="0" sz="1800" spc="-30">
                <a:solidFill>
                  <a:srgbClr val="F4CCC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4CCCC"/>
                </a:solidFill>
                <a:latin typeface="Calibri"/>
                <a:cs typeface="Calibri"/>
              </a:rPr>
              <a:t>DBIR</a:t>
            </a:r>
            <a:r>
              <a:rPr dirty="0" sz="1800" spc="-30">
                <a:solidFill>
                  <a:srgbClr val="F4CCCC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4CCCC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20840" y="3909059"/>
            <a:ext cx="10189845" cy="1536700"/>
          </a:xfrm>
          <a:custGeom>
            <a:avLst/>
            <a:gdLst/>
            <a:ahLst/>
            <a:cxnLst/>
            <a:rect l="l" t="t" r="r" b="b"/>
            <a:pathLst>
              <a:path w="10189844" h="1536700">
                <a:moveTo>
                  <a:pt x="10114216" y="1536191"/>
                </a:moveTo>
                <a:lnTo>
                  <a:pt x="76771" y="1536191"/>
                </a:lnTo>
                <a:lnTo>
                  <a:pt x="46894" y="1530157"/>
                </a:lnTo>
                <a:lnTo>
                  <a:pt x="22491" y="1513701"/>
                </a:lnTo>
                <a:lnTo>
                  <a:pt x="6035" y="1489297"/>
                </a:lnTo>
                <a:lnTo>
                  <a:pt x="0" y="1459420"/>
                </a:lnTo>
                <a:lnTo>
                  <a:pt x="0" y="76771"/>
                </a:lnTo>
                <a:lnTo>
                  <a:pt x="6035" y="46894"/>
                </a:lnTo>
                <a:lnTo>
                  <a:pt x="22491" y="22490"/>
                </a:lnTo>
                <a:lnTo>
                  <a:pt x="46894" y="6035"/>
                </a:lnTo>
                <a:lnTo>
                  <a:pt x="76771" y="0"/>
                </a:lnTo>
                <a:lnTo>
                  <a:pt x="10114216" y="0"/>
                </a:lnTo>
                <a:lnTo>
                  <a:pt x="10144093" y="6035"/>
                </a:lnTo>
                <a:lnTo>
                  <a:pt x="10168497" y="22490"/>
                </a:lnTo>
                <a:lnTo>
                  <a:pt x="10184952" y="46894"/>
                </a:lnTo>
                <a:lnTo>
                  <a:pt x="10189272" y="68280"/>
                </a:lnTo>
                <a:lnTo>
                  <a:pt x="10189272" y="1467911"/>
                </a:lnTo>
                <a:lnTo>
                  <a:pt x="10184952" y="1489297"/>
                </a:lnTo>
                <a:lnTo>
                  <a:pt x="10168497" y="1513701"/>
                </a:lnTo>
                <a:lnTo>
                  <a:pt x="10144093" y="1530157"/>
                </a:lnTo>
                <a:lnTo>
                  <a:pt x="10114216" y="1536191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46239" y="4256179"/>
            <a:ext cx="8438515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Rules</a:t>
            </a:r>
            <a:r>
              <a:rPr dirty="0" sz="27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reward</a:t>
            </a:r>
            <a:r>
              <a:rPr dirty="0" sz="27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7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wrong</a:t>
            </a:r>
            <a:r>
              <a:rPr dirty="0" sz="27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252525"/>
                </a:solidFill>
                <a:latin typeface="Calibri"/>
                <a:cs typeface="Calibri"/>
              </a:rPr>
              <a:t>things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Password1!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passes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every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complexity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rule,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yet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it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sits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every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attacker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wordlist.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20840" y="5609844"/>
            <a:ext cx="10189845" cy="1536700"/>
          </a:xfrm>
          <a:custGeom>
            <a:avLst/>
            <a:gdLst/>
            <a:ahLst/>
            <a:cxnLst/>
            <a:rect l="l" t="t" r="r" b="b"/>
            <a:pathLst>
              <a:path w="10189844" h="1536700">
                <a:moveTo>
                  <a:pt x="10114216" y="1536191"/>
                </a:moveTo>
                <a:lnTo>
                  <a:pt x="76771" y="1536191"/>
                </a:lnTo>
                <a:lnTo>
                  <a:pt x="46894" y="1530156"/>
                </a:lnTo>
                <a:lnTo>
                  <a:pt x="22491" y="1513700"/>
                </a:lnTo>
                <a:lnTo>
                  <a:pt x="6035" y="1489297"/>
                </a:lnTo>
                <a:lnTo>
                  <a:pt x="0" y="1459420"/>
                </a:lnTo>
                <a:lnTo>
                  <a:pt x="0" y="76771"/>
                </a:lnTo>
                <a:lnTo>
                  <a:pt x="22491" y="22491"/>
                </a:lnTo>
                <a:lnTo>
                  <a:pt x="76771" y="0"/>
                </a:lnTo>
                <a:lnTo>
                  <a:pt x="10114216" y="0"/>
                </a:lnTo>
                <a:lnTo>
                  <a:pt x="10144093" y="6035"/>
                </a:lnTo>
                <a:lnTo>
                  <a:pt x="10168497" y="22491"/>
                </a:lnTo>
                <a:lnTo>
                  <a:pt x="10184952" y="46894"/>
                </a:lnTo>
                <a:lnTo>
                  <a:pt x="10189272" y="68280"/>
                </a:lnTo>
                <a:lnTo>
                  <a:pt x="10189272" y="1467911"/>
                </a:lnTo>
                <a:lnTo>
                  <a:pt x="10184952" y="1489297"/>
                </a:lnTo>
                <a:lnTo>
                  <a:pt x="10168497" y="1513700"/>
                </a:lnTo>
                <a:lnTo>
                  <a:pt x="10144093" y="1530156"/>
                </a:lnTo>
                <a:lnTo>
                  <a:pt x="10114216" y="1536191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746239" y="5795039"/>
            <a:ext cx="9713595" cy="1078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Breached</a:t>
            </a:r>
            <a:r>
              <a:rPr dirty="0" sz="2700" spc="-9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2700" spc="-9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pass</a:t>
            </a:r>
            <a:r>
              <a:rPr dirty="0" sz="2700" spc="-9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252525"/>
                </a:solidFill>
                <a:latin typeface="Calibri"/>
                <a:cs typeface="Calibri"/>
              </a:rPr>
              <a:t>silently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480"/>
              </a:lnSpc>
              <a:spcBef>
                <a:spcPts val="17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strong-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looking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password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that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has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already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leaked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worthless,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many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checkers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never look.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20840" y="7310627"/>
            <a:ext cx="10189845" cy="1536700"/>
          </a:xfrm>
          <a:custGeom>
            <a:avLst/>
            <a:gdLst/>
            <a:ahLst/>
            <a:cxnLst/>
            <a:rect l="l" t="t" r="r" b="b"/>
            <a:pathLst>
              <a:path w="10189844" h="1536700">
                <a:moveTo>
                  <a:pt x="10114216" y="1536191"/>
                </a:moveTo>
                <a:lnTo>
                  <a:pt x="76771" y="1536191"/>
                </a:lnTo>
                <a:lnTo>
                  <a:pt x="46894" y="1530157"/>
                </a:lnTo>
                <a:lnTo>
                  <a:pt x="22491" y="1513701"/>
                </a:lnTo>
                <a:lnTo>
                  <a:pt x="6035" y="1489297"/>
                </a:lnTo>
                <a:lnTo>
                  <a:pt x="0" y="1459420"/>
                </a:lnTo>
                <a:lnTo>
                  <a:pt x="0" y="76771"/>
                </a:lnTo>
                <a:lnTo>
                  <a:pt x="6035" y="46894"/>
                </a:lnTo>
                <a:lnTo>
                  <a:pt x="22491" y="22491"/>
                </a:lnTo>
                <a:lnTo>
                  <a:pt x="46894" y="6035"/>
                </a:lnTo>
                <a:lnTo>
                  <a:pt x="76771" y="0"/>
                </a:lnTo>
                <a:lnTo>
                  <a:pt x="10114216" y="0"/>
                </a:lnTo>
                <a:lnTo>
                  <a:pt x="10144093" y="6035"/>
                </a:lnTo>
                <a:lnTo>
                  <a:pt x="10168497" y="22491"/>
                </a:lnTo>
                <a:lnTo>
                  <a:pt x="10184952" y="46894"/>
                </a:lnTo>
                <a:lnTo>
                  <a:pt x="10189272" y="68280"/>
                </a:lnTo>
                <a:lnTo>
                  <a:pt x="10189272" y="1467911"/>
                </a:lnTo>
                <a:lnTo>
                  <a:pt x="10184952" y="1489297"/>
                </a:lnTo>
                <a:lnTo>
                  <a:pt x="10168497" y="1513701"/>
                </a:lnTo>
                <a:lnTo>
                  <a:pt x="10144093" y="1530157"/>
                </a:lnTo>
                <a:lnTo>
                  <a:pt x="10114216" y="1536191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46239" y="7657748"/>
            <a:ext cx="7701280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Feedback</a:t>
            </a:r>
            <a:r>
              <a:rPr dirty="0" sz="2700" spc="-7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does</a:t>
            </a:r>
            <a:r>
              <a:rPr dirty="0" sz="2700" spc="-6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not</a:t>
            </a:r>
            <a:r>
              <a:rPr dirty="0" sz="2700" spc="-6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20" b="1">
                <a:solidFill>
                  <a:srgbClr val="252525"/>
                </a:solidFill>
                <a:latin typeface="Calibri"/>
                <a:cs typeface="Calibri"/>
              </a:rPr>
              <a:t>help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bare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"too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weak"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tells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people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nothing,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so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they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add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"!"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move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on.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Research</a:t>
            </a:r>
            <a:r>
              <a:rPr dirty="0" spc="-235"/>
              <a:t> </a:t>
            </a:r>
            <a:r>
              <a:rPr dirty="0"/>
              <a:t>/</a:t>
            </a:r>
            <a:r>
              <a:rPr dirty="0" spc="-235"/>
              <a:t> </a:t>
            </a:r>
            <a:r>
              <a:rPr dirty="0" spc="-95"/>
              <a:t>Facts</a:t>
            </a:r>
            <a:r>
              <a:rPr dirty="0" spc="-235"/>
              <a:t> </a:t>
            </a:r>
            <a:r>
              <a:rPr dirty="0"/>
              <a:t>/</a:t>
            </a:r>
            <a:r>
              <a:rPr dirty="0" spc="-235"/>
              <a:t> </a:t>
            </a:r>
            <a:r>
              <a:rPr dirty="0" spc="-95"/>
              <a:t>Market</a:t>
            </a:r>
            <a:r>
              <a:rPr dirty="0" spc="-235"/>
              <a:t> </a:t>
            </a:r>
            <a:r>
              <a:rPr dirty="0"/>
              <a:t>&amp;</a:t>
            </a:r>
            <a:r>
              <a:rPr dirty="0" spc="-235"/>
              <a:t> </a:t>
            </a:r>
            <a:r>
              <a:rPr dirty="0" spc="-100"/>
              <a:t>Industry</a:t>
            </a:r>
            <a:r>
              <a:rPr dirty="0" spc="-250"/>
              <a:t> </a:t>
            </a:r>
            <a:r>
              <a:rPr dirty="0" spc="-20"/>
              <a:t>Study</a:t>
            </a:r>
          </a:p>
        </p:txBody>
      </p:sp>
      <p:sp>
        <p:nvSpPr>
          <p:cNvPr id="6" name="object 6"/>
          <p:cNvSpPr/>
          <p:nvPr/>
        </p:nvSpPr>
        <p:spPr>
          <a:xfrm>
            <a:off x="1371600" y="2400300"/>
            <a:ext cx="4937125" cy="2948940"/>
          </a:xfrm>
          <a:custGeom>
            <a:avLst/>
            <a:gdLst/>
            <a:ahLst/>
            <a:cxnLst/>
            <a:rect l="l" t="t" r="r" b="b"/>
            <a:pathLst>
              <a:path w="4937125" h="2948940">
                <a:moveTo>
                  <a:pt x="4790312" y="2948939"/>
                </a:moveTo>
                <a:lnTo>
                  <a:pt x="147447" y="2948939"/>
                </a:lnTo>
                <a:lnTo>
                  <a:pt x="100840" y="2941423"/>
                </a:lnTo>
                <a:lnTo>
                  <a:pt x="60364" y="2920492"/>
                </a:lnTo>
                <a:lnTo>
                  <a:pt x="28447" y="2888575"/>
                </a:lnTo>
                <a:lnTo>
                  <a:pt x="7516" y="2848099"/>
                </a:lnTo>
                <a:lnTo>
                  <a:pt x="0" y="2801492"/>
                </a:lnTo>
                <a:lnTo>
                  <a:pt x="0" y="147447"/>
                </a:lnTo>
                <a:lnTo>
                  <a:pt x="7516" y="100840"/>
                </a:lnTo>
                <a:lnTo>
                  <a:pt x="28447" y="60364"/>
                </a:lnTo>
                <a:lnTo>
                  <a:pt x="60364" y="28447"/>
                </a:lnTo>
                <a:lnTo>
                  <a:pt x="100840" y="7516"/>
                </a:lnTo>
                <a:lnTo>
                  <a:pt x="147447" y="0"/>
                </a:lnTo>
                <a:lnTo>
                  <a:pt x="4790312" y="0"/>
                </a:lnTo>
                <a:lnTo>
                  <a:pt x="4836919" y="7516"/>
                </a:lnTo>
                <a:lnTo>
                  <a:pt x="4877395" y="28447"/>
                </a:lnTo>
                <a:lnTo>
                  <a:pt x="4909312" y="60364"/>
                </a:lnTo>
                <a:lnTo>
                  <a:pt x="4930243" y="100840"/>
                </a:lnTo>
                <a:lnTo>
                  <a:pt x="4937096" y="143332"/>
                </a:lnTo>
                <a:lnTo>
                  <a:pt x="4937096" y="2805607"/>
                </a:lnTo>
                <a:lnTo>
                  <a:pt x="4930243" y="2848099"/>
                </a:lnTo>
                <a:lnTo>
                  <a:pt x="4909312" y="2888575"/>
                </a:lnTo>
                <a:lnTo>
                  <a:pt x="4877395" y="2920492"/>
                </a:lnTo>
                <a:lnTo>
                  <a:pt x="4836919" y="2941423"/>
                </a:lnTo>
                <a:lnTo>
                  <a:pt x="4790312" y="2948939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96999" y="2293415"/>
            <a:ext cx="4626610" cy="2729230"/>
          </a:xfrm>
          <a:prstGeom prst="rect">
            <a:avLst/>
          </a:prstGeom>
        </p:spPr>
        <p:txBody>
          <a:bodyPr wrap="square" lIns="0" tIns="403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75"/>
              </a:spcBef>
            </a:pPr>
            <a:r>
              <a:rPr dirty="0" sz="8100" spc="-25" b="1">
                <a:solidFill>
                  <a:srgbClr val="BF0000"/>
                </a:solidFill>
                <a:latin typeface="Calibri"/>
                <a:cs typeface="Calibri"/>
              </a:rPr>
              <a:t>22%</a:t>
            </a:r>
            <a:endParaRPr sz="8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55"/>
              </a:spcBef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dirty="0" sz="22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breaches</a:t>
            </a:r>
            <a:r>
              <a:rPr dirty="0" sz="22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start</a:t>
            </a:r>
            <a:r>
              <a:rPr dirty="0" sz="22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dirty="0" sz="22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credential</a:t>
            </a:r>
            <a:r>
              <a:rPr dirty="0" sz="22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abuse,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top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entry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point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Verizon</a:t>
            </a:r>
            <a:r>
              <a:rPr dirty="0" sz="18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DBIR</a:t>
            </a:r>
            <a:r>
              <a:rPr dirty="0" sz="18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85858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72833" y="2400300"/>
            <a:ext cx="4937125" cy="2948940"/>
          </a:xfrm>
          <a:custGeom>
            <a:avLst/>
            <a:gdLst/>
            <a:ahLst/>
            <a:cxnLst/>
            <a:rect l="l" t="t" r="r" b="b"/>
            <a:pathLst>
              <a:path w="4937125" h="2948940">
                <a:moveTo>
                  <a:pt x="4790312" y="2948939"/>
                </a:moveTo>
                <a:lnTo>
                  <a:pt x="147447" y="2948939"/>
                </a:lnTo>
                <a:lnTo>
                  <a:pt x="100840" y="2941423"/>
                </a:lnTo>
                <a:lnTo>
                  <a:pt x="60364" y="2920492"/>
                </a:lnTo>
                <a:lnTo>
                  <a:pt x="28447" y="2888575"/>
                </a:lnTo>
                <a:lnTo>
                  <a:pt x="7516" y="2848099"/>
                </a:lnTo>
                <a:lnTo>
                  <a:pt x="0" y="2801492"/>
                </a:lnTo>
                <a:lnTo>
                  <a:pt x="0" y="147447"/>
                </a:lnTo>
                <a:lnTo>
                  <a:pt x="7516" y="100840"/>
                </a:lnTo>
                <a:lnTo>
                  <a:pt x="28447" y="60364"/>
                </a:lnTo>
                <a:lnTo>
                  <a:pt x="60364" y="28447"/>
                </a:lnTo>
                <a:lnTo>
                  <a:pt x="100840" y="7516"/>
                </a:lnTo>
                <a:lnTo>
                  <a:pt x="147447" y="0"/>
                </a:lnTo>
                <a:lnTo>
                  <a:pt x="4790312" y="0"/>
                </a:lnTo>
                <a:lnTo>
                  <a:pt x="4836919" y="7516"/>
                </a:lnTo>
                <a:lnTo>
                  <a:pt x="4877395" y="28447"/>
                </a:lnTo>
                <a:lnTo>
                  <a:pt x="4909312" y="60364"/>
                </a:lnTo>
                <a:lnTo>
                  <a:pt x="4930243" y="100840"/>
                </a:lnTo>
                <a:lnTo>
                  <a:pt x="4937096" y="143331"/>
                </a:lnTo>
                <a:lnTo>
                  <a:pt x="4937096" y="2805608"/>
                </a:lnTo>
                <a:lnTo>
                  <a:pt x="4930243" y="2848099"/>
                </a:lnTo>
                <a:lnTo>
                  <a:pt x="4909312" y="2888575"/>
                </a:lnTo>
                <a:lnTo>
                  <a:pt x="4877395" y="2920492"/>
                </a:lnTo>
                <a:lnTo>
                  <a:pt x="4836919" y="2941423"/>
                </a:lnTo>
                <a:lnTo>
                  <a:pt x="4790312" y="2948939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98233" y="2293415"/>
            <a:ext cx="4184650" cy="2729230"/>
          </a:xfrm>
          <a:prstGeom prst="rect">
            <a:avLst/>
          </a:prstGeom>
        </p:spPr>
        <p:txBody>
          <a:bodyPr wrap="square" lIns="0" tIns="403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75"/>
              </a:spcBef>
            </a:pPr>
            <a:r>
              <a:rPr dirty="0" sz="8100" spc="-25" b="1">
                <a:solidFill>
                  <a:srgbClr val="BF0000"/>
                </a:solidFill>
                <a:latin typeface="Calibri"/>
                <a:cs typeface="Calibri"/>
              </a:rPr>
              <a:t>15</a:t>
            </a:r>
            <a:endParaRPr sz="8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55"/>
              </a:spcBef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characters: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NIST’s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minimum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when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252525"/>
                </a:solidFill>
                <a:latin typeface="Calibri"/>
                <a:cs typeface="Calibri"/>
              </a:rPr>
              <a:t>a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password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2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only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login</a:t>
            </a:r>
            <a:r>
              <a:rPr dirty="0" sz="22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252525"/>
                </a:solidFill>
                <a:latin typeface="Calibri"/>
                <a:cs typeface="Calibri"/>
              </a:rPr>
              <a:t>factor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NIST</a:t>
            </a: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SP</a:t>
            </a:r>
            <a:r>
              <a:rPr dirty="0" sz="18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800-63B-4,</a:t>
            </a: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Aug</a:t>
            </a:r>
            <a:r>
              <a:rPr dirty="0" sz="18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85858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974067" y="2400300"/>
            <a:ext cx="4937125" cy="2948940"/>
          </a:xfrm>
          <a:custGeom>
            <a:avLst/>
            <a:gdLst/>
            <a:ahLst/>
            <a:cxnLst/>
            <a:rect l="l" t="t" r="r" b="b"/>
            <a:pathLst>
              <a:path w="4937125" h="2948940">
                <a:moveTo>
                  <a:pt x="4790312" y="2948939"/>
                </a:moveTo>
                <a:lnTo>
                  <a:pt x="147447" y="2948939"/>
                </a:lnTo>
                <a:lnTo>
                  <a:pt x="100840" y="2941423"/>
                </a:lnTo>
                <a:lnTo>
                  <a:pt x="60364" y="2920492"/>
                </a:lnTo>
                <a:lnTo>
                  <a:pt x="28447" y="2888575"/>
                </a:lnTo>
                <a:lnTo>
                  <a:pt x="7516" y="2848099"/>
                </a:lnTo>
                <a:lnTo>
                  <a:pt x="0" y="2801492"/>
                </a:lnTo>
                <a:lnTo>
                  <a:pt x="0" y="147447"/>
                </a:lnTo>
                <a:lnTo>
                  <a:pt x="7516" y="100840"/>
                </a:lnTo>
                <a:lnTo>
                  <a:pt x="28447" y="60364"/>
                </a:lnTo>
                <a:lnTo>
                  <a:pt x="60364" y="28447"/>
                </a:lnTo>
                <a:lnTo>
                  <a:pt x="100840" y="7516"/>
                </a:lnTo>
                <a:lnTo>
                  <a:pt x="147447" y="0"/>
                </a:lnTo>
                <a:lnTo>
                  <a:pt x="4790312" y="0"/>
                </a:lnTo>
                <a:lnTo>
                  <a:pt x="4836919" y="7516"/>
                </a:lnTo>
                <a:lnTo>
                  <a:pt x="4877395" y="28447"/>
                </a:lnTo>
                <a:lnTo>
                  <a:pt x="4909312" y="60364"/>
                </a:lnTo>
                <a:lnTo>
                  <a:pt x="4930243" y="100840"/>
                </a:lnTo>
                <a:lnTo>
                  <a:pt x="4937096" y="143331"/>
                </a:lnTo>
                <a:lnTo>
                  <a:pt x="4937096" y="2805608"/>
                </a:lnTo>
                <a:lnTo>
                  <a:pt x="4930243" y="2848099"/>
                </a:lnTo>
                <a:lnTo>
                  <a:pt x="4909312" y="2888575"/>
                </a:lnTo>
                <a:lnTo>
                  <a:pt x="4877395" y="2920492"/>
                </a:lnTo>
                <a:lnTo>
                  <a:pt x="4836919" y="2941423"/>
                </a:lnTo>
                <a:lnTo>
                  <a:pt x="4790312" y="2948939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999467" y="2293415"/>
            <a:ext cx="4584065" cy="2729230"/>
          </a:xfrm>
          <a:prstGeom prst="rect">
            <a:avLst/>
          </a:prstGeom>
        </p:spPr>
        <p:txBody>
          <a:bodyPr wrap="square" lIns="0" tIns="403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75"/>
              </a:spcBef>
            </a:pPr>
            <a:r>
              <a:rPr dirty="0" sz="8100" spc="-10" b="1">
                <a:solidFill>
                  <a:srgbClr val="BF0000"/>
                </a:solidFill>
                <a:latin typeface="Calibri"/>
                <a:cs typeface="Calibri"/>
              </a:rPr>
              <a:t>800M+</a:t>
            </a:r>
            <a:endParaRPr sz="8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55"/>
              </a:spcBef>
            </a:pP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breached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2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Have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I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252525"/>
                </a:solidFill>
                <a:latin typeface="Calibri"/>
                <a:cs typeface="Calibri"/>
              </a:rPr>
              <a:t>Been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Pwned</a:t>
            </a:r>
            <a:r>
              <a:rPr dirty="0" sz="22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Pwned</a:t>
            </a:r>
            <a:r>
              <a:rPr dirty="0" sz="22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22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252525"/>
                </a:solidFill>
                <a:latin typeface="Calibri"/>
                <a:cs typeface="Calibri"/>
              </a:rPr>
              <a:t>list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haveibeenpwned.com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71600" y="5692139"/>
            <a:ext cx="15535910" cy="3154680"/>
            <a:chOff x="1371600" y="5692139"/>
            <a:chExt cx="15535910" cy="3154680"/>
          </a:xfrm>
        </p:grpSpPr>
        <p:sp>
          <p:nvSpPr>
            <p:cNvPr id="13" name="object 13"/>
            <p:cNvSpPr/>
            <p:nvPr/>
          </p:nvSpPr>
          <p:spPr>
            <a:xfrm>
              <a:off x="1371600" y="5692139"/>
              <a:ext cx="15535910" cy="3154680"/>
            </a:xfrm>
            <a:custGeom>
              <a:avLst/>
              <a:gdLst/>
              <a:ahLst/>
              <a:cxnLst/>
              <a:rect l="l" t="t" r="r" b="b"/>
              <a:pathLst>
                <a:path w="15535910" h="3154679">
                  <a:moveTo>
                    <a:pt x="15382494" y="3154679"/>
                  </a:moveTo>
                  <a:lnTo>
                    <a:pt x="157734" y="3154679"/>
                  </a:lnTo>
                  <a:lnTo>
                    <a:pt x="107862" y="3146642"/>
                  </a:lnTo>
                  <a:lnTo>
                    <a:pt x="64561" y="3124258"/>
                  </a:lnTo>
                  <a:lnTo>
                    <a:pt x="30422" y="3090119"/>
                  </a:lnTo>
                  <a:lnTo>
                    <a:pt x="8037" y="3046817"/>
                  </a:lnTo>
                  <a:lnTo>
                    <a:pt x="0" y="2996945"/>
                  </a:lnTo>
                  <a:lnTo>
                    <a:pt x="0" y="157734"/>
                  </a:lnTo>
                  <a:lnTo>
                    <a:pt x="8037" y="107862"/>
                  </a:lnTo>
                  <a:lnTo>
                    <a:pt x="30422" y="64561"/>
                  </a:lnTo>
                  <a:lnTo>
                    <a:pt x="64561" y="30422"/>
                  </a:lnTo>
                  <a:lnTo>
                    <a:pt x="107862" y="8037"/>
                  </a:lnTo>
                  <a:lnTo>
                    <a:pt x="157734" y="0"/>
                  </a:lnTo>
                  <a:lnTo>
                    <a:pt x="15382494" y="0"/>
                  </a:lnTo>
                  <a:lnTo>
                    <a:pt x="15432365" y="8037"/>
                  </a:lnTo>
                  <a:lnTo>
                    <a:pt x="15475666" y="30422"/>
                  </a:lnTo>
                  <a:lnTo>
                    <a:pt x="15509805" y="64561"/>
                  </a:lnTo>
                  <a:lnTo>
                    <a:pt x="15532189" y="107862"/>
                  </a:lnTo>
                  <a:lnTo>
                    <a:pt x="15535848" y="130567"/>
                  </a:lnTo>
                  <a:lnTo>
                    <a:pt x="15535848" y="3024112"/>
                  </a:lnTo>
                  <a:lnTo>
                    <a:pt x="15509805" y="3090119"/>
                  </a:lnTo>
                  <a:lnTo>
                    <a:pt x="15475666" y="3124258"/>
                  </a:lnTo>
                  <a:lnTo>
                    <a:pt x="15432365" y="3146642"/>
                  </a:lnTo>
                  <a:lnTo>
                    <a:pt x="15382494" y="315467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8774" y="6692264"/>
              <a:ext cx="76200" cy="761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8774" y="7416164"/>
              <a:ext cx="76200" cy="761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8774" y="7778114"/>
              <a:ext cx="76200" cy="761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831280" y="6489064"/>
            <a:ext cx="14227175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Standards</a:t>
            </a:r>
            <a:r>
              <a:rPr dirty="0" sz="2400" spc="-4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moved:</a:t>
            </a:r>
            <a:r>
              <a:rPr dirty="0" sz="2400" spc="-4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NIST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now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bans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composition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rules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forced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rotation,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requires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screening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against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breached-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password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lists.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Attackers</a:t>
            </a:r>
            <a:r>
              <a:rPr dirty="0" sz="2400" spc="-5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moved</a:t>
            </a:r>
            <a:r>
              <a:rPr dirty="0" sz="2400" spc="-5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first:</a:t>
            </a:r>
            <a:r>
              <a:rPr dirty="0" sz="2400" spc="-5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infostealer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logs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credential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stuffing</a:t>
            </a:r>
            <a:r>
              <a:rPr dirty="0" sz="240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make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leaked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cheapest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way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in.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Products</a:t>
            </a:r>
            <a:r>
              <a:rPr dirty="0" sz="2400" spc="-2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lag:</a:t>
            </a:r>
            <a:r>
              <a:rPr dirty="0" sz="2400" spc="-2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many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sign-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up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forms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still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show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colour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bar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driven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character-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type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rules.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Target</a:t>
            </a:r>
            <a:r>
              <a:rPr dirty="0" spc="-275"/>
              <a:t> </a:t>
            </a:r>
            <a:r>
              <a:rPr dirty="0" spc="-35"/>
              <a:t>User</a:t>
            </a:r>
            <a:r>
              <a:rPr dirty="0" spc="-275"/>
              <a:t> </a:t>
            </a:r>
            <a:r>
              <a:rPr dirty="0"/>
              <a:t>-</a:t>
            </a:r>
            <a:r>
              <a:rPr dirty="0" spc="-270"/>
              <a:t> </a:t>
            </a:r>
            <a:r>
              <a:rPr dirty="0" spc="-40"/>
              <a:t>Customer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71600" y="2400299"/>
            <a:ext cx="4937760" cy="5486400"/>
            <a:chOff x="1371600" y="2400299"/>
            <a:chExt cx="4937760" cy="5486400"/>
          </a:xfrm>
        </p:grpSpPr>
        <p:sp>
          <p:nvSpPr>
            <p:cNvPr id="7" name="object 7"/>
            <p:cNvSpPr/>
            <p:nvPr/>
          </p:nvSpPr>
          <p:spPr>
            <a:xfrm>
              <a:off x="1371600" y="2400299"/>
              <a:ext cx="4937760" cy="5486400"/>
            </a:xfrm>
            <a:custGeom>
              <a:avLst/>
              <a:gdLst/>
              <a:ahLst/>
              <a:cxnLst/>
              <a:rect l="l" t="t" r="r" b="b"/>
              <a:pathLst>
                <a:path w="4937760" h="5486400">
                  <a:moveTo>
                    <a:pt x="4690871" y="5486399"/>
                  </a:moveTo>
                  <a:lnTo>
                    <a:pt x="246887" y="5486399"/>
                  </a:lnTo>
                  <a:lnTo>
                    <a:pt x="197118" y="5481385"/>
                  </a:lnTo>
                  <a:lnTo>
                    <a:pt x="150768" y="5467004"/>
                  </a:lnTo>
                  <a:lnTo>
                    <a:pt x="108830" y="5444247"/>
                  </a:lnTo>
                  <a:lnTo>
                    <a:pt x="72294" y="5414105"/>
                  </a:lnTo>
                  <a:lnTo>
                    <a:pt x="42152" y="5377569"/>
                  </a:lnTo>
                  <a:lnTo>
                    <a:pt x="19395" y="5335630"/>
                  </a:lnTo>
                  <a:lnTo>
                    <a:pt x="5014" y="5289281"/>
                  </a:lnTo>
                  <a:lnTo>
                    <a:pt x="0" y="5239511"/>
                  </a:lnTo>
                  <a:lnTo>
                    <a:pt x="0" y="246887"/>
                  </a:ln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4690871" y="0"/>
                  </a:lnTo>
                  <a:lnTo>
                    <a:pt x="4740641" y="5014"/>
                  </a:lnTo>
                  <a:lnTo>
                    <a:pt x="4786990" y="19395"/>
                  </a:lnTo>
                  <a:lnTo>
                    <a:pt x="4828929" y="42152"/>
                  </a:lnTo>
                  <a:lnTo>
                    <a:pt x="4865465" y="72294"/>
                  </a:lnTo>
                  <a:lnTo>
                    <a:pt x="4895607" y="108830"/>
                  </a:lnTo>
                  <a:lnTo>
                    <a:pt x="4918364" y="150768"/>
                  </a:lnTo>
                  <a:lnTo>
                    <a:pt x="4932745" y="197118"/>
                  </a:lnTo>
                  <a:lnTo>
                    <a:pt x="4937759" y="246887"/>
                  </a:lnTo>
                  <a:lnTo>
                    <a:pt x="4937759" y="5239511"/>
                  </a:lnTo>
                  <a:lnTo>
                    <a:pt x="4932745" y="5289281"/>
                  </a:lnTo>
                  <a:lnTo>
                    <a:pt x="4918364" y="5335630"/>
                  </a:lnTo>
                  <a:lnTo>
                    <a:pt x="4895607" y="5377569"/>
                  </a:lnTo>
                  <a:lnTo>
                    <a:pt x="4865465" y="5414105"/>
                  </a:lnTo>
                  <a:lnTo>
                    <a:pt x="4828929" y="5444247"/>
                  </a:lnTo>
                  <a:lnTo>
                    <a:pt x="4786990" y="5467004"/>
                  </a:lnTo>
                  <a:lnTo>
                    <a:pt x="4740641" y="5481385"/>
                  </a:lnTo>
                  <a:lnTo>
                    <a:pt x="4690871" y="5486399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14500" y="2743199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377190" y="754380"/>
                  </a:moveTo>
                  <a:lnTo>
                    <a:pt x="329876" y="751441"/>
                  </a:lnTo>
                  <a:lnTo>
                    <a:pt x="284317" y="742859"/>
                  </a:lnTo>
                  <a:lnTo>
                    <a:pt x="240865" y="728990"/>
                  </a:lnTo>
                  <a:lnTo>
                    <a:pt x="199873" y="710185"/>
                  </a:lnTo>
                  <a:lnTo>
                    <a:pt x="161695" y="686798"/>
                  </a:lnTo>
                  <a:lnTo>
                    <a:pt x="126684" y="659184"/>
                  </a:lnTo>
                  <a:lnTo>
                    <a:pt x="95195" y="627695"/>
                  </a:lnTo>
                  <a:lnTo>
                    <a:pt x="67581" y="592684"/>
                  </a:lnTo>
                  <a:lnTo>
                    <a:pt x="44194" y="554506"/>
                  </a:lnTo>
                  <a:lnTo>
                    <a:pt x="25389" y="513514"/>
                  </a:lnTo>
                  <a:lnTo>
                    <a:pt x="11520" y="470062"/>
                  </a:lnTo>
                  <a:lnTo>
                    <a:pt x="2938" y="424503"/>
                  </a:lnTo>
                  <a:lnTo>
                    <a:pt x="0" y="377190"/>
                  </a:lnTo>
                  <a:lnTo>
                    <a:pt x="2938" y="329876"/>
                  </a:lnTo>
                  <a:lnTo>
                    <a:pt x="11520" y="284317"/>
                  </a:lnTo>
                  <a:lnTo>
                    <a:pt x="25389" y="240865"/>
                  </a:lnTo>
                  <a:lnTo>
                    <a:pt x="44194" y="199873"/>
                  </a:lnTo>
                  <a:lnTo>
                    <a:pt x="67581" y="161695"/>
                  </a:lnTo>
                  <a:lnTo>
                    <a:pt x="95195" y="126684"/>
                  </a:lnTo>
                  <a:lnTo>
                    <a:pt x="126684" y="95195"/>
                  </a:lnTo>
                  <a:lnTo>
                    <a:pt x="161695" y="67581"/>
                  </a:lnTo>
                  <a:lnTo>
                    <a:pt x="199873" y="44194"/>
                  </a:lnTo>
                  <a:lnTo>
                    <a:pt x="240865" y="25389"/>
                  </a:lnTo>
                  <a:lnTo>
                    <a:pt x="284317" y="11520"/>
                  </a:lnTo>
                  <a:lnTo>
                    <a:pt x="329876" y="2938"/>
                  </a:lnTo>
                  <a:lnTo>
                    <a:pt x="377190" y="0"/>
                  </a:lnTo>
                  <a:lnTo>
                    <a:pt x="424503" y="2938"/>
                  </a:lnTo>
                  <a:lnTo>
                    <a:pt x="470062" y="11520"/>
                  </a:lnTo>
                  <a:lnTo>
                    <a:pt x="513514" y="25389"/>
                  </a:lnTo>
                  <a:lnTo>
                    <a:pt x="554506" y="44194"/>
                  </a:lnTo>
                  <a:lnTo>
                    <a:pt x="592684" y="67581"/>
                  </a:lnTo>
                  <a:lnTo>
                    <a:pt x="627695" y="95195"/>
                  </a:lnTo>
                  <a:lnTo>
                    <a:pt x="659184" y="126684"/>
                  </a:lnTo>
                  <a:lnTo>
                    <a:pt x="686798" y="161695"/>
                  </a:lnTo>
                  <a:lnTo>
                    <a:pt x="710185" y="199873"/>
                  </a:lnTo>
                  <a:lnTo>
                    <a:pt x="728990" y="240865"/>
                  </a:lnTo>
                  <a:lnTo>
                    <a:pt x="742859" y="284317"/>
                  </a:lnTo>
                  <a:lnTo>
                    <a:pt x="751441" y="329876"/>
                  </a:lnTo>
                  <a:lnTo>
                    <a:pt x="754380" y="377190"/>
                  </a:lnTo>
                  <a:lnTo>
                    <a:pt x="751441" y="424503"/>
                  </a:lnTo>
                  <a:lnTo>
                    <a:pt x="742859" y="470062"/>
                  </a:lnTo>
                  <a:lnTo>
                    <a:pt x="728990" y="513514"/>
                  </a:lnTo>
                  <a:lnTo>
                    <a:pt x="710185" y="554506"/>
                  </a:lnTo>
                  <a:lnTo>
                    <a:pt x="686798" y="592684"/>
                  </a:lnTo>
                  <a:lnTo>
                    <a:pt x="659184" y="627695"/>
                  </a:lnTo>
                  <a:lnTo>
                    <a:pt x="627695" y="659184"/>
                  </a:lnTo>
                  <a:lnTo>
                    <a:pt x="592684" y="686798"/>
                  </a:lnTo>
                  <a:lnTo>
                    <a:pt x="554506" y="710185"/>
                  </a:lnTo>
                  <a:lnTo>
                    <a:pt x="513514" y="728990"/>
                  </a:lnTo>
                  <a:lnTo>
                    <a:pt x="470062" y="742859"/>
                  </a:lnTo>
                  <a:lnTo>
                    <a:pt x="424503" y="751441"/>
                  </a:lnTo>
                  <a:lnTo>
                    <a:pt x="377190" y="75438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001688" y="2863850"/>
            <a:ext cx="2699385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2465" algn="l"/>
              </a:tabLst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Everyday</a:t>
            </a:r>
            <a:r>
              <a:rPr dirty="0" sz="2550" spc="-10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spc="-10" b="1">
                <a:solidFill>
                  <a:srgbClr val="252525"/>
                </a:solidFill>
                <a:latin typeface="Calibri"/>
                <a:cs typeface="Calibri"/>
              </a:rPr>
              <a:t>users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800" y="3789679"/>
            <a:ext cx="4156710" cy="2781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95"/>
              </a:lnSpc>
              <a:spcBef>
                <a:spcPts val="100"/>
              </a:spcBef>
            </a:pPr>
            <a:r>
              <a:rPr dirty="0" sz="1950" spc="-25" b="1">
                <a:solidFill>
                  <a:srgbClr val="BF0000"/>
                </a:solidFill>
                <a:latin typeface="Calibri"/>
                <a:cs typeface="Calibri"/>
              </a:rPr>
              <a:t>WHO</a:t>
            </a:r>
            <a:endParaRPr sz="1950">
              <a:latin typeface="Calibri"/>
              <a:cs typeface="Calibri"/>
            </a:endParaRPr>
          </a:p>
          <a:p>
            <a:pPr algn="just" marL="12700" marR="175260">
              <a:lnSpc>
                <a:spcPts val="2850"/>
              </a:lnSpc>
              <a:spcBef>
                <a:spcPts val="75"/>
              </a:spcBef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Students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first-time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account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creators choosing passwords 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on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sign-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up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pages.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250"/>
              </a:lnSpc>
            </a:pPr>
            <a:r>
              <a:rPr dirty="0" sz="1950" spc="-10" b="1">
                <a:solidFill>
                  <a:srgbClr val="BF0000"/>
                </a:solidFill>
                <a:latin typeface="Calibri"/>
                <a:cs typeface="Calibri"/>
              </a:rPr>
              <a:t>NEEDS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ts val="2850"/>
              </a:lnSpc>
              <a:spcBef>
                <a:spcPts val="75"/>
              </a:spcBef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Instant,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jargon-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free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feedback</a:t>
            </a:r>
            <a:r>
              <a:rPr dirty="0" sz="24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and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easy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way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make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algn="just" marL="12700">
              <a:lnSpc>
                <a:spcPts val="2760"/>
              </a:lnSpc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memorable,</a:t>
            </a:r>
            <a:r>
              <a:rPr dirty="0" sz="240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long</a:t>
            </a:r>
            <a:r>
              <a:rPr dirty="0" sz="240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password.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72833" y="2400299"/>
            <a:ext cx="4937760" cy="5486400"/>
            <a:chOff x="6672833" y="2400299"/>
            <a:chExt cx="4937760" cy="5486400"/>
          </a:xfrm>
        </p:grpSpPr>
        <p:sp>
          <p:nvSpPr>
            <p:cNvPr id="12" name="object 12"/>
            <p:cNvSpPr/>
            <p:nvPr/>
          </p:nvSpPr>
          <p:spPr>
            <a:xfrm>
              <a:off x="6672833" y="2400299"/>
              <a:ext cx="4937760" cy="5486400"/>
            </a:xfrm>
            <a:custGeom>
              <a:avLst/>
              <a:gdLst/>
              <a:ahLst/>
              <a:cxnLst/>
              <a:rect l="l" t="t" r="r" b="b"/>
              <a:pathLst>
                <a:path w="4937759" h="5486400">
                  <a:moveTo>
                    <a:pt x="4690871" y="5486399"/>
                  </a:moveTo>
                  <a:lnTo>
                    <a:pt x="246887" y="5486399"/>
                  </a:lnTo>
                  <a:lnTo>
                    <a:pt x="197118" y="5481385"/>
                  </a:lnTo>
                  <a:lnTo>
                    <a:pt x="150768" y="5467004"/>
                  </a:lnTo>
                  <a:lnTo>
                    <a:pt x="108830" y="5444247"/>
                  </a:lnTo>
                  <a:lnTo>
                    <a:pt x="72294" y="5414105"/>
                  </a:lnTo>
                  <a:lnTo>
                    <a:pt x="42152" y="5377569"/>
                  </a:lnTo>
                  <a:lnTo>
                    <a:pt x="19395" y="5335630"/>
                  </a:lnTo>
                  <a:lnTo>
                    <a:pt x="5014" y="5289281"/>
                  </a:lnTo>
                  <a:lnTo>
                    <a:pt x="0" y="5239511"/>
                  </a:lnTo>
                  <a:lnTo>
                    <a:pt x="0" y="246887"/>
                  </a:ln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4690871" y="0"/>
                  </a:lnTo>
                  <a:lnTo>
                    <a:pt x="4740641" y="5014"/>
                  </a:lnTo>
                  <a:lnTo>
                    <a:pt x="4786990" y="19395"/>
                  </a:lnTo>
                  <a:lnTo>
                    <a:pt x="4828929" y="42152"/>
                  </a:lnTo>
                  <a:lnTo>
                    <a:pt x="4865465" y="72294"/>
                  </a:lnTo>
                  <a:lnTo>
                    <a:pt x="4895607" y="108830"/>
                  </a:lnTo>
                  <a:lnTo>
                    <a:pt x="4918364" y="150768"/>
                  </a:lnTo>
                  <a:lnTo>
                    <a:pt x="4932745" y="197118"/>
                  </a:lnTo>
                  <a:lnTo>
                    <a:pt x="4937759" y="246887"/>
                  </a:lnTo>
                  <a:lnTo>
                    <a:pt x="4937759" y="5239511"/>
                  </a:lnTo>
                  <a:lnTo>
                    <a:pt x="4932745" y="5289281"/>
                  </a:lnTo>
                  <a:lnTo>
                    <a:pt x="4918364" y="5335630"/>
                  </a:lnTo>
                  <a:lnTo>
                    <a:pt x="4895607" y="5377569"/>
                  </a:lnTo>
                  <a:lnTo>
                    <a:pt x="4865465" y="5414105"/>
                  </a:lnTo>
                  <a:lnTo>
                    <a:pt x="4828929" y="5444247"/>
                  </a:lnTo>
                  <a:lnTo>
                    <a:pt x="4786990" y="5467004"/>
                  </a:lnTo>
                  <a:lnTo>
                    <a:pt x="4740641" y="5481385"/>
                  </a:lnTo>
                  <a:lnTo>
                    <a:pt x="4690871" y="5486399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15734" y="2743199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377190" y="754380"/>
                  </a:moveTo>
                  <a:lnTo>
                    <a:pt x="329877" y="751441"/>
                  </a:lnTo>
                  <a:lnTo>
                    <a:pt x="284317" y="742859"/>
                  </a:lnTo>
                  <a:lnTo>
                    <a:pt x="240865" y="728990"/>
                  </a:lnTo>
                  <a:lnTo>
                    <a:pt x="199873" y="710185"/>
                  </a:lnTo>
                  <a:lnTo>
                    <a:pt x="161695" y="686798"/>
                  </a:lnTo>
                  <a:lnTo>
                    <a:pt x="126684" y="659184"/>
                  </a:lnTo>
                  <a:lnTo>
                    <a:pt x="95195" y="627695"/>
                  </a:lnTo>
                  <a:lnTo>
                    <a:pt x="67581" y="592684"/>
                  </a:lnTo>
                  <a:lnTo>
                    <a:pt x="44194" y="554506"/>
                  </a:lnTo>
                  <a:lnTo>
                    <a:pt x="25389" y="513514"/>
                  </a:lnTo>
                  <a:lnTo>
                    <a:pt x="11520" y="470062"/>
                  </a:lnTo>
                  <a:lnTo>
                    <a:pt x="2938" y="424503"/>
                  </a:lnTo>
                  <a:lnTo>
                    <a:pt x="0" y="377190"/>
                  </a:lnTo>
                  <a:lnTo>
                    <a:pt x="2938" y="329876"/>
                  </a:lnTo>
                  <a:lnTo>
                    <a:pt x="11520" y="284317"/>
                  </a:lnTo>
                  <a:lnTo>
                    <a:pt x="25389" y="240865"/>
                  </a:lnTo>
                  <a:lnTo>
                    <a:pt x="44194" y="199873"/>
                  </a:lnTo>
                  <a:lnTo>
                    <a:pt x="67581" y="161695"/>
                  </a:lnTo>
                  <a:lnTo>
                    <a:pt x="95195" y="126684"/>
                  </a:lnTo>
                  <a:lnTo>
                    <a:pt x="126684" y="95195"/>
                  </a:lnTo>
                  <a:lnTo>
                    <a:pt x="161695" y="67581"/>
                  </a:lnTo>
                  <a:lnTo>
                    <a:pt x="199873" y="44194"/>
                  </a:lnTo>
                  <a:lnTo>
                    <a:pt x="240865" y="25389"/>
                  </a:lnTo>
                  <a:lnTo>
                    <a:pt x="284317" y="11520"/>
                  </a:lnTo>
                  <a:lnTo>
                    <a:pt x="329877" y="2938"/>
                  </a:lnTo>
                  <a:lnTo>
                    <a:pt x="377190" y="0"/>
                  </a:lnTo>
                  <a:lnTo>
                    <a:pt x="424503" y="2938"/>
                  </a:lnTo>
                  <a:lnTo>
                    <a:pt x="470062" y="11520"/>
                  </a:lnTo>
                  <a:lnTo>
                    <a:pt x="513515" y="25389"/>
                  </a:lnTo>
                  <a:lnTo>
                    <a:pt x="554506" y="44194"/>
                  </a:lnTo>
                  <a:lnTo>
                    <a:pt x="592684" y="67581"/>
                  </a:lnTo>
                  <a:lnTo>
                    <a:pt x="627695" y="95195"/>
                  </a:lnTo>
                  <a:lnTo>
                    <a:pt x="659184" y="126684"/>
                  </a:lnTo>
                  <a:lnTo>
                    <a:pt x="686798" y="161695"/>
                  </a:lnTo>
                  <a:lnTo>
                    <a:pt x="710185" y="199873"/>
                  </a:lnTo>
                  <a:lnTo>
                    <a:pt x="728990" y="240865"/>
                  </a:lnTo>
                  <a:lnTo>
                    <a:pt x="742860" y="284317"/>
                  </a:lnTo>
                  <a:lnTo>
                    <a:pt x="751441" y="329876"/>
                  </a:lnTo>
                  <a:lnTo>
                    <a:pt x="754380" y="377190"/>
                  </a:lnTo>
                  <a:lnTo>
                    <a:pt x="751441" y="424503"/>
                  </a:lnTo>
                  <a:lnTo>
                    <a:pt x="742860" y="470062"/>
                  </a:lnTo>
                  <a:lnTo>
                    <a:pt x="728990" y="513514"/>
                  </a:lnTo>
                  <a:lnTo>
                    <a:pt x="710185" y="554506"/>
                  </a:lnTo>
                  <a:lnTo>
                    <a:pt x="686798" y="592684"/>
                  </a:lnTo>
                  <a:lnTo>
                    <a:pt x="659184" y="627695"/>
                  </a:lnTo>
                  <a:lnTo>
                    <a:pt x="627695" y="659184"/>
                  </a:lnTo>
                  <a:lnTo>
                    <a:pt x="592684" y="686798"/>
                  </a:lnTo>
                  <a:lnTo>
                    <a:pt x="554506" y="710185"/>
                  </a:lnTo>
                  <a:lnTo>
                    <a:pt x="513515" y="728990"/>
                  </a:lnTo>
                  <a:lnTo>
                    <a:pt x="470062" y="742859"/>
                  </a:lnTo>
                  <a:lnTo>
                    <a:pt x="424503" y="751441"/>
                  </a:lnTo>
                  <a:lnTo>
                    <a:pt x="377190" y="75438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302922" y="2863850"/>
            <a:ext cx="396367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2465" algn="l"/>
              </a:tabLst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dirty="0" sz="2550" spc="-6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550" spc="-6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spc="-10" b="1">
                <a:solidFill>
                  <a:srgbClr val="252525"/>
                </a:solidFill>
                <a:latin typeface="Calibri"/>
                <a:cs typeface="Calibri"/>
              </a:rPr>
              <a:t>startups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3033" y="3789679"/>
            <a:ext cx="4123054" cy="2781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95"/>
              </a:lnSpc>
              <a:spcBef>
                <a:spcPts val="100"/>
              </a:spcBef>
            </a:pPr>
            <a:r>
              <a:rPr dirty="0" sz="1950" spc="-25" b="1">
                <a:solidFill>
                  <a:srgbClr val="BF0000"/>
                </a:solidFill>
                <a:latin typeface="Calibri"/>
                <a:cs typeface="Calibri"/>
              </a:rPr>
              <a:t>WHO</a:t>
            </a:r>
            <a:endParaRPr sz="1950">
              <a:latin typeface="Calibri"/>
              <a:cs typeface="Calibri"/>
            </a:endParaRPr>
          </a:p>
          <a:p>
            <a:pPr marL="12700" marR="285115">
              <a:lnSpc>
                <a:spcPts val="2850"/>
              </a:lnSpc>
              <a:spcBef>
                <a:spcPts val="75"/>
              </a:spcBef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Small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teams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building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web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apps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without</a:t>
            </a:r>
            <a:r>
              <a:rPr dirty="0" sz="240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dedicated</a:t>
            </a:r>
            <a:r>
              <a:rPr dirty="0" sz="24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security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60"/>
              </a:lnSpc>
            </a:pP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engineer.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295"/>
              </a:lnSpc>
              <a:spcBef>
                <a:spcPts val="45"/>
              </a:spcBef>
            </a:pPr>
            <a:r>
              <a:rPr dirty="0" sz="1950" spc="-10" b="1">
                <a:solidFill>
                  <a:srgbClr val="BF0000"/>
                </a:solidFill>
                <a:latin typeface="Calibri"/>
                <a:cs typeface="Calibri"/>
              </a:rPr>
              <a:t>NEEDS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820"/>
              </a:lnSpc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drop-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checker</a:t>
            </a:r>
            <a:r>
              <a:rPr dirty="0" sz="24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follows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NIST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guidance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without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building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it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from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scratch.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974067" y="2400299"/>
            <a:ext cx="4937760" cy="5486400"/>
            <a:chOff x="11974067" y="2400299"/>
            <a:chExt cx="4937760" cy="5486400"/>
          </a:xfrm>
        </p:grpSpPr>
        <p:sp>
          <p:nvSpPr>
            <p:cNvPr id="17" name="object 17"/>
            <p:cNvSpPr/>
            <p:nvPr/>
          </p:nvSpPr>
          <p:spPr>
            <a:xfrm>
              <a:off x="11974067" y="2400299"/>
              <a:ext cx="4937760" cy="5486400"/>
            </a:xfrm>
            <a:custGeom>
              <a:avLst/>
              <a:gdLst/>
              <a:ahLst/>
              <a:cxnLst/>
              <a:rect l="l" t="t" r="r" b="b"/>
              <a:pathLst>
                <a:path w="4937759" h="5486400">
                  <a:moveTo>
                    <a:pt x="4690871" y="5486399"/>
                  </a:moveTo>
                  <a:lnTo>
                    <a:pt x="246887" y="5486399"/>
                  </a:lnTo>
                  <a:lnTo>
                    <a:pt x="197118" y="5481385"/>
                  </a:lnTo>
                  <a:lnTo>
                    <a:pt x="150768" y="5467004"/>
                  </a:lnTo>
                  <a:lnTo>
                    <a:pt x="108830" y="5444247"/>
                  </a:lnTo>
                  <a:lnTo>
                    <a:pt x="72294" y="5414105"/>
                  </a:lnTo>
                  <a:lnTo>
                    <a:pt x="42152" y="5377569"/>
                  </a:lnTo>
                  <a:lnTo>
                    <a:pt x="19395" y="5335630"/>
                  </a:lnTo>
                  <a:lnTo>
                    <a:pt x="5014" y="5289281"/>
                  </a:lnTo>
                  <a:lnTo>
                    <a:pt x="0" y="5239511"/>
                  </a:lnTo>
                  <a:lnTo>
                    <a:pt x="0" y="246887"/>
                  </a:ln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4690871" y="0"/>
                  </a:lnTo>
                  <a:lnTo>
                    <a:pt x="4740641" y="5014"/>
                  </a:lnTo>
                  <a:lnTo>
                    <a:pt x="4786990" y="19395"/>
                  </a:lnTo>
                  <a:lnTo>
                    <a:pt x="4828929" y="42152"/>
                  </a:lnTo>
                  <a:lnTo>
                    <a:pt x="4865465" y="72294"/>
                  </a:lnTo>
                  <a:lnTo>
                    <a:pt x="4895607" y="108830"/>
                  </a:lnTo>
                  <a:lnTo>
                    <a:pt x="4918364" y="150768"/>
                  </a:lnTo>
                  <a:lnTo>
                    <a:pt x="4932745" y="197118"/>
                  </a:lnTo>
                  <a:lnTo>
                    <a:pt x="4937759" y="246887"/>
                  </a:lnTo>
                  <a:lnTo>
                    <a:pt x="4937759" y="5239511"/>
                  </a:lnTo>
                  <a:lnTo>
                    <a:pt x="4932745" y="5289281"/>
                  </a:lnTo>
                  <a:lnTo>
                    <a:pt x="4918364" y="5335630"/>
                  </a:lnTo>
                  <a:lnTo>
                    <a:pt x="4895607" y="5377569"/>
                  </a:lnTo>
                  <a:lnTo>
                    <a:pt x="4865465" y="5414105"/>
                  </a:lnTo>
                  <a:lnTo>
                    <a:pt x="4828929" y="5444247"/>
                  </a:lnTo>
                  <a:lnTo>
                    <a:pt x="4786990" y="5467004"/>
                  </a:lnTo>
                  <a:lnTo>
                    <a:pt x="4740641" y="5481385"/>
                  </a:lnTo>
                  <a:lnTo>
                    <a:pt x="4690871" y="5486399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316968" y="2743199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377190" y="754380"/>
                  </a:moveTo>
                  <a:lnTo>
                    <a:pt x="329877" y="751441"/>
                  </a:lnTo>
                  <a:lnTo>
                    <a:pt x="284317" y="742859"/>
                  </a:lnTo>
                  <a:lnTo>
                    <a:pt x="240865" y="728990"/>
                  </a:lnTo>
                  <a:lnTo>
                    <a:pt x="199873" y="710185"/>
                  </a:lnTo>
                  <a:lnTo>
                    <a:pt x="161695" y="686798"/>
                  </a:lnTo>
                  <a:lnTo>
                    <a:pt x="126684" y="659184"/>
                  </a:lnTo>
                  <a:lnTo>
                    <a:pt x="95195" y="627695"/>
                  </a:lnTo>
                  <a:lnTo>
                    <a:pt x="67581" y="592684"/>
                  </a:lnTo>
                  <a:lnTo>
                    <a:pt x="44194" y="554506"/>
                  </a:lnTo>
                  <a:lnTo>
                    <a:pt x="25389" y="513514"/>
                  </a:lnTo>
                  <a:lnTo>
                    <a:pt x="11520" y="470062"/>
                  </a:lnTo>
                  <a:lnTo>
                    <a:pt x="2938" y="424503"/>
                  </a:lnTo>
                  <a:lnTo>
                    <a:pt x="0" y="377190"/>
                  </a:lnTo>
                  <a:lnTo>
                    <a:pt x="2938" y="329876"/>
                  </a:lnTo>
                  <a:lnTo>
                    <a:pt x="11520" y="284317"/>
                  </a:lnTo>
                  <a:lnTo>
                    <a:pt x="25389" y="240865"/>
                  </a:lnTo>
                  <a:lnTo>
                    <a:pt x="44194" y="199873"/>
                  </a:lnTo>
                  <a:lnTo>
                    <a:pt x="67581" y="161695"/>
                  </a:lnTo>
                  <a:lnTo>
                    <a:pt x="95195" y="126684"/>
                  </a:lnTo>
                  <a:lnTo>
                    <a:pt x="126684" y="95195"/>
                  </a:lnTo>
                  <a:lnTo>
                    <a:pt x="161695" y="67581"/>
                  </a:lnTo>
                  <a:lnTo>
                    <a:pt x="199873" y="44194"/>
                  </a:lnTo>
                  <a:lnTo>
                    <a:pt x="240865" y="25389"/>
                  </a:lnTo>
                  <a:lnTo>
                    <a:pt x="284317" y="11520"/>
                  </a:lnTo>
                  <a:lnTo>
                    <a:pt x="329877" y="2938"/>
                  </a:lnTo>
                  <a:lnTo>
                    <a:pt x="377190" y="0"/>
                  </a:lnTo>
                  <a:lnTo>
                    <a:pt x="424503" y="2938"/>
                  </a:lnTo>
                  <a:lnTo>
                    <a:pt x="470062" y="11520"/>
                  </a:lnTo>
                  <a:lnTo>
                    <a:pt x="513515" y="25389"/>
                  </a:lnTo>
                  <a:lnTo>
                    <a:pt x="554506" y="44194"/>
                  </a:lnTo>
                  <a:lnTo>
                    <a:pt x="592684" y="67581"/>
                  </a:lnTo>
                  <a:lnTo>
                    <a:pt x="627695" y="95195"/>
                  </a:lnTo>
                  <a:lnTo>
                    <a:pt x="659184" y="126684"/>
                  </a:lnTo>
                  <a:lnTo>
                    <a:pt x="686798" y="161695"/>
                  </a:lnTo>
                  <a:lnTo>
                    <a:pt x="710185" y="199873"/>
                  </a:lnTo>
                  <a:lnTo>
                    <a:pt x="728990" y="240865"/>
                  </a:lnTo>
                  <a:lnTo>
                    <a:pt x="742860" y="284317"/>
                  </a:lnTo>
                  <a:lnTo>
                    <a:pt x="751441" y="329876"/>
                  </a:lnTo>
                  <a:lnTo>
                    <a:pt x="754380" y="377190"/>
                  </a:lnTo>
                  <a:lnTo>
                    <a:pt x="751441" y="424503"/>
                  </a:lnTo>
                  <a:lnTo>
                    <a:pt x="742860" y="470062"/>
                  </a:lnTo>
                  <a:lnTo>
                    <a:pt x="728990" y="513514"/>
                  </a:lnTo>
                  <a:lnTo>
                    <a:pt x="710185" y="554506"/>
                  </a:lnTo>
                  <a:lnTo>
                    <a:pt x="686798" y="592684"/>
                  </a:lnTo>
                  <a:lnTo>
                    <a:pt x="659184" y="627695"/>
                  </a:lnTo>
                  <a:lnTo>
                    <a:pt x="627695" y="659184"/>
                  </a:lnTo>
                  <a:lnTo>
                    <a:pt x="592684" y="686798"/>
                  </a:lnTo>
                  <a:lnTo>
                    <a:pt x="554506" y="710185"/>
                  </a:lnTo>
                  <a:lnTo>
                    <a:pt x="513515" y="728990"/>
                  </a:lnTo>
                  <a:lnTo>
                    <a:pt x="470062" y="742859"/>
                  </a:lnTo>
                  <a:lnTo>
                    <a:pt x="424503" y="751441"/>
                  </a:lnTo>
                  <a:lnTo>
                    <a:pt x="377190" y="75438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2604156" y="2882900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64387" y="2673350"/>
            <a:ext cx="2754630" cy="7950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250"/>
              </a:spcBef>
            </a:pP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Campuses and </a:t>
            </a:r>
            <a:r>
              <a:rPr dirty="0" sz="2550" spc="-10" b="1">
                <a:solidFill>
                  <a:srgbClr val="252525"/>
                </a:solidFill>
                <a:latin typeface="Calibri"/>
                <a:cs typeface="Calibri"/>
              </a:rPr>
              <a:t>small businesses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04267" y="3789679"/>
            <a:ext cx="3950970" cy="2781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95"/>
              </a:lnSpc>
              <a:spcBef>
                <a:spcPts val="100"/>
              </a:spcBef>
            </a:pPr>
            <a:r>
              <a:rPr dirty="0" sz="1950" spc="-25" b="1">
                <a:solidFill>
                  <a:srgbClr val="BF0000"/>
                </a:solidFill>
                <a:latin typeface="Calibri"/>
                <a:cs typeface="Calibri"/>
              </a:rPr>
              <a:t>WHO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820"/>
              </a:lnSpc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IT</a:t>
            </a:r>
            <a:r>
              <a:rPr dirty="0" sz="24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admins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running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student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portals,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staff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logins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internal tools.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250"/>
              </a:lnSpc>
            </a:pPr>
            <a:r>
              <a:rPr dirty="0" sz="1950" spc="-10" b="1">
                <a:solidFill>
                  <a:srgbClr val="BF0000"/>
                </a:solidFill>
                <a:latin typeface="Calibri"/>
                <a:cs typeface="Calibri"/>
              </a:rPr>
              <a:t>NEEDS</a:t>
            </a:r>
            <a:endParaRPr sz="1950">
              <a:latin typeface="Calibri"/>
              <a:cs typeface="Calibri"/>
            </a:endParaRPr>
          </a:p>
          <a:p>
            <a:pPr marL="12700" marR="387350">
              <a:lnSpc>
                <a:spcPts val="2850"/>
              </a:lnSpc>
              <a:spcBef>
                <a:spcPts val="75"/>
              </a:spcBef>
            </a:pP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Policy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meets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current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standards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way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keep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breached</a:t>
            </a:r>
            <a:r>
              <a:rPr dirty="0" sz="240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240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out.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71600" y="8161019"/>
            <a:ext cx="15540355" cy="685800"/>
          </a:xfrm>
          <a:custGeom>
            <a:avLst/>
            <a:gdLst/>
            <a:ahLst/>
            <a:cxnLst/>
            <a:rect l="l" t="t" r="r" b="b"/>
            <a:pathLst>
              <a:path w="15540355" h="685800">
                <a:moveTo>
                  <a:pt x="15505938" y="685800"/>
                </a:moveTo>
                <a:lnTo>
                  <a:pt x="34290" y="685800"/>
                </a:lnTo>
                <a:lnTo>
                  <a:pt x="20935" y="683107"/>
                </a:lnTo>
                <a:lnTo>
                  <a:pt x="10036" y="675763"/>
                </a:lnTo>
                <a:lnTo>
                  <a:pt x="2692" y="664864"/>
                </a:lnTo>
                <a:lnTo>
                  <a:pt x="0" y="651510"/>
                </a:lnTo>
                <a:lnTo>
                  <a:pt x="0" y="34290"/>
                </a:lnTo>
                <a:lnTo>
                  <a:pt x="2692" y="20935"/>
                </a:lnTo>
                <a:lnTo>
                  <a:pt x="10036" y="10037"/>
                </a:lnTo>
                <a:lnTo>
                  <a:pt x="20935" y="2692"/>
                </a:lnTo>
                <a:lnTo>
                  <a:pt x="34290" y="0"/>
                </a:lnTo>
                <a:lnTo>
                  <a:pt x="15505938" y="0"/>
                </a:lnTo>
                <a:lnTo>
                  <a:pt x="15519292" y="2692"/>
                </a:lnTo>
                <a:lnTo>
                  <a:pt x="15530191" y="10037"/>
                </a:lnTo>
                <a:lnTo>
                  <a:pt x="15537535" y="20935"/>
                </a:lnTo>
                <a:lnTo>
                  <a:pt x="15540228" y="34290"/>
                </a:lnTo>
                <a:lnTo>
                  <a:pt x="15540228" y="651510"/>
                </a:lnTo>
                <a:lnTo>
                  <a:pt x="15537535" y="664864"/>
                </a:lnTo>
                <a:lnTo>
                  <a:pt x="15530191" y="675763"/>
                </a:lnTo>
                <a:lnTo>
                  <a:pt x="15519292" y="683107"/>
                </a:lnTo>
                <a:lnTo>
                  <a:pt x="15505938" y="68580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99669" y="8262619"/>
            <a:ext cx="8484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beachhead:</a:t>
            </a: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developers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campus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portals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Competitors</a:t>
            </a:r>
            <a:r>
              <a:rPr dirty="0" spc="-225"/>
              <a:t> </a:t>
            </a:r>
            <a:r>
              <a:rPr dirty="0"/>
              <a:t>/</a:t>
            </a:r>
            <a:r>
              <a:rPr dirty="0" spc="-220"/>
              <a:t> </a:t>
            </a:r>
            <a:r>
              <a:rPr dirty="0" spc="-80"/>
              <a:t>Benchmarks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69665" y="2397918"/>
          <a:ext cx="15568294" cy="4625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0915"/>
                <a:gridCol w="2038350"/>
                <a:gridCol w="1748790"/>
                <a:gridCol w="5652769"/>
              </a:tblGrid>
              <a:tr h="751205">
                <a:tc>
                  <a:txBody>
                    <a:bodyPr/>
                    <a:lstStyle/>
                    <a:p>
                      <a:pPr marL="93345">
                        <a:lnSpc>
                          <a:spcPts val="2335"/>
                        </a:lnSpc>
                        <a:spcBef>
                          <a:spcPts val="315"/>
                        </a:spcBef>
                        <a:tabLst>
                          <a:tab pos="4281170" algn="l"/>
                        </a:tabLst>
                      </a:pPr>
                      <a:r>
                        <a:rPr dirty="0" baseline="-32763" sz="2925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Option</a:t>
                      </a:r>
                      <a:r>
                        <a:rPr dirty="0" baseline="-32763" sz="29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Pattern-aware</a:t>
                      </a:r>
                      <a:endParaRPr sz="1950">
                        <a:latin typeface="Calibri"/>
                        <a:cs typeface="Calibri"/>
                      </a:endParaRPr>
                    </a:p>
                    <a:p>
                      <a:pPr algn="r" marR="650240">
                        <a:lnSpc>
                          <a:spcPts val="2330"/>
                        </a:lnSpc>
                      </a:pP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scoring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40005"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1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Breach </a:t>
                      </a: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182880"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 marL="509270" marR="349250" indent="-102870">
                        <a:lnSpc>
                          <a:spcPts val="2330"/>
                        </a:lnSpc>
                        <a:spcBef>
                          <a:spcPts val="405"/>
                        </a:spcBef>
                      </a:pPr>
                      <a:r>
                        <a:rPr dirty="0" sz="1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Uses</a:t>
                      </a:r>
                      <a:r>
                        <a:rPr dirty="0" sz="195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 </a:t>
                      </a: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context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1440"/>
                        </a:spcBef>
                        <a:tabLst>
                          <a:tab pos="2214880" algn="l"/>
                        </a:tabLst>
                      </a:pPr>
                      <a:r>
                        <a:rPr dirty="0" sz="1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Explains</a:t>
                      </a:r>
                      <a:r>
                        <a:rPr dirty="0" sz="195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95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fix</a:t>
                      </a:r>
                      <a:r>
                        <a:rPr dirty="0" sz="1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Main </a:t>
                      </a:r>
                      <a:r>
                        <a:rPr dirty="0" sz="1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182880">
                    <a:solidFill>
                      <a:srgbClr val="BF0000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marL="92710">
                        <a:lnSpc>
                          <a:spcPts val="2500"/>
                        </a:lnSpc>
                        <a:spcBef>
                          <a:spcPts val="900"/>
                        </a:spcBef>
                        <a:tabLst>
                          <a:tab pos="4865370" algn="l"/>
                        </a:tabLst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Rule-based</a:t>
                      </a:r>
                      <a:r>
                        <a:rPr dirty="0" sz="2100" spc="-6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checkers</a:t>
                      </a:r>
                      <a:r>
                        <a:rPr dirty="0" sz="2100" spc="-5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(uppercase</a:t>
                      </a:r>
                      <a:r>
                        <a:rPr dirty="0" sz="2100" spc="-5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5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4391" sz="3150" spc="-37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baseline="-34391" sz="315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ts val="2495"/>
                        </a:lnSpc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100" spc="-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symbol)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114300"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ct val="100000"/>
                        </a:lnSpc>
                        <a:spcBef>
                          <a:spcPts val="2175"/>
                        </a:spcBef>
                      </a:pPr>
                      <a:r>
                        <a:rPr dirty="0" sz="2100" spc="-25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76225"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ct val="100000"/>
                        </a:lnSpc>
                        <a:spcBef>
                          <a:spcPts val="2175"/>
                        </a:spcBef>
                      </a:pPr>
                      <a:r>
                        <a:rPr dirty="0" sz="2100" spc="-25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76225"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4675">
                        <a:lnSpc>
                          <a:spcPts val="2460"/>
                        </a:lnSpc>
                        <a:spcBef>
                          <a:spcPts val="1050"/>
                        </a:spcBef>
                        <a:tabLst>
                          <a:tab pos="1983739" algn="l"/>
                        </a:tabLst>
                      </a:pPr>
                      <a:r>
                        <a:rPr dirty="0" baseline="-30423" sz="3150" spc="-15" b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Partly</a:t>
                      </a:r>
                      <a:r>
                        <a:rPr dirty="0" baseline="-30423" sz="3150" b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Rewards</a:t>
                      </a:r>
                      <a:r>
                        <a:rPr dirty="0" sz="1800" spc="-2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Password1!;</a:t>
                      </a:r>
                      <a:r>
                        <a:rPr dirty="0" sz="18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says</a:t>
                      </a:r>
                      <a:r>
                        <a:rPr dirty="0" sz="18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nothing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214880">
                        <a:lnSpc>
                          <a:spcPts val="2100"/>
                        </a:lnSpc>
                      </a:pP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1800" spc="-4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1800" spc="-3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guessability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96964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10"/>
                        </a:spcBef>
                        <a:tabLst>
                          <a:tab pos="4835525" algn="l"/>
                        </a:tabLst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zxcvbn</a:t>
                      </a:r>
                      <a:r>
                        <a:rPr dirty="0" sz="2100" spc="-3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(open-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r>
                        <a:rPr dirty="0" sz="21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library)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100" spc="-25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100" spc="-10" b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Partly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100" spc="-25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4880" marR="96520" indent="-1272540">
                        <a:lnSpc>
                          <a:spcPts val="2100"/>
                        </a:lnSpc>
                        <a:spcBef>
                          <a:spcPts val="1505"/>
                        </a:spcBef>
                        <a:tabLst>
                          <a:tab pos="2214880" algn="l"/>
                        </a:tabLst>
                      </a:pPr>
                      <a:r>
                        <a:rPr dirty="0" baseline="-30423" sz="3150" spc="-37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r>
                        <a:rPr dirty="0" baseline="-30423" sz="3150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Developers</a:t>
                      </a:r>
                      <a:r>
                        <a:rPr dirty="0" sz="1800" spc="-4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must</a:t>
                      </a:r>
                      <a:r>
                        <a:rPr dirty="0" sz="1800" spc="-4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add</a:t>
                      </a:r>
                      <a:r>
                        <a:rPr dirty="0" sz="1800" spc="-4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breach</a:t>
                      </a:r>
                      <a:r>
                        <a:rPr dirty="0" sz="1800" spc="-4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checks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1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UI</a:t>
                      </a:r>
                      <a:r>
                        <a:rPr dirty="0" sz="1800" spc="-1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themselves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1135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969644">
                <a:tc>
                  <a:txBody>
                    <a:bodyPr/>
                    <a:lstStyle/>
                    <a:p>
                      <a:pPr marL="92710">
                        <a:lnSpc>
                          <a:spcPts val="2500"/>
                        </a:lnSpc>
                        <a:spcBef>
                          <a:spcPts val="935"/>
                        </a:spcBef>
                        <a:tabLst>
                          <a:tab pos="4865370" algn="l"/>
                        </a:tabLst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21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2100" spc="-2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Been</a:t>
                      </a:r>
                      <a:r>
                        <a:rPr dirty="0" sz="2100" spc="-2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Pwned</a:t>
                      </a:r>
                      <a:r>
                        <a:rPr dirty="0" sz="21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(breach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4391" sz="3150" spc="-37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baseline="-34391" sz="315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ts val="2495"/>
                        </a:lnSpc>
                      </a:pP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lookup)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100" spc="-25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100" spc="-25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4880" marR="243840" indent="-1242695">
                        <a:lnSpc>
                          <a:spcPts val="2100"/>
                        </a:lnSpc>
                        <a:spcBef>
                          <a:spcPts val="1505"/>
                        </a:spcBef>
                        <a:tabLst>
                          <a:tab pos="2214880" algn="l"/>
                        </a:tabLst>
                      </a:pPr>
                      <a:r>
                        <a:rPr dirty="0" baseline="-30423" sz="3150" spc="-37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baseline="-30423" sz="3150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800" spc="-1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says</a:t>
                      </a:r>
                      <a:r>
                        <a:rPr dirty="0" sz="1800" spc="-1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whether</a:t>
                      </a:r>
                      <a:r>
                        <a:rPr dirty="0" sz="1800" spc="-1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1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password</a:t>
                      </a:r>
                      <a:r>
                        <a:rPr dirty="0" sz="1800" spc="-1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has </a:t>
                      </a:r>
                      <a:r>
                        <a:rPr dirty="0" sz="1800" spc="-1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leaked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1135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969644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210"/>
                        </a:spcBef>
                        <a:tabLst>
                          <a:tab pos="4835525" algn="l"/>
                        </a:tabLst>
                      </a:pPr>
                      <a:r>
                        <a:rPr dirty="0" sz="21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GuessWise</a:t>
                      </a:r>
                      <a:r>
                        <a:rPr dirty="0" sz="2100" spc="-5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(our</a:t>
                      </a:r>
                      <a:r>
                        <a:rPr dirty="0" sz="2100" spc="-5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idea)</a:t>
                      </a:r>
                      <a:r>
                        <a:rPr dirty="0" sz="21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100" spc="-25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A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100" spc="-25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AE9E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dirty="0" sz="2100" spc="-25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8067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A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42975">
                        <a:lnSpc>
                          <a:spcPct val="100000"/>
                        </a:lnSpc>
                        <a:tabLst>
                          <a:tab pos="2214880" algn="l"/>
                        </a:tabLst>
                      </a:pPr>
                      <a:r>
                        <a:rPr dirty="0" sz="2100" spc="-25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r>
                        <a:rPr dirty="0" sz="2100" b="1">
                          <a:solidFill>
                            <a:srgbClr val="1D834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543" sz="27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baseline="1543" sz="2700" spc="-52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1543" sz="27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baseline="1543" sz="2700" spc="-52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1543" sz="27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baseline="1543" sz="2700" spc="-52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1543" sz="27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dirty="0" baseline="1543" sz="2700" spc="-52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1543" sz="2700" spc="-1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adoption</a:t>
                      </a:r>
                      <a:endParaRPr baseline="1543" sz="27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AE9E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371600" y="7749540"/>
            <a:ext cx="15540355" cy="1097280"/>
          </a:xfrm>
          <a:custGeom>
            <a:avLst/>
            <a:gdLst/>
            <a:ahLst/>
            <a:cxnLst/>
            <a:rect l="l" t="t" r="r" b="b"/>
            <a:pathLst>
              <a:path w="15540355" h="1097279">
                <a:moveTo>
                  <a:pt x="15485363" y="1097279"/>
                </a:moveTo>
                <a:lnTo>
                  <a:pt x="54863" y="1097279"/>
                </a:lnTo>
                <a:lnTo>
                  <a:pt x="33513" y="1092966"/>
                </a:lnTo>
                <a:lnTo>
                  <a:pt x="16073" y="1081206"/>
                </a:lnTo>
                <a:lnTo>
                  <a:pt x="4313" y="1063766"/>
                </a:lnTo>
                <a:lnTo>
                  <a:pt x="0" y="1042415"/>
                </a:lnTo>
                <a:lnTo>
                  <a:pt x="0" y="54863"/>
                </a:lnTo>
                <a:lnTo>
                  <a:pt x="4313" y="33513"/>
                </a:lnTo>
                <a:lnTo>
                  <a:pt x="16073" y="16073"/>
                </a:lnTo>
                <a:lnTo>
                  <a:pt x="33513" y="4313"/>
                </a:lnTo>
                <a:lnTo>
                  <a:pt x="54863" y="0"/>
                </a:lnTo>
                <a:lnTo>
                  <a:pt x="15485363" y="0"/>
                </a:lnTo>
                <a:lnTo>
                  <a:pt x="15506714" y="4313"/>
                </a:lnTo>
                <a:lnTo>
                  <a:pt x="15524153" y="16073"/>
                </a:lnTo>
                <a:lnTo>
                  <a:pt x="15535914" y="33513"/>
                </a:lnTo>
                <a:lnTo>
                  <a:pt x="15540227" y="54863"/>
                </a:lnTo>
                <a:lnTo>
                  <a:pt x="15540227" y="1042415"/>
                </a:lnTo>
                <a:lnTo>
                  <a:pt x="15535914" y="1063766"/>
                </a:lnTo>
                <a:lnTo>
                  <a:pt x="15524153" y="1081206"/>
                </a:lnTo>
                <a:lnTo>
                  <a:pt x="15506714" y="1092966"/>
                </a:lnTo>
                <a:lnTo>
                  <a:pt x="15485363" y="10972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58899" y="7177531"/>
            <a:ext cx="14931390" cy="145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Based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on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each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tool’s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core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function;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individual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i="1">
                <a:solidFill>
                  <a:srgbClr val="585858"/>
                </a:solidFill>
                <a:latin typeface="Calibri"/>
                <a:cs typeface="Calibri"/>
              </a:rPr>
              <a:t>products</a:t>
            </a:r>
            <a:r>
              <a:rPr dirty="0" sz="1650" spc="-15" i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650" spc="-10" i="1">
                <a:solidFill>
                  <a:srgbClr val="585858"/>
                </a:solidFill>
                <a:latin typeface="Calibri"/>
                <a:cs typeface="Calibri"/>
              </a:rPr>
              <a:t>vary.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650">
              <a:latin typeface="Calibri"/>
              <a:cs typeface="Calibri"/>
            </a:endParaRPr>
          </a:p>
          <a:p>
            <a:pPr marL="50165" marR="5080">
              <a:lnSpc>
                <a:spcPts val="2850"/>
              </a:lnSpc>
              <a:spcBef>
                <a:spcPts val="5"/>
              </a:spcBef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GuessWise</a:t>
            </a:r>
            <a:r>
              <a:rPr dirty="0" sz="2400" spc="-3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combines</a:t>
            </a:r>
            <a:r>
              <a:rPr dirty="0" sz="2400" spc="-3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all</a:t>
            </a:r>
            <a:r>
              <a:rPr dirty="0" sz="2400" spc="-3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four:</a:t>
            </a:r>
            <a:r>
              <a:rPr dirty="0" sz="2400" spc="-3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attacker-style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scoring,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private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breach</a:t>
            </a:r>
            <a:r>
              <a:rPr dirty="0" sz="24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checks,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user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context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plain-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language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fixes</a:t>
            </a:r>
            <a:r>
              <a:rPr dirty="0" sz="240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dirty="0" sz="240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252525"/>
                </a:solidFill>
                <a:latin typeface="Calibri"/>
                <a:cs typeface="Calibri"/>
              </a:rPr>
              <a:t>one </a:t>
            </a:r>
            <a:r>
              <a:rPr dirty="0" sz="2400" spc="-20">
                <a:solidFill>
                  <a:srgbClr val="252525"/>
                </a:solidFill>
                <a:latin typeface="Calibri"/>
                <a:cs typeface="Calibri"/>
              </a:rPr>
              <a:t>drop-</a:t>
            </a:r>
            <a:r>
              <a:rPr dirty="0" sz="240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dirty="0" sz="2400" spc="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Calibri"/>
                <a:cs typeface="Calibri"/>
              </a:rPr>
              <a:t>package.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Risks</a:t>
            </a:r>
            <a:r>
              <a:rPr dirty="0" spc="-254"/>
              <a:t> </a:t>
            </a:r>
            <a:r>
              <a:rPr dirty="0"/>
              <a:t>and</a:t>
            </a:r>
            <a:r>
              <a:rPr dirty="0" spc="-254"/>
              <a:t> </a:t>
            </a:r>
            <a:r>
              <a:rPr dirty="0" spc="-25"/>
              <a:t>Gap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19619" y="2349500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BF0000"/>
                </a:solidFill>
                <a:latin typeface="Calibri"/>
                <a:cs typeface="Calibri"/>
              </a:rPr>
              <a:t>RISK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97259" y="2349500"/>
            <a:ext cx="1965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HOW</a:t>
            </a:r>
            <a:r>
              <a:rPr dirty="0" sz="1800" spc="-4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WE</a:t>
            </a:r>
            <a:r>
              <a:rPr dirty="0" sz="1800" spc="-4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HANDLE</a:t>
            </a:r>
            <a:r>
              <a:rPr dirty="0" sz="1800" spc="-4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BF0000"/>
                </a:solidFill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3504" y="2581484"/>
            <a:ext cx="5349240" cy="6443980"/>
          </a:xfrm>
          <a:custGeom>
            <a:avLst/>
            <a:gdLst/>
            <a:ahLst/>
            <a:cxnLst/>
            <a:rect l="l" t="t" r="r" b="b"/>
            <a:pathLst>
              <a:path w="5349240" h="6443980">
                <a:moveTo>
                  <a:pt x="5111737" y="6443835"/>
                </a:moveTo>
                <a:lnTo>
                  <a:pt x="237502" y="6443835"/>
                </a:lnTo>
                <a:lnTo>
                  <a:pt x="219380" y="6442211"/>
                </a:lnTo>
                <a:lnTo>
                  <a:pt x="174128" y="6429788"/>
                </a:lnTo>
                <a:lnTo>
                  <a:pt x="132461" y="6410007"/>
                </a:lnTo>
                <a:lnTo>
                  <a:pt x="95132" y="6383621"/>
                </a:lnTo>
                <a:lnTo>
                  <a:pt x="62897" y="6351387"/>
                </a:lnTo>
                <a:lnTo>
                  <a:pt x="36512" y="6314058"/>
                </a:lnTo>
                <a:lnTo>
                  <a:pt x="16731" y="6272390"/>
                </a:lnTo>
                <a:lnTo>
                  <a:pt x="4308" y="6227138"/>
                </a:lnTo>
                <a:lnTo>
                  <a:pt x="0" y="6179057"/>
                </a:lnTo>
                <a:lnTo>
                  <a:pt x="0" y="267462"/>
                </a:lnTo>
                <a:lnTo>
                  <a:pt x="4308" y="219380"/>
                </a:lnTo>
                <a:lnTo>
                  <a:pt x="16731" y="174128"/>
                </a:lnTo>
                <a:lnTo>
                  <a:pt x="36512" y="132461"/>
                </a:lnTo>
                <a:lnTo>
                  <a:pt x="62897" y="95132"/>
                </a:lnTo>
                <a:lnTo>
                  <a:pt x="95132" y="62897"/>
                </a:lnTo>
                <a:lnTo>
                  <a:pt x="132461" y="36512"/>
                </a:lnTo>
                <a:lnTo>
                  <a:pt x="174128" y="16731"/>
                </a:lnTo>
                <a:lnTo>
                  <a:pt x="219380" y="4308"/>
                </a:lnTo>
                <a:lnTo>
                  <a:pt x="267462" y="0"/>
                </a:lnTo>
                <a:lnTo>
                  <a:pt x="5081777" y="0"/>
                </a:lnTo>
                <a:lnTo>
                  <a:pt x="5129859" y="4308"/>
                </a:lnTo>
                <a:lnTo>
                  <a:pt x="5175111" y="16731"/>
                </a:lnTo>
                <a:lnTo>
                  <a:pt x="5216778" y="36512"/>
                </a:lnTo>
                <a:lnTo>
                  <a:pt x="5254107" y="62897"/>
                </a:lnTo>
                <a:lnTo>
                  <a:pt x="5286341" y="95132"/>
                </a:lnTo>
                <a:lnTo>
                  <a:pt x="5312727" y="132461"/>
                </a:lnTo>
                <a:lnTo>
                  <a:pt x="5332508" y="174128"/>
                </a:lnTo>
                <a:lnTo>
                  <a:pt x="5344931" y="219380"/>
                </a:lnTo>
                <a:lnTo>
                  <a:pt x="5349239" y="267462"/>
                </a:lnTo>
                <a:lnTo>
                  <a:pt x="5349239" y="6179057"/>
                </a:lnTo>
                <a:lnTo>
                  <a:pt x="5344931" y="6227138"/>
                </a:lnTo>
                <a:lnTo>
                  <a:pt x="5332508" y="6272390"/>
                </a:lnTo>
                <a:lnTo>
                  <a:pt x="5312727" y="6314058"/>
                </a:lnTo>
                <a:lnTo>
                  <a:pt x="5286341" y="6351387"/>
                </a:lnTo>
                <a:lnTo>
                  <a:pt x="5254107" y="6383621"/>
                </a:lnTo>
                <a:lnTo>
                  <a:pt x="5216778" y="6410007"/>
                </a:lnTo>
                <a:lnTo>
                  <a:pt x="5175111" y="6429788"/>
                </a:lnTo>
                <a:lnTo>
                  <a:pt x="5129859" y="6442211"/>
                </a:lnTo>
                <a:lnTo>
                  <a:pt x="5111737" y="6443835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98904" y="2611023"/>
            <a:ext cx="98996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F4CCCC"/>
                </a:solidFill>
                <a:latin typeface="Calibri"/>
                <a:cs typeface="Calibri"/>
              </a:rPr>
              <a:t>THE </a:t>
            </a:r>
            <a:r>
              <a:rPr dirty="0" sz="2100" spc="-25" b="1">
                <a:solidFill>
                  <a:srgbClr val="F4CCCC"/>
                </a:solidFill>
                <a:latin typeface="Calibri"/>
                <a:cs typeface="Calibri"/>
              </a:rPr>
              <a:t>GAP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8904" y="2906298"/>
            <a:ext cx="5198745" cy="2660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929"/>
              </a:lnSpc>
              <a:spcBef>
                <a:spcPts val="100"/>
              </a:spcBef>
            </a:pP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33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dirty="0" sz="33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dirty="0" sz="33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Calibri"/>
                <a:cs typeface="Calibri"/>
              </a:rPr>
              <a:t>combines</a:t>
            </a:r>
            <a:endParaRPr sz="3300">
              <a:latin typeface="Calibri"/>
              <a:cs typeface="Calibri"/>
            </a:endParaRPr>
          </a:p>
          <a:p>
            <a:pPr marL="12700" marR="5080">
              <a:lnSpc>
                <a:spcPts val="3900"/>
              </a:lnSpc>
              <a:spcBef>
                <a:spcPts val="150"/>
              </a:spcBef>
            </a:pPr>
            <a:r>
              <a:rPr dirty="0" sz="3300" spc="-20" b="1">
                <a:solidFill>
                  <a:srgbClr val="FFFFFF"/>
                </a:solidFill>
                <a:latin typeface="Calibri"/>
                <a:cs typeface="Calibri"/>
              </a:rPr>
              <a:t>attacker-</a:t>
            </a: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style</a:t>
            </a:r>
            <a:r>
              <a:rPr dirty="0" sz="33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scoring,</a:t>
            </a:r>
            <a:r>
              <a:rPr dirty="0" sz="33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Calibri"/>
                <a:cs typeface="Calibri"/>
              </a:rPr>
              <a:t>private </a:t>
            </a: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breach</a:t>
            </a:r>
            <a:r>
              <a:rPr dirty="0" sz="33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checks</a:t>
            </a:r>
            <a:r>
              <a:rPr dirty="0" sz="33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33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Calibri"/>
                <a:cs typeface="Calibri"/>
              </a:rPr>
              <a:t>clear advice.</a:t>
            </a:r>
            <a:endParaRPr sz="3300">
              <a:latin typeface="Calibri"/>
              <a:cs typeface="Calibri"/>
            </a:endParaRPr>
          </a:p>
          <a:p>
            <a:pPr marL="12700" marR="210820">
              <a:lnSpc>
                <a:spcPts val="2470"/>
              </a:lnSpc>
              <a:spcBef>
                <a:spcPts val="95"/>
              </a:spcBef>
            </a:pP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Developers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stitch</a:t>
            </a:r>
            <a:r>
              <a:rPr dirty="0" sz="2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zxcvbn,</a:t>
            </a:r>
            <a:r>
              <a:rPr dirty="0" sz="2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breach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lookups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policy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FFFF"/>
                </a:solidFill>
                <a:latin typeface="Calibri"/>
                <a:cs typeface="Calibri"/>
              </a:rPr>
              <a:t>together</a:t>
            </a:r>
            <a:r>
              <a:rPr dirty="0" sz="2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themselves.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32319" y="2948939"/>
            <a:ext cx="9778365" cy="1371600"/>
          </a:xfrm>
          <a:custGeom>
            <a:avLst/>
            <a:gdLst/>
            <a:ahLst/>
            <a:cxnLst/>
            <a:rect l="l" t="t" r="r" b="b"/>
            <a:pathLst>
              <a:path w="9778365" h="1371600">
                <a:moveTo>
                  <a:pt x="9710928" y="1371600"/>
                </a:moveTo>
                <a:lnTo>
                  <a:pt x="68580" y="1371600"/>
                </a:lnTo>
                <a:lnTo>
                  <a:pt x="41871" y="1366215"/>
                </a:lnTo>
                <a:lnTo>
                  <a:pt x="20074" y="1351526"/>
                </a:lnTo>
                <a:lnTo>
                  <a:pt x="5384" y="1329728"/>
                </a:lnTo>
                <a:lnTo>
                  <a:pt x="0" y="1303020"/>
                </a:lnTo>
                <a:lnTo>
                  <a:pt x="0" y="68580"/>
                </a:lnTo>
                <a:lnTo>
                  <a:pt x="5384" y="41871"/>
                </a:lnTo>
                <a:lnTo>
                  <a:pt x="20074" y="20073"/>
                </a:lnTo>
                <a:lnTo>
                  <a:pt x="41871" y="5384"/>
                </a:lnTo>
                <a:lnTo>
                  <a:pt x="68580" y="0"/>
                </a:lnTo>
                <a:lnTo>
                  <a:pt x="9710928" y="0"/>
                </a:lnTo>
                <a:lnTo>
                  <a:pt x="9737637" y="5384"/>
                </a:lnTo>
                <a:lnTo>
                  <a:pt x="9759434" y="20073"/>
                </a:lnTo>
                <a:lnTo>
                  <a:pt x="9774124" y="41871"/>
                </a:lnTo>
                <a:lnTo>
                  <a:pt x="9778007" y="61135"/>
                </a:lnTo>
                <a:lnTo>
                  <a:pt x="9778007" y="1310464"/>
                </a:lnTo>
                <a:lnTo>
                  <a:pt x="9774124" y="1329728"/>
                </a:lnTo>
                <a:lnTo>
                  <a:pt x="9759434" y="1351526"/>
                </a:lnTo>
                <a:lnTo>
                  <a:pt x="9737637" y="1366215"/>
                </a:lnTo>
                <a:lnTo>
                  <a:pt x="9710928" y="1371600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462519" y="3393440"/>
            <a:ext cx="3355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Privacy</a:t>
            </a:r>
            <a:r>
              <a:rPr dirty="0" sz="24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dirty="0" sz="240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what</a:t>
            </a:r>
            <a:r>
              <a:rPr dirty="0" sz="240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users</a:t>
            </a:r>
            <a:r>
              <a:rPr dirty="0" sz="240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252525"/>
                </a:solidFill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97259" y="3260090"/>
            <a:ext cx="5500370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Score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browser,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send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only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5-character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hash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prefix,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never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log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plaintext.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32319" y="4457699"/>
            <a:ext cx="9778365" cy="1371600"/>
          </a:xfrm>
          <a:custGeom>
            <a:avLst/>
            <a:gdLst/>
            <a:ahLst/>
            <a:cxnLst/>
            <a:rect l="l" t="t" r="r" b="b"/>
            <a:pathLst>
              <a:path w="9778365" h="1371600">
                <a:moveTo>
                  <a:pt x="9710928" y="1371600"/>
                </a:moveTo>
                <a:lnTo>
                  <a:pt x="68580" y="1371600"/>
                </a:lnTo>
                <a:lnTo>
                  <a:pt x="41871" y="1366215"/>
                </a:lnTo>
                <a:lnTo>
                  <a:pt x="20074" y="1351526"/>
                </a:lnTo>
                <a:lnTo>
                  <a:pt x="5384" y="1329728"/>
                </a:lnTo>
                <a:lnTo>
                  <a:pt x="0" y="1303020"/>
                </a:lnTo>
                <a:lnTo>
                  <a:pt x="0" y="68580"/>
                </a:lnTo>
                <a:lnTo>
                  <a:pt x="20074" y="20074"/>
                </a:lnTo>
                <a:lnTo>
                  <a:pt x="68580" y="0"/>
                </a:lnTo>
                <a:lnTo>
                  <a:pt x="9710928" y="0"/>
                </a:lnTo>
                <a:lnTo>
                  <a:pt x="9737637" y="5384"/>
                </a:lnTo>
                <a:lnTo>
                  <a:pt x="9759434" y="20074"/>
                </a:lnTo>
                <a:lnTo>
                  <a:pt x="9774124" y="41871"/>
                </a:lnTo>
                <a:lnTo>
                  <a:pt x="9778007" y="61135"/>
                </a:lnTo>
                <a:lnTo>
                  <a:pt x="9778007" y="1310464"/>
                </a:lnTo>
                <a:lnTo>
                  <a:pt x="9774124" y="1329728"/>
                </a:lnTo>
                <a:lnTo>
                  <a:pt x="9759434" y="1351526"/>
                </a:lnTo>
                <a:lnTo>
                  <a:pt x="9737637" y="1366215"/>
                </a:lnTo>
                <a:lnTo>
                  <a:pt x="9710928" y="1371600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462519" y="4902200"/>
            <a:ext cx="2766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Breach</a:t>
            </a:r>
            <a:r>
              <a:rPr dirty="0" sz="24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API</a:t>
            </a:r>
            <a:r>
              <a:rPr dirty="0" sz="24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downtime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97259" y="4768850"/>
            <a:ext cx="5397500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Cache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results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self-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host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dataset;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scoring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still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works</a:t>
            </a:r>
            <a:r>
              <a:rPr dirty="0" sz="21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offline.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32319" y="5966459"/>
            <a:ext cx="9778365" cy="1371600"/>
          </a:xfrm>
          <a:custGeom>
            <a:avLst/>
            <a:gdLst/>
            <a:ahLst/>
            <a:cxnLst/>
            <a:rect l="l" t="t" r="r" b="b"/>
            <a:pathLst>
              <a:path w="9778365" h="1371600">
                <a:moveTo>
                  <a:pt x="9710928" y="1371600"/>
                </a:moveTo>
                <a:lnTo>
                  <a:pt x="68580" y="1371600"/>
                </a:lnTo>
                <a:lnTo>
                  <a:pt x="41871" y="1366215"/>
                </a:lnTo>
                <a:lnTo>
                  <a:pt x="20074" y="1351525"/>
                </a:lnTo>
                <a:lnTo>
                  <a:pt x="5384" y="1329728"/>
                </a:lnTo>
                <a:lnTo>
                  <a:pt x="0" y="1303019"/>
                </a:lnTo>
                <a:lnTo>
                  <a:pt x="0" y="68580"/>
                </a:lnTo>
                <a:lnTo>
                  <a:pt x="5384" y="41871"/>
                </a:lnTo>
                <a:lnTo>
                  <a:pt x="20074" y="20073"/>
                </a:lnTo>
                <a:lnTo>
                  <a:pt x="41871" y="5384"/>
                </a:lnTo>
                <a:lnTo>
                  <a:pt x="68580" y="0"/>
                </a:lnTo>
                <a:lnTo>
                  <a:pt x="9710928" y="0"/>
                </a:lnTo>
                <a:lnTo>
                  <a:pt x="9737637" y="5384"/>
                </a:lnTo>
                <a:lnTo>
                  <a:pt x="9759434" y="20073"/>
                </a:lnTo>
                <a:lnTo>
                  <a:pt x="9774124" y="41871"/>
                </a:lnTo>
                <a:lnTo>
                  <a:pt x="9778007" y="61135"/>
                </a:lnTo>
                <a:lnTo>
                  <a:pt x="9778007" y="1310464"/>
                </a:lnTo>
                <a:lnTo>
                  <a:pt x="9774124" y="1329728"/>
                </a:lnTo>
                <a:lnTo>
                  <a:pt x="9759434" y="1351525"/>
                </a:lnTo>
                <a:lnTo>
                  <a:pt x="9737637" y="1366215"/>
                </a:lnTo>
                <a:lnTo>
                  <a:pt x="9710928" y="1371600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62519" y="6410960"/>
            <a:ext cx="2618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False</a:t>
            </a:r>
            <a:r>
              <a:rPr dirty="0" sz="24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sense</a:t>
            </a:r>
            <a:r>
              <a:rPr dirty="0" sz="2400" spc="-4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dirty="0" sz="24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safety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97259" y="6277610"/>
            <a:ext cx="4828540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Strong</a:t>
            </a:r>
            <a:r>
              <a:rPr dirty="0" sz="21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passwords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can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still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be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phished,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so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we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prompt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for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MFA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passkeys.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32319" y="7475219"/>
            <a:ext cx="9778365" cy="1371600"/>
          </a:xfrm>
          <a:custGeom>
            <a:avLst/>
            <a:gdLst/>
            <a:ahLst/>
            <a:cxnLst/>
            <a:rect l="l" t="t" r="r" b="b"/>
            <a:pathLst>
              <a:path w="9778365" h="1371600">
                <a:moveTo>
                  <a:pt x="9710928" y="1371600"/>
                </a:moveTo>
                <a:lnTo>
                  <a:pt x="68580" y="1371600"/>
                </a:lnTo>
                <a:lnTo>
                  <a:pt x="41871" y="1366215"/>
                </a:lnTo>
                <a:lnTo>
                  <a:pt x="20074" y="1351526"/>
                </a:lnTo>
                <a:lnTo>
                  <a:pt x="5384" y="1329728"/>
                </a:lnTo>
                <a:lnTo>
                  <a:pt x="0" y="1303020"/>
                </a:lnTo>
                <a:lnTo>
                  <a:pt x="0" y="68580"/>
                </a:lnTo>
                <a:lnTo>
                  <a:pt x="5384" y="41871"/>
                </a:lnTo>
                <a:lnTo>
                  <a:pt x="20074" y="20074"/>
                </a:lnTo>
                <a:lnTo>
                  <a:pt x="41871" y="5384"/>
                </a:lnTo>
                <a:lnTo>
                  <a:pt x="68580" y="0"/>
                </a:lnTo>
                <a:lnTo>
                  <a:pt x="9710928" y="0"/>
                </a:lnTo>
                <a:lnTo>
                  <a:pt x="9737637" y="5384"/>
                </a:lnTo>
                <a:lnTo>
                  <a:pt x="9759434" y="20074"/>
                </a:lnTo>
                <a:lnTo>
                  <a:pt x="9774124" y="41871"/>
                </a:lnTo>
                <a:lnTo>
                  <a:pt x="9778007" y="61135"/>
                </a:lnTo>
                <a:lnTo>
                  <a:pt x="9778007" y="1310464"/>
                </a:lnTo>
                <a:lnTo>
                  <a:pt x="9774124" y="1329728"/>
                </a:lnTo>
                <a:lnTo>
                  <a:pt x="9759434" y="1351526"/>
                </a:lnTo>
                <a:lnTo>
                  <a:pt x="9737637" y="1366215"/>
                </a:lnTo>
                <a:lnTo>
                  <a:pt x="9710928" y="1371600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462519" y="7919719"/>
            <a:ext cx="2490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Users</a:t>
            </a:r>
            <a:r>
              <a:rPr dirty="0" sz="240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ignore</a:t>
            </a:r>
            <a:r>
              <a:rPr dirty="0" sz="240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advice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097259" y="7786369"/>
            <a:ext cx="4859655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Real-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time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plain-language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tips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one-click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passphrase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generator.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Concept/Idea/Prototype/Product/Solution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8899" y="2402840"/>
            <a:ext cx="135274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BF0000"/>
                </a:solidFill>
                <a:latin typeface="Calibri"/>
                <a:cs typeface="Calibri"/>
              </a:rPr>
              <a:t>GuessWise</a:t>
            </a:r>
            <a:r>
              <a:rPr dirty="0" sz="2700" spc="-1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scores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password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how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attacker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would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guess</a:t>
            </a:r>
            <a:r>
              <a:rPr dirty="0" sz="2700" spc="-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it,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then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tells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user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how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252525"/>
                </a:solidFill>
                <a:latin typeface="Calibri"/>
                <a:cs typeface="Calibri"/>
              </a:rPr>
              <a:t>fix</a:t>
            </a:r>
            <a:r>
              <a:rPr dirty="0" sz="270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252525"/>
                </a:solidFill>
                <a:latin typeface="Calibri"/>
                <a:cs typeface="Calibri"/>
              </a:rPr>
              <a:t>it.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71600" y="3291839"/>
            <a:ext cx="4937760" cy="3425190"/>
            <a:chOff x="1371600" y="3291839"/>
            <a:chExt cx="4937760" cy="3425190"/>
          </a:xfrm>
        </p:grpSpPr>
        <p:sp>
          <p:nvSpPr>
            <p:cNvPr id="8" name="object 8"/>
            <p:cNvSpPr/>
            <p:nvPr/>
          </p:nvSpPr>
          <p:spPr>
            <a:xfrm>
              <a:off x="1371600" y="3291839"/>
              <a:ext cx="4937760" cy="3425190"/>
            </a:xfrm>
            <a:custGeom>
              <a:avLst/>
              <a:gdLst/>
              <a:ahLst/>
              <a:cxnLst/>
              <a:rect l="l" t="t" r="r" b="b"/>
              <a:pathLst>
                <a:path w="4937760" h="3425190">
                  <a:moveTo>
                    <a:pt x="4795808" y="3425035"/>
                  </a:moveTo>
                  <a:lnTo>
                    <a:pt x="141951" y="3425035"/>
                  </a:lnTo>
                  <a:lnTo>
                    <a:pt x="125875" y="3422874"/>
                  </a:lnTo>
                  <a:lnTo>
                    <a:pt x="84920" y="3405589"/>
                  </a:lnTo>
                  <a:lnTo>
                    <a:pt x="50220" y="3378779"/>
                  </a:lnTo>
                  <a:lnTo>
                    <a:pt x="23410" y="3344079"/>
                  </a:lnTo>
                  <a:lnTo>
                    <a:pt x="6125" y="3303124"/>
                  </a:lnTo>
                  <a:lnTo>
                    <a:pt x="0" y="3257549"/>
                  </a:lnTo>
                  <a:lnTo>
                    <a:pt x="0" y="171450"/>
                  </a:lnTo>
                  <a:lnTo>
                    <a:pt x="6125" y="125875"/>
                  </a:lnTo>
                  <a:lnTo>
                    <a:pt x="23410" y="84920"/>
                  </a:lnTo>
                  <a:lnTo>
                    <a:pt x="50220" y="50220"/>
                  </a:lnTo>
                  <a:lnTo>
                    <a:pt x="84920" y="23410"/>
                  </a:lnTo>
                  <a:lnTo>
                    <a:pt x="125875" y="6125"/>
                  </a:lnTo>
                  <a:lnTo>
                    <a:pt x="171450" y="0"/>
                  </a:lnTo>
                  <a:lnTo>
                    <a:pt x="4766309" y="0"/>
                  </a:lnTo>
                  <a:lnTo>
                    <a:pt x="4811884" y="6125"/>
                  </a:lnTo>
                  <a:lnTo>
                    <a:pt x="4852839" y="23410"/>
                  </a:lnTo>
                  <a:lnTo>
                    <a:pt x="4887539" y="50220"/>
                  </a:lnTo>
                  <a:lnTo>
                    <a:pt x="4914349" y="84920"/>
                  </a:lnTo>
                  <a:lnTo>
                    <a:pt x="4931634" y="125875"/>
                  </a:lnTo>
                  <a:lnTo>
                    <a:pt x="4937759" y="171450"/>
                  </a:lnTo>
                  <a:lnTo>
                    <a:pt x="4937759" y="3257549"/>
                  </a:lnTo>
                  <a:lnTo>
                    <a:pt x="4931634" y="3303124"/>
                  </a:lnTo>
                  <a:lnTo>
                    <a:pt x="4914349" y="3344079"/>
                  </a:lnTo>
                  <a:lnTo>
                    <a:pt x="4887539" y="3378779"/>
                  </a:lnTo>
                  <a:lnTo>
                    <a:pt x="4852839" y="3405589"/>
                  </a:lnTo>
                  <a:lnTo>
                    <a:pt x="4811884" y="3422874"/>
                  </a:lnTo>
                  <a:lnTo>
                    <a:pt x="4795808" y="3425035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714499" y="356616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685800"/>
                  </a:moveTo>
                  <a:lnTo>
                    <a:pt x="296375" y="682669"/>
                  </a:lnTo>
                  <a:lnTo>
                    <a:pt x="251751" y="673549"/>
                  </a:lnTo>
                  <a:lnTo>
                    <a:pt x="209436" y="658850"/>
                  </a:lnTo>
                  <a:lnTo>
                    <a:pt x="169841" y="638979"/>
                  </a:lnTo>
                  <a:lnTo>
                    <a:pt x="133373" y="614345"/>
                  </a:lnTo>
                  <a:lnTo>
                    <a:pt x="100441" y="585358"/>
                  </a:lnTo>
                  <a:lnTo>
                    <a:pt x="71454" y="552426"/>
                  </a:lnTo>
                  <a:lnTo>
                    <a:pt x="46820" y="515958"/>
                  </a:lnTo>
                  <a:lnTo>
                    <a:pt x="26949" y="476363"/>
                  </a:lnTo>
                  <a:lnTo>
                    <a:pt x="12250" y="434048"/>
                  </a:lnTo>
                  <a:lnTo>
                    <a:pt x="3130" y="389425"/>
                  </a:lnTo>
                  <a:lnTo>
                    <a:pt x="0" y="342900"/>
                  </a:lnTo>
                  <a:lnTo>
                    <a:pt x="3130" y="296375"/>
                  </a:lnTo>
                  <a:lnTo>
                    <a:pt x="12250" y="251751"/>
                  </a:lnTo>
                  <a:lnTo>
                    <a:pt x="26949" y="209436"/>
                  </a:lnTo>
                  <a:lnTo>
                    <a:pt x="46820" y="169841"/>
                  </a:lnTo>
                  <a:lnTo>
                    <a:pt x="71454" y="133373"/>
                  </a:lnTo>
                  <a:lnTo>
                    <a:pt x="100441" y="100441"/>
                  </a:lnTo>
                  <a:lnTo>
                    <a:pt x="133373" y="71454"/>
                  </a:lnTo>
                  <a:lnTo>
                    <a:pt x="169841" y="46820"/>
                  </a:lnTo>
                  <a:lnTo>
                    <a:pt x="209436" y="26949"/>
                  </a:lnTo>
                  <a:lnTo>
                    <a:pt x="251751" y="12250"/>
                  </a:lnTo>
                  <a:lnTo>
                    <a:pt x="296375" y="3130"/>
                  </a:lnTo>
                  <a:lnTo>
                    <a:pt x="342900" y="0"/>
                  </a:lnTo>
                  <a:lnTo>
                    <a:pt x="389425" y="3130"/>
                  </a:lnTo>
                  <a:lnTo>
                    <a:pt x="434048" y="12250"/>
                  </a:lnTo>
                  <a:lnTo>
                    <a:pt x="476363" y="26949"/>
                  </a:lnTo>
                  <a:lnTo>
                    <a:pt x="515958" y="46820"/>
                  </a:lnTo>
                  <a:lnTo>
                    <a:pt x="552426" y="71454"/>
                  </a:lnTo>
                  <a:lnTo>
                    <a:pt x="585358" y="100441"/>
                  </a:lnTo>
                  <a:lnTo>
                    <a:pt x="614345" y="133373"/>
                  </a:lnTo>
                  <a:lnTo>
                    <a:pt x="638979" y="169841"/>
                  </a:lnTo>
                  <a:lnTo>
                    <a:pt x="658850" y="209436"/>
                  </a:lnTo>
                  <a:lnTo>
                    <a:pt x="673549" y="251751"/>
                  </a:lnTo>
                  <a:lnTo>
                    <a:pt x="682669" y="296375"/>
                  </a:lnTo>
                  <a:lnTo>
                    <a:pt x="685800" y="342900"/>
                  </a:lnTo>
                  <a:lnTo>
                    <a:pt x="682669" y="389425"/>
                  </a:lnTo>
                  <a:lnTo>
                    <a:pt x="673549" y="434048"/>
                  </a:lnTo>
                  <a:lnTo>
                    <a:pt x="658850" y="476363"/>
                  </a:lnTo>
                  <a:lnTo>
                    <a:pt x="638979" y="515958"/>
                  </a:lnTo>
                  <a:lnTo>
                    <a:pt x="614345" y="552426"/>
                  </a:lnTo>
                  <a:lnTo>
                    <a:pt x="585358" y="585358"/>
                  </a:lnTo>
                  <a:lnTo>
                    <a:pt x="552426" y="614345"/>
                  </a:lnTo>
                  <a:lnTo>
                    <a:pt x="515958" y="638979"/>
                  </a:lnTo>
                  <a:lnTo>
                    <a:pt x="476363" y="658850"/>
                  </a:lnTo>
                  <a:lnTo>
                    <a:pt x="434048" y="673549"/>
                  </a:lnTo>
                  <a:lnTo>
                    <a:pt x="389425" y="682669"/>
                  </a:lnTo>
                  <a:lnTo>
                    <a:pt x="342900" y="6858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67458" y="366775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3339" y="3639184"/>
            <a:ext cx="218884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Pattern</a:t>
            </a:r>
            <a:r>
              <a:rPr dirty="0" sz="2700" spc="-8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252525"/>
                </a:solidFill>
                <a:latin typeface="Calibri"/>
                <a:cs typeface="Calibri"/>
              </a:rPr>
              <a:t>scoring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4465954"/>
            <a:ext cx="3966210" cy="128841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Catches</a:t>
            </a:r>
            <a:r>
              <a:rPr dirty="0" sz="21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common</a:t>
            </a:r>
            <a:r>
              <a:rPr dirty="0" sz="21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words,</a:t>
            </a:r>
            <a:r>
              <a:rPr dirty="0" sz="21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l33t</a:t>
            </a:r>
            <a:r>
              <a:rPr dirty="0" sz="210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swaps,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keyboard walks, dates and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repeats.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Tr0ub4dor&amp;3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is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flagged;</a:t>
            </a:r>
            <a:r>
              <a:rPr dirty="0" sz="21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long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passphrase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rates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strong.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72833" y="3291839"/>
            <a:ext cx="4937760" cy="3425190"/>
            <a:chOff x="6672833" y="3291839"/>
            <a:chExt cx="4937760" cy="3425190"/>
          </a:xfrm>
        </p:grpSpPr>
        <p:sp>
          <p:nvSpPr>
            <p:cNvPr id="14" name="object 14"/>
            <p:cNvSpPr/>
            <p:nvPr/>
          </p:nvSpPr>
          <p:spPr>
            <a:xfrm>
              <a:off x="6672833" y="3291839"/>
              <a:ext cx="4937760" cy="3425190"/>
            </a:xfrm>
            <a:custGeom>
              <a:avLst/>
              <a:gdLst/>
              <a:ahLst/>
              <a:cxnLst/>
              <a:rect l="l" t="t" r="r" b="b"/>
              <a:pathLst>
                <a:path w="4937759" h="3425190">
                  <a:moveTo>
                    <a:pt x="4795808" y="3425035"/>
                  </a:moveTo>
                  <a:lnTo>
                    <a:pt x="141951" y="3425035"/>
                  </a:lnTo>
                  <a:lnTo>
                    <a:pt x="125875" y="3422874"/>
                  </a:lnTo>
                  <a:lnTo>
                    <a:pt x="84920" y="3405589"/>
                  </a:lnTo>
                  <a:lnTo>
                    <a:pt x="50220" y="3378779"/>
                  </a:lnTo>
                  <a:lnTo>
                    <a:pt x="23410" y="3344079"/>
                  </a:lnTo>
                  <a:lnTo>
                    <a:pt x="6125" y="3303124"/>
                  </a:lnTo>
                  <a:lnTo>
                    <a:pt x="0" y="3257549"/>
                  </a:lnTo>
                  <a:lnTo>
                    <a:pt x="0" y="171450"/>
                  </a:lnTo>
                  <a:lnTo>
                    <a:pt x="6125" y="125875"/>
                  </a:lnTo>
                  <a:lnTo>
                    <a:pt x="23410" y="84920"/>
                  </a:lnTo>
                  <a:lnTo>
                    <a:pt x="50220" y="50220"/>
                  </a:lnTo>
                  <a:lnTo>
                    <a:pt x="84920" y="23410"/>
                  </a:lnTo>
                  <a:lnTo>
                    <a:pt x="125875" y="6125"/>
                  </a:lnTo>
                  <a:lnTo>
                    <a:pt x="171450" y="0"/>
                  </a:lnTo>
                  <a:lnTo>
                    <a:pt x="4766309" y="0"/>
                  </a:lnTo>
                  <a:lnTo>
                    <a:pt x="4811884" y="6125"/>
                  </a:lnTo>
                  <a:lnTo>
                    <a:pt x="4852839" y="23410"/>
                  </a:lnTo>
                  <a:lnTo>
                    <a:pt x="4887539" y="50220"/>
                  </a:lnTo>
                  <a:lnTo>
                    <a:pt x="4914349" y="84920"/>
                  </a:lnTo>
                  <a:lnTo>
                    <a:pt x="4931634" y="125875"/>
                  </a:lnTo>
                  <a:lnTo>
                    <a:pt x="4937759" y="171450"/>
                  </a:lnTo>
                  <a:lnTo>
                    <a:pt x="4937759" y="3257549"/>
                  </a:lnTo>
                  <a:lnTo>
                    <a:pt x="4931634" y="3303124"/>
                  </a:lnTo>
                  <a:lnTo>
                    <a:pt x="4914349" y="3344079"/>
                  </a:lnTo>
                  <a:lnTo>
                    <a:pt x="4887539" y="3378779"/>
                  </a:lnTo>
                  <a:lnTo>
                    <a:pt x="4852839" y="3405589"/>
                  </a:lnTo>
                  <a:lnTo>
                    <a:pt x="4811884" y="3422874"/>
                  </a:lnTo>
                  <a:lnTo>
                    <a:pt x="4795808" y="3425035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015733" y="356616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685800"/>
                  </a:moveTo>
                  <a:lnTo>
                    <a:pt x="296375" y="682669"/>
                  </a:lnTo>
                  <a:lnTo>
                    <a:pt x="251751" y="673549"/>
                  </a:lnTo>
                  <a:lnTo>
                    <a:pt x="209436" y="658850"/>
                  </a:lnTo>
                  <a:lnTo>
                    <a:pt x="169841" y="638979"/>
                  </a:lnTo>
                  <a:lnTo>
                    <a:pt x="133373" y="614345"/>
                  </a:lnTo>
                  <a:lnTo>
                    <a:pt x="100441" y="585358"/>
                  </a:lnTo>
                  <a:lnTo>
                    <a:pt x="71454" y="552426"/>
                  </a:lnTo>
                  <a:lnTo>
                    <a:pt x="46820" y="515958"/>
                  </a:lnTo>
                  <a:lnTo>
                    <a:pt x="26949" y="476363"/>
                  </a:lnTo>
                  <a:lnTo>
                    <a:pt x="12250" y="434048"/>
                  </a:lnTo>
                  <a:lnTo>
                    <a:pt x="3130" y="389425"/>
                  </a:lnTo>
                  <a:lnTo>
                    <a:pt x="0" y="342900"/>
                  </a:lnTo>
                  <a:lnTo>
                    <a:pt x="3130" y="296375"/>
                  </a:lnTo>
                  <a:lnTo>
                    <a:pt x="12250" y="251751"/>
                  </a:lnTo>
                  <a:lnTo>
                    <a:pt x="26949" y="209436"/>
                  </a:lnTo>
                  <a:lnTo>
                    <a:pt x="46820" y="169841"/>
                  </a:lnTo>
                  <a:lnTo>
                    <a:pt x="71454" y="133373"/>
                  </a:lnTo>
                  <a:lnTo>
                    <a:pt x="100441" y="100441"/>
                  </a:lnTo>
                  <a:lnTo>
                    <a:pt x="133373" y="71454"/>
                  </a:lnTo>
                  <a:lnTo>
                    <a:pt x="169841" y="46820"/>
                  </a:lnTo>
                  <a:lnTo>
                    <a:pt x="209436" y="26949"/>
                  </a:lnTo>
                  <a:lnTo>
                    <a:pt x="251751" y="12250"/>
                  </a:lnTo>
                  <a:lnTo>
                    <a:pt x="296375" y="3130"/>
                  </a:lnTo>
                  <a:lnTo>
                    <a:pt x="342900" y="0"/>
                  </a:lnTo>
                  <a:lnTo>
                    <a:pt x="389425" y="3130"/>
                  </a:lnTo>
                  <a:lnTo>
                    <a:pt x="434048" y="12250"/>
                  </a:lnTo>
                  <a:lnTo>
                    <a:pt x="476363" y="26949"/>
                  </a:lnTo>
                  <a:lnTo>
                    <a:pt x="515958" y="46820"/>
                  </a:lnTo>
                  <a:lnTo>
                    <a:pt x="552426" y="71454"/>
                  </a:lnTo>
                  <a:lnTo>
                    <a:pt x="585358" y="100441"/>
                  </a:lnTo>
                  <a:lnTo>
                    <a:pt x="614345" y="133373"/>
                  </a:lnTo>
                  <a:lnTo>
                    <a:pt x="638979" y="169841"/>
                  </a:lnTo>
                  <a:lnTo>
                    <a:pt x="658850" y="209436"/>
                  </a:lnTo>
                  <a:lnTo>
                    <a:pt x="673549" y="251751"/>
                  </a:lnTo>
                  <a:lnTo>
                    <a:pt x="682669" y="296375"/>
                  </a:lnTo>
                  <a:lnTo>
                    <a:pt x="685800" y="342900"/>
                  </a:lnTo>
                  <a:lnTo>
                    <a:pt x="682669" y="389425"/>
                  </a:lnTo>
                  <a:lnTo>
                    <a:pt x="673549" y="434048"/>
                  </a:lnTo>
                  <a:lnTo>
                    <a:pt x="658850" y="476363"/>
                  </a:lnTo>
                  <a:lnTo>
                    <a:pt x="638979" y="515958"/>
                  </a:lnTo>
                  <a:lnTo>
                    <a:pt x="614345" y="552426"/>
                  </a:lnTo>
                  <a:lnTo>
                    <a:pt x="585358" y="585358"/>
                  </a:lnTo>
                  <a:lnTo>
                    <a:pt x="552426" y="614345"/>
                  </a:lnTo>
                  <a:lnTo>
                    <a:pt x="515958" y="638979"/>
                  </a:lnTo>
                  <a:lnTo>
                    <a:pt x="476363" y="658850"/>
                  </a:lnTo>
                  <a:lnTo>
                    <a:pt x="434048" y="673549"/>
                  </a:lnTo>
                  <a:lnTo>
                    <a:pt x="389425" y="682669"/>
                  </a:lnTo>
                  <a:lnTo>
                    <a:pt x="342900" y="6858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268691" y="366775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94573" y="3639184"/>
            <a:ext cx="29756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Private</a:t>
            </a:r>
            <a:r>
              <a:rPr dirty="0" sz="2700" spc="-8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breach</a:t>
            </a:r>
            <a:r>
              <a:rPr dirty="0" sz="2700" spc="-8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252525"/>
                </a:solidFill>
                <a:latin typeface="Calibri"/>
                <a:cs typeface="Calibri"/>
              </a:rPr>
              <a:t>check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03033" y="4465954"/>
            <a:ext cx="4166870" cy="128841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Hash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password,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send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only</a:t>
            </a:r>
            <a:r>
              <a:rPr dirty="0" sz="21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first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characters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Have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I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Been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Pwned,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compare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rest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locally.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Breached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means 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blocked.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974067" y="3291839"/>
            <a:ext cx="4937760" cy="3425190"/>
            <a:chOff x="11974067" y="3291839"/>
            <a:chExt cx="4937760" cy="3425190"/>
          </a:xfrm>
        </p:grpSpPr>
        <p:sp>
          <p:nvSpPr>
            <p:cNvPr id="20" name="object 20"/>
            <p:cNvSpPr/>
            <p:nvPr/>
          </p:nvSpPr>
          <p:spPr>
            <a:xfrm>
              <a:off x="11974067" y="3291839"/>
              <a:ext cx="4937760" cy="3425190"/>
            </a:xfrm>
            <a:custGeom>
              <a:avLst/>
              <a:gdLst/>
              <a:ahLst/>
              <a:cxnLst/>
              <a:rect l="l" t="t" r="r" b="b"/>
              <a:pathLst>
                <a:path w="4937759" h="3425190">
                  <a:moveTo>
                    <a:pt x="4795808" y="3425035"/>
                  </a:moveTo>
                  <a:lnTo>
                    <a:pt x="141951" y="3425035"/>
                  </a:lnTo>
                  <a:lnTo>
                    <a:pt x="125875" y="3422874"/>
                  </a:lnTo>
                  <a:lnTo>
                    <a:pt x="84920" y="3405589"/>
                  </a:lnTo>
                  <a:lnTo>
                    <a:pt x="50220" y="3378779"/>
                  </a:lnTo>
                  <a:lnTo>
                    <a:pt x="23410" y="3344079"/>
                  </a:lnTo>
                  <a:lnTo>
                    <a:pt x="6125" y="3303124"/>
                  </a:lnTo>
                  <a:lnTo>
                    <a:pt x="0" y="3257549"/>
                  </a:lnTo>
                  <a:lnTo>
                    <a:pt x="0" y="171450"/>
                  </a:lnTo>
                  <a:lnTo>
                    <a:pt x="6125" y="125875"/>
                  </a:lnTo>
                  <a:lnTo>
                    <a:pt x="23410" y="84920"/>
                  </a:lnTo>
                  <a:lnTo>
                    <a:pt x="50220" y="50220"/>
                  </a:lnTo>
                  <a:lnTo>
                    <a:pt x="84920" y="23410"/>
                  </a:lnTo>
                  <a:lnTo>
                    <a:pt x="125875" y="6125"/>
                  </a:lnTo>
                  <a:lnTo>
                    <a:pt x="171450" y="0"/>
                  </a:lnTo>
                  <a:lnTo>
                    <a:pt x="4766309" y="0"/>
                  </a:lnTo>
                  <a:lnTo>
                    <a:pt x="4811884" y="6125"/>
                  </a:lnTo>
                  <a:lnTo>
                    <a:pt x="4852839" y="23410"/>
                  </a:lnTo>
                  <a:lnTo>
                    <a:pt x="4887539" y="50220"/>
                  </a:lnTo>
                  <a:lnTo>
                    <a:pt x="4914349" y="84920"/>
                  </a:lnTo>
                  <a:lnTo>
                    <a:pt x="4931634" y="125875"/>
                  </a:lnTo>
                  <a:lnTo>
                    <a:pt x="4937759" y="171450"/>
                  </a:lnTo>
                  <a:lnTo>
                    <a:pt x="4937759" y="3257549"/>
                  </a:lnTo>
                  <a:lnTo>
                    <a:pt x="4931634" y="3303124"/>
                  </a:lnTo>
                  <a:lnTo>
                    <a:pt x="4914349" y="3344079"/>
                  </a:lnTo>
                  <a:lnTo>
                    <a:pt x="4887539" y="3378779"/>
                  </a:lnTo>
                  <a:lnTo>
                    <a:pt x="4852839" y="3405589"/>
                  </a:lnTo>
                  <a:lnTo>
                    <a:pt x="4811884" y="3422874"/>
                  </a:lnTo>
                  <a:lnTo>
                    <a:pt x="4795808" y="3425035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316967" y="356616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685800"/>
                  </a:moveTo>
                  <a:lnTo>
                    <a:pt x="296375" y="682669"/>
                  </a:lnTo>
                  <a:lnTo>
                    <a:pt x="251751" y="673549"/>
                  </a:lnTo>
                  <a:lnTo>
                    <a:pt x="209436" y="658850"/>
                  </a:lnTo>
                  <a:lnTo>
                    <a:pt x="169841" y="638979"/>
                  </a:lnTo>
                  <a:lnTo>
                    <a:pt x="133373" y="614345"/>
                  </a:lnTo>
                  <a:lnTo>
                    <a:pt x="100441" y="585358"/>
                  </a:lnTo>
                  <a:lnTo>
                    <a:pt x="71454" y="552426"/>
                  </a:lnTo>
                  <a:lnTo>
                    <a:pt x="46820" y="515958"/>
                  </a:lnTo>
                  <a:lnTo>
                    <a:pt x="26949" y="476363"/>
                  </a:lnTo>
                  <a:lnTo>
                    <a:pt x="12250" y="434048"/>
                  </a:lnTo>
                  <a:lnTo>
                    <a:pt x="3130" y="389425"/>
                  </a:lnTo>
                  <a:lnTo>
                    <a:pt x="0" y="342900"/>
                  </a:lnTo>
                  <a:lnTo>
                    <a:pt x="3130" y="296375"/>
                  </a:lnTo>
                  <a:lnTo>
                    <a:pt x="12250" y="251751"/>
                  </a:lnTo>
                  <a:lnTo>
                    <a:pt x="26949" y="209436"/>
                  </a:lnTo>
                  <a:lnTo>
                    <a:pt x="46820" y="169841"/>
                  </a:lnTo>
                  <a:lnTo>
                    <a:pt x="71454" y="133373"/>
                  </a:lnTo>
                  <a:lnTo>
                    <a:pt x="100441" y="100441"/>
                  </a:lnTo>
                  <a:lnTo>
                    <a:pt x="133373" y="71454"/>
                  </a:lnTo>
                  <a:lnTo>
                    <a:pt x="169841" y="46820"/>
                  </a:lnTo>
                  <a:lnTo>
                    <a:pt x="209436" y="26949"/>
                  </a:lnTo>
                  <a:lnTo>
                    <a:pt x="251751" y="12250"/>
                  </a:lnTo>
                  <a:lnTo>
                    <a:pt x="296375" y="3130"/>
                  </a:lnTo>
                  <a:lnTo>
                    <a:pt x="342900" y="0"/>
                  </a:lnTo>
                  <a:lnTo>
                    <a:pt x="389425" y="3130"/>
                  </a:lnTo>
                  <a:lnTo>
                    <a:pt x="434048" y="12250"/>
                  </a:lnTo>
                  <a:lnTo>
                    <a:pt x="476363" y="26949"/>
                  </a:lnTo>
                  <a:lnTo>
                    <a:pt x="515958" y="46820"/>
                  </a:lnTo>
                  <a:lnTo>
                    <a:pt x="552426" y="71454"/>
                  </a:lnTo>
                  <a:lnTo>
                    <a:pt x="585358" y="100441"/>
                  </a:lnTo>
                  <a:lnTo>
                    <a:pt x="614345" y="133373"/>
                  </a:lnTo>
                  <a:lnTo>
                    <a:pt x="638979" y="169841"/>
                  </a:lnTo>
                  <a:lnTo>
                    <a:pt x="658850" y="209436"/>
                  </a:lnTo>
                  <a:lnTo>
                    <a:pt x="673549" y="251751"/>
                  </a:lnTo>
                  <a:lnTo>
                    <a:pt x="682669" y="296375"/>
                  </a:lnTo>
                  <a:lnTo>
                    <a:pt x="685800" y="342900"/>
                  </a:lnTo>
                  <a:lnTo>
                    <a:pt x="682669" y="389425"/>
                  </a:lnTo>
                  <a:lnTo>
                    <a:pt x="673549" y="434048"/>
                  </a:lnTo>
                  <a:lnTo>
                    <a:pt x="658850" y="476363"/>
                  </a:lnTo>
                  <a:lnTo>
                    <a:pt x="638979" y="515958"/>
                  </a:lnTo>
                  <a:lnTo>
                    <a:pt x="614345" y="552426"/>
                  </a:lnTo>
                  <a:lnTo>
                    <a:pt x="585358" y="585358"/>
                  </a:lnTo>
                  <a:lnTo>
                    <a:pt x="552426" y="614345"/>
                  </a:lnTo>
                  <a:lnTo>
                    <a:pt x="515958" y="638979"/>
                  </a:lnTo>
                  <a:lnTo>
                    <a:pt x="476363" y="658850"/>
                  </a:lnTo>
                  <a:lnTo>
                    <a:pt x="434048" y="673549"/>
                  </a:lnTo>
                  <a:lnTo>
                    <a:pt x="389425" y="682669"/>
                  </a:lnTo>
                  <a:lnTo>
                    <a:pt x="342900" y="6858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2569925" y="366775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195806" y="3639184"/>
            <a:ext cx="274002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52525"/>
                </a:solidFill>
                <a:latin typeface="Calibri"/>
                <a:cs typeface="Calibri"/>
              </a:rPr>
              <a:t>Context </a:t>
            </a:r>
            <a:r>
              <a:rPr dirty="0" sz="2700" spc="-10" b="1">
                <a:solidFill>
                  <a:srgbClr val="252525"/>
                </a:solidFill>
                <a:latin typeface="Calibri"/>
                <a:cs typeface="Calibri"/>
              </a:rPr>
              <a:t>awareness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04267" y="4465954"/>
            <a:ext cx="4034790" cy="97409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just"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Penalises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passwords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that</a:t>
            </a:r>
            <a:r>
              <a:rPr dirty="0" sz="21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contain</a:t>
            </a:r>
            <a:r>
              <a:rPr dirty="0" sz="21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the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user’s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name,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email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site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name,</a:t>
            </a:r>
            <a:r>
              <a:rPr dirty="0" sz="21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585858"/>
                </a:solidFill>
                <a:latin typeface="Calibri"/>
                <a:cs typeface="Calibri"/>
              </a:rPr>
              <a:t>like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johnsmith2024</a:t>
            </a:r>
            <a:r>
              <a:rPr dirty="0" sz="21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585858"/>
                </a:solidFill>
                <a:latin typeface="Calibri"/>
                <a:cs typeface="Calibri"/>
              </a:rPr>
              <a:t>for</a:t>
            </a:r>
            <a:r>
              <a:rPr dirty="0" sz="2100" spc="-10">
                <a:solidFill>
                  <a:srgbClr val="585858"/>
                </a:solidFill>
                <a:latin typeface="Calibri"/>
                <a:cs typeface="Calibri"/>
              </a:rPr>
              <a:t> john.smith@.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371600" y="6995159"/>
            <a:ext cx="15537815" cy="1371600"/>
          </a:xfrm>
          <a:custGeom>
            <a:avLst/>
            <a:gdLst/>
            <a:ahLst/>
            <a:cxnLst/>
            <a:rect l="l" t="t" r="r" b="b"/>
            <a:pathLst>
              <a:path w="15537815" h="1371600">
                <a:moveTo>
                  <a:pt x="15471648" y="1371600"/>
                </a:moveTo>
                <a:lnTo>
                  <a:pt x="68580" y="1371600"/>
                </a:lnTo>
                <a:lnTo>
                  <a:pt x="41871" y="1366215"/>
                </a:lnTo>
                <a:lnTo>
                  <a:pt x="20073" y="1351526"/>
                </a:lnTo>
                <a:lnTo>
                  <a:pt x="5384" y="1329728"/>
                </a:lnTo>
                <a:lnTo>
                  <a:pt x="0" y="1303020"/>
                </a:lnTo>
                <a:lnTo>
                  <a:pt x="0" y="68580"/>
                </a:lnTo>
                <a:lnTo>
                  <a:pt x="5384" y="41871"/>
                </a:lnTo>
                <a:lnTo>
                  <a:pt x="20073" y="20074"/>
                </a:lnTo>
                <a:lnTo>
                  <a:pt x="41871" y="5384"/>
                </a:lnTo>
                <a:lnTo>
                  <a:pt x="68580" y="0"/>
                </a:lnTo>
                <a:lnTo>
                  <a:pt x="15471648" y="0"/>
                </a:lnTo>
                <a:lnTo>
                  <a:pt x="15498357" y="5384"/>
                </a:lnTo>
                <a:lnTo>
                  <a:pt x="15520154" y="20074"/>
                </a:lnTo>
                <a:lnTo>
                  <a:pt x="15534844" y="41871"/>
                </a:lnTo>
                <a:lnTo>
                  <a:pt x="15537656" y="55819"/>
                </a:lnTo>
                <a:lnTo>
                  <a:pt x="15537656" y="1315780"/>
                </a:lnTo>
                <a:lnTo>
                  <a:pt x="15534844" y="1329728"/>
                </a:lnTo>
                <a:lnTo>
                  <a:pt x="15520154" y="1351526"/>
                </a:lnTo>
                <a:lnTo>
                  <a:pt x="15498357" y="1366215"/>
                </a:lnTo>
                <a:lnTo>
                  <a:pt x="15471648" y="13716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701800" y="7172085"/>
            <a:ext cx="3204210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b="1">
                <a:solidFill>
                  <a:srgbClr val="BF0000"/>
                </a:solidFill>
                <a:latin typeface="Calibri"/>
                <a:cs typeface="Calibri"/>
              </a:rPr>
              <a:t>Actionable</a:t>
            </a:r>
            <a:r>
              <a:rPr dirty="0" sz="2250" spc="-10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BF0000"/>
                </a:solidFill>
                <a:latin typeface="Calibri"/>
                <a:cs typeface="Calibri"/>
              </a:rPr>
              <a:t>feedback</a:t>
            </a:r>
            <a:endParaRPr sz="2250">
              <a:latin typeface="Calibri"/>
              <a:cs typeface="Calibri"/>
            </a:endParaRPr>
          </a:p>
          <a:p>
            <a:pPr marL="12700" marR="5080">
              <a:lnSpc>
                <a:spcPts val="2330"/>
              </a:lnSpc>
              <a:spcBef>
                <a:spcPts val="160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Says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why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it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weak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what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to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try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15406" y="7172085"/>
            <a:ext cx="349059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b="1">
                <a:solidFill>
                  <a:srgbClr val="BF0000"/>
                </a:solidFill>
                <a:latin typeface="Calibri"/>
                <a:cs typeface="Calibri"/>
              </a:rPr>
              <a:t>Passphrase</a:t>
            </a:r>
            <a:r>
              <a:rPr dirty="0" sz="2250" spc="-10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BF0000"/>
                </a:solidFill>
                <a:latin typeface="Calibri"/>
                <a:cs typeface="Calibri"/>
              </a:rPr>
              <a:t>nudge</a:t>
            </a:r>
            <a:endParaRPr sz="2250">
              <a:latin typeface="Calibri"/>
              <a:cs typeface="Calibri"/>
            </a:endParaRPr>
          </a:p>
          <a:p>
            <a:pPr marL="12700" marR="5080">
              <a:lnSpc>
                <a:spcPts val="2330"/>
              </a:lnSpc>
              <a:spcBef>
                <a:spcPts val="160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Suggests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4+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unrelated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words,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easy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to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remember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29013" y="7172085"/>
            <a:ext cx="3503929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20" b="1">
                <a:solidFill>
                  <a:srgbClr val="BF0000"/>
                </a:solidFill>
                <a:latin typeface="Calibri"/>
                <a:cs typeface="Calibri"/>
              </a:rPr>
              <a:t>Manager-</a:t>
            </a:r>
            <a:r>
              <a:rPr dirty="0" sz="2250" spc="-10" b="1">
                <a:solidFill>
                  <a:srgbClr val="BF0000"/>
                </a:solidFill>
                <a:latin typeface="Calibri"/>
                <a:cs typeface="Calibri"/>
              </a:rPr>
              <a:t>friendly</a:t>
            </a:r>
            <a:endParaRPr sz="2250">
              <a:latin typeface="Calibri"/>
              <a:cs typeface="Calibri"/>
            </a:endParaRPr>
          </a:p>
          <a:p>
            <a:pPr marL="12700" marR="5080">
              <a:lnSpc>
                <a:spcPts val="2330"/>
              </a:lnSpc>
              <a:spcBef>
                <a:spcPts val="160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Paste</a:t>
            </a:r>
            <a:r>
              <a:rPr dirty="0" sz="19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allowed,</a:t>
            </a:r>
            <a:r>
              <a:rPr dirty="0" sz="195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64+</a:t>
            </a:r>
            <a:r>
              <a:rPr dirty="0" sz="19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characters,</a:t>
            </a:r>
            <a:r>
              <a:rPr dirty="0" sz="195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any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symbol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842620" y="7172085"/>
            <a:ext cx="3104515" cy="97028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0"/>
              </a:spcBef>
            </a:pPr>
            <a:r>
              <a:rPr dirty="0" sz="2250" b="1">
                <a:solidFill>
                  <a:srgbClr val="BF0000"/>
                </a:solidFill>
                <a:latin typeface="Calibri"/>
                <a:cs typeface="Calibri"/>
              </a:rPr>
              <a:t>Block</a:t>
            </a:r>
            <a:r>
              <a:rPr dirty="0" sz="2250" spc="-2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BF0000"/>
                </a:solidFill>
                <a:latin typeface="Calibri"/>
                <a:cs typeface="Calibri"/>
              </a:rPr>
              <a:t>only</a:t>
            </a:r>
            <a:r>
              <a:rPr dirty="0" sz="2250" spc="-2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50" b="1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dirty="0" sz="2250" spc="-2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50" spc="-10" b="1">
                <a:solidFill>
                  <a:srgbClr val="BF0000"/>
                </a:solidFill>
                <a:latin typeface="Calibri"/>
                <a:cs typeface="Calibri"/>
              </a:rPr>
              <a:t>worst</a:t>
            </a:r>
            <a:r>
              <a:rPr dirty="0" sz="2250" spc="56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Reject</a:t>
            </a:r>
            <a:r>
              <a:rPr dirty="0" sz="195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breached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common;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advise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rest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8899" y="8463788"/>
            <a:ext cx="108648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BF0000"/>
                </a:solidFill>
                <a:latin typeface="Calibri"/>
                <a:cs typeface="Calibri"/>
              </a:rPr>
              <a:t>Prototype</a:t>
            </a:r>
            <a:r>
              <a:rPr dirty="0" sz="2100" spc="-2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BF0000"/>
                </a:solidFill>
                <a:latin typeface="Calibri"/>
                <a:cs typeface="Calibri"/>
              </a:rPr>
              <a:t>plan:</a:t>
            </a:r>
            <a:r>
              <a:rPr dirty="0" sz="2100" spc="-1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252525"/>
                </a:solidFill>
                <a:latin typeface="Calibri"/>
                <a:cs typeface="Calibri"/>
              </a:rPr>
              <a:t>~50-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line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JavaScript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web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demo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using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zxcvbn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Have</a:t>
            </a:r>
            <a:r>
              <a:rPr dirty="0" sz="210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I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Been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Pwned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252525"/>
                </a:solidFill>
                <a:latin typeface="Calibri"/>
                <a:cs typeface="Calibri"/>
              </a:rPr>
              <a:t>range</a:t>
            </a:r>
            <a:r>
              <a:rPr dirty="0" sz="210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252525"/>
                </a:solidFill>
                <a:latin typeface="Calibri"/>
                <a:cs typeface="Calibri"/>
              </a:rPr>
              <a:t>API.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Images/Storyboard/Architecture</a:t>
            </a:r>
          </a:p>
        </p:txBody>
      </p:sp>
      <p:sp>
        <p:nvSpPr>
          <p:cNvPr id="6" name="object 6"/>
          <p:cNvSpPr/>
          <p:nvPr/>
        </p:nvSpPr>
        <p:spPr>
          <a:xfrm>
            <a:off x="1371600" y="2400299"/>
            <a:ext cx="15540355" cy="3017520"/>
          </a:xfrm>
          <a:custGeom>
            <a:avLst/>
            <a:gdLst/>
            <a:ahLst/>
            <a:cxnLst/>
            <a:rect l="l" t="t" r="r" b="b"/>
            <a:pathLst>
              <a:path w="15540355" h="3017520">
                <a:moveTo>
                  <a:pt x="15389350" y="3017519"/>
                </a:moveTo>
                <a:lnTo>
                  <a:pt x="150875" y="3017519"/>
                </a:lnTo>
                <a:lnTo>
                  <a:pt x="103180" y="3009829"/>
                </a:lnTo>
                <a:lnTo>
                  <a:pt x="61763" y="2988414"/>
                </a:lnTo>
                <a:lnTo>
                  <a:pt x="29105" y="2955756"/>
                </a:lnTo>
                <a:lnTo>
                  <a:pt x="7690" y="2914339"/>
                </a:lnTo>
                <a:lnTo>
                  <a:pt x="0" y="2866643"/>
                </a:lnTo>
                <a:lnTo>
                  <a:pt x="0" y="150875"/>
                </a:lnTo>
                <a:lnTo>
                  <a:pt x="7690" y="103180"/>
                </a:lnTo>
                <a:lnTo>
                  <a:pt x="29105" y="61763"/>
                </a:lnTo>
                <a:lnTo>
                  <a:pt x="61763" y="29105"/>
                </a:lnTo>
                <a:lnTo>
                  <a:pt x="103180" y="7690"/>
                </a:lnTo>
                <a:lnTo>
                  <a:pt x="150875" y="0"/>
                </a:lnTo>
                <a:lnTo>
                  <a:pt x="15389350" y="0"/>
                </a:lnTo>
                <a:lnTo>
                  <a:pt x="15437046" y="7690"/>
                </a:lnTo>
                <a:lnTo>
                  <a:pt x="15478464" y="29105"/>
                </a:lnTo>
                <a:lnTo>
                  <a:pt x="15511122" y="61763"/>
                </a:lnTo>
                <a:lnTo>
                  <a:pt x="15532537" y="103180"/>
                </a:lnTo>
                <a:lnTo>
                  <a:pt x="15540227" y="150875"/>
                </a:lnTo>
                <a:lnTo>
                  <a:pt x="15540227" y="2866643"/>
                </a:lnTo>
                <a:lnTo>
                  <a:pt x="15532537" y="2914339"/>
                </a:lnTo>
                <a:lnTo>
                  <a:pt x="15511122" y="2955756"/>
                </a:lnTo>
                <a:lnTo>
                  <a:pt x="15478464" y="2988414"/>
                </a:lnTo>
                <a:lnTo>
                  <a:pt x="15437046" y="3009829"/>
                </a:lnTo>
                <a:lnTo>
                  <a:pt x="15389350" y="3017519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33219" y="2459227"/>
            <a:ext cx="167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IN THE </a:t>
            </a: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BROWSER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49398" y="2920364"/>
            <a:ext cx="4171950" cy="2114550"/>
            <a:chOff x="2049398" y="2920364"/>
            <a:chExt cx="4171950" cy="2114550"/>
          </a:xfrm>
        </p:grpSpPr>
        <p:sp>
          <p:nvSpPr>
            <p:cNvPr id="11" name="object 11"/>
            <p:cNvSpPr/>
            <p:nvPr/>
          </p:nvSpPr>
          <p:spPr>
            <a:xfrm>
              <a:off x="2068449" y="293941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4030027" y="2076450"/>
                  </a:moveTo>
                  <a:lnTo>
                    <a:pt x="103822" y="2076450"/>
                  </a:lnTo>
                  <a:lnTo>
                    <a:pt x="63409" y="2068291"/>
                  </a:lnTo>
                  <a:lnTo>
                    <a:pt x="30408" y="2046041"/>
                  </a:lnTo>
                  <a:lnTo>
                    <a:pt x="8158" y="2013040"/>
                  </a:lnTo>
                  <a:lnTo>
                    <a:pt x="0" y="1972627"/>
                  </a:lnTo>
                  <a:lnTo>
                    <a:pt x="0" y="103822"/>
                  </a:ln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40" y="8158"/>
                  </a:lnTo>
                  <a:lnTo>
                    <a:pt x="4103441" y="30408"/>
                  </a:lnTo>
                  <a:lnTo>
                    <a:pt x="4125691" y="63409"/>
                  </a:lnTo>
                  <a:lnTo>
                    <a:pt x="4133850" y="103822"/>
                  </a:lnTo>
                  <a:lnTo>
                    <a:pt x="4133850" y="1972627"/>
                  </a:lnTo>
                  <a:lnTo>
                    <a:pt x="4125691" y="2013040"/>
                  </a:lnTo>
                  <a:lnTo>
                    <a:pt x="4103441" y="2046041"/>
                  </a:lnTo>
                  <a:lnTo>
                    <a:pt x="4070440" y="2068291"/>
                  </a:lnTo>
                  <a:lnTo>
                    <a:pt x="4030027" y="207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68448" y="293941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0" y="103822"/>
                  </a:move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39" y="8158"/>
                  </a:lnTo>
                  <a:lnTo>
                    <a:pt x="4103441" y="30408"/>
                  </a:lnTo>
                  <a:lnTo>
                    <a:pt x="4125690" y="63409"/>
                  </a:lnTo>
                  <a:lnTo>
                    <a:pt x="4133849" y="103822"/>
                  </a:lnTo>
                  <a:lnTo>
                    <a:pt x="4133849" y="1972627"/>
                  </a:lnTo>
                  <a:lnTo>
                    <a:pt x="4125690" y="2013040"/>
                  </a:lnTo>
                  <a:lnTo>
                    <a:pt x="4103441" y="2046041"/>
                  </a:lnTo>
                  <a:lnTo>
                    <a:pt x="4070439" y="2068291"/>
                  </a:lnTo>
                  <a:lnTo>
                    <a:pt x="4030027" y="2076449"/>
                  </a:lnTo>
                  <a:lnTo>
                    <a:pt x="103822" y="2076449"/>
                  </a:lnTo>
                  <a:lnTo>
                    <a:pt x="63409" y="2068291"/>
                  </a:lnTo>
                  <a:lnTo>
                    <a:pt x="30408" y="2046041"/>
                  </a:lnTo>
                  <a:lnTo>
                    <a:pt x="8158" y="2013040"/>
                  </a:lnTo>
                  <a:lnTo>
                    <a:pt x="0" y="1972627"/>
                  </a:lnTo>
                  <a:lnTo>
                    <a:pt x="0" y="103822"/>
                  </a:lnTo>
                </a:path>
              </a:pathLst>
            </a:custGeom>
            <a:ln w="3809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83713" y="315468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271013" y="3830827"/>
            <a:ext cx="306832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30"/>
              </a:lnSpc>
              <a:spcBef>
                <a:spcPts val="100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Any</a:t>
            </a:r>
            <a:r>
              <a:rPr dirty="0" sz="195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characters,</a:t>
            </a:r>
            <a:r>
              <a:rPr dirty="0" sz="195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64+</a:t>
            </a:r>
            <a:r>
              <a:rPr dirty="0" sz="195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length,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30"/>
              </a:lnSpc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password</a:t>
            </a:r>
            <a:r>
              <a:rPr dirty="0" sz="1950" spc="-8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managers</a:t>
            </a:r>
            <a:r>
              <a:rPr dirty="0" sz="1950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welcome.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55739" y="2920364"/>
            <a:ext cx="4171950" cy="2114550"/>
            <a:chOff x="7055739" y="2920364"/>
            <a:chExt cx="4171950" cy="2114550"/>
          </a:xfrm>
        </p:grpSpPr>
        <p:sp>
          <p:nvSpPr>
            <p:cNvPr id="16" name="object 16"/>
            <p:cNvSpPr/>
            <p:nvPr/>
          </p:nvSpPr>
          <p:spPr>
            <a:xfrm>
              <a:off x="7074789" y="293941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4030027" y="2076450"/>
                  </a:moveTo>
                  <a:lnTo>
                    <a:pt x="103822" y="2076450"/>
                  </a:lnTo>
                  <a:lnTo>
                    <a:pt x="63409" y="2068291"/>
                  </a:lnTo>
                  <a:lnTo>
                    <a:pt x="30408" y="2046041"/>
                  </a:lnTo>
                  <a:lnTo>
                    <a:pt x="8158" y="2013040"/>
                  </a:lnTo>
                  <a:lnTo>
                    <a:pt x="0" y="1972627"/>
                  </a:lnTo>
                  <a:lnTo>
                    <a:pt x="0" y="103822"/>
                  </a:ln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40" y="8158"/>
                  </a:lnTo>
                  <a:lnTo>
                    <a:pt x="4103441" y="30408"/>
                  </a:lnTo>
                  <a:lnTo>
                    <a:pt x="4125691" y="63409"/>
                  </a:lnTo>
                  <a:lnTo>
                    <a:pt x="4133850" y="103822"/>
                  </a:lnTo>
                  <a:lnTo>
                    <a:pt x="4133850" y="1972627"/>
                  </a:lnTo>
                  <a:lnTo>
                    <a:pt x="4125691" y="2013040"/>
                  </a:lnTo>
                  <a:lnTo>
                    <a:pt x="4103441" y="2046041"/>
                  </a:lnTo>
                  <a:lnTo>
                    <a:pt x="4070440" y="2068291"/>
                  </a:lnTo>
                  <a:lnTo>
                    <a:pt x="4030027" y="207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74789" y="293941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0" y="103822"/>
                  </a:move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6" y="0"/>
                  </a:lnTo>
                  <a:lnTo>
                    <a:pt x="4070439" y="8158"/>
                  </a:lnTo>
                  <a:lnTo>
                    <a:pt x="4103441" y="30408"/>
                  </a:lnTo>
                  <a:lnTo>
                    <a:pt x="4125690" y="63409"/>
                  </a:lnTo>
                  <a:lnTo>
                    <a:pt x="4133849" y="103822"/>
                  </a:lnTo>
                  <a:lnTo>
                    <a:pt x="4133849" y="1972627"/>
                  </a:lnTo>
                  <a:lnTo>
                    <a:pt x="4125690" y="2013040"/>
                  </a:lnTo>
                  <a:lnTo>
                    <a:pt x="4103440" y="2046041"/>
                  </a:lnTo>
                  <a:lnTo>
                    <a:pt x="4070439" y="2068291"/>
                  </a:lnTo>
                  <a:lnTo>
                    <a:pt x="4030026" y="2076449"/>
                  </a:lnTo>
                  <a:lnTo>
                    <a:pt x="103822" y="2076449"/>
                  </a:lnTo>
                  <a:lnTo>
                    <a:pt x="63409" y="2068290"/>
                  </a:lnTo>
                  <a:lnTo>
                    <a:pt x="30408" y="2046041"/>
                  </a:lnTo>
                  <a:lnTo>
                    <a:pt x="8158" y="2013039"/>
                  </a:lnTo>
                  <a:lnTo>
                    <a:pt x="0" y="1972627"/>
                  </a:lnTo>
                  <a:lnTo>
                    <a:pt x="0" y="103822"/>
                  </a:lnTo>
                </a:path>
              </a:pathLst>
            </a:custGeom>
            <a:ln w="3809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290053" y="315468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491279" y="3199129"/>
            <a:ext cx="74314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735" algn="l"/>
                <a:tab pos="5018405" algn="l"/>
                <a:tab pos="5553075" algn="l"/>
              </a:tabLst>
            </a:pPr>
            <a:r>
              <a:rPr dirty="0" baseline="1322" sz="3150" spc="-75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baseline="1322" sz="31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User</a:t>
            </a:r>
            <a:r>
              <a:rPr dirty="0" sz="24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types</a:t>
            </a:r>
            <a:r>
              <a:rPr dirty="0" sz="24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or</a:t>
            </a:r>
            <a:r>
              <a:rPr dirty="0" sz="2400" spc="-3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pastes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dirty="0" baseline="1322" sz="3150" spc="-75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baseline="1322" sz="31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Instant</a:t>
            </a:r>
            <a:r>
              <a:rPr dirty="0" sz="2400" spc="-7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scoring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77353" y="3830827"/>
            <a:ext cx="3511550" cy="913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30"/>
              </a:lnSpc>
              <a:spcBef>
                <a:spcPts val="100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Patterns,</a:t>
            </a:r>
            <a:r>
              <a:rPr dirty="0" sz="1950" spc="-6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dictionary</a:t>
            </a:r>
            <a:r>
              <a:rPr dirty="0" sz="195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95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context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ts val="2330"/>
              </a:lnSpc>
              <a:spcBef>
                <a:spcPts val="75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checked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browser.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Nothing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is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sent.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062079" y="2920364"/>
            <a:ext cx="4171950" cy="2114550"/>
            <a:chOff x="12062079" y="2920364"/>
            <a:chExt cx="4171950" cy="2114550"/>
          </a:xfrm>
        </p:grpSpPr>
        <p:sp>
          <p:nvSpPr>
            <p:cNvPr id="22" name="object 22"/>
            <p:cNvSpPr/>
            <p:nvPr/>
          </p:nvSpPr>
          <p:spPr>
            <a:xfrm>
              <a:off x="12081129" y="293941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4030027" y="2076450"/>
                  </a:moveTo>
                  <a:lnTo>
                    <a:pt x="103822" y="2076450"/>
                  </a:lnTo>
                  <a:lnTo>
                    <a:pt x="63409" y="2068291"/>
                  </a:lnTo>
                  <a:lnTo>
                    <a:pt x="30408" y="2046041"/>
                  </a:lnTo>
                  <a:lnTo>
                    <a:pt x="8158" y="2013040"/>
                  </a:lnTo>
                  <a:lnTo>
                    <a:pt x="0" y="1972627"/>
                  </a:lnTo>
                  <a:lnTo>
                    <a:pt x="0" y="103822"/>
                  </a:ln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40" y="8158"/>
                  </a:lnTo>
                  <a:lnTo>
                    <a:pt x="4103441" y="30408"/>
                  </a:lnTo>
                  <a:lnTo>
                    <a:pt x="4125691" y="63409"/>
                  </a:lnTo>
                  <a:lnTo>
                    <a:pt x="4133850" y="103822"/>
                  </a:lnTo>
                  <a:lnTo>
                    <a:pt x="4133850" y="1972627"/>
                  </a:lnTo>
                  <a:lnTo>
                    <a:pt x="4125691" y="2013040"/>
                  </a:lnTo>
                  <a:lnTo>
                    <a:pt x="4103441" y="2046041"/>
                  </a:lnTo>
                  <a:lnTo>
                    <a:pt x="4070440" y="2068291"/>
                  </a:lnTo>
                  <a:lnTo>
                    <a:pt x="4030027" y="207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081129" y="293941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0" y="103822"/>
                  </a:move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6" y="0"/>
                  </a:lnTo>
                  <a:lnTo>
                    <a:pt x="4070439" y="8158"/>
                  </a:lnTo>
                  <a:lnTo>
                    <a:pt x="4103440" y="30408"/>
                  </a:lnTo>
                  <a:lnTo>
                    <a:pt x="4125690" y="63409"/>
                  </a:lnTo>
                  <a:lnTo>
                    <a:pt x="4133849" y="103822"/>
                  </a:lnTo>
                  <a:lnTo>
                    <a:pt x="4133849" y="1972627"/>
                  </a:lnTo>
                  <a:lnTo>
                    <a:pt x="4125690" y="2013040"/>
                  </a:lnTo>
                  <a:lnTo>
                    <a:pt x="4103440" y="2046041"/>
                  </a:lnTo>
                  <a:lnTo>
                    <a:pt x="4070439" y="2068291"/>
                  </a:lnTo>
                  <a:lnTo>
                    <a:pt x="4030026" y="2076449"/>
                  </a:lnTo>
                  <a:lnTo>
                    <a:pt x="103822" y="2076449"/>
                  </a:lnTo>
                  <a:lnTo>
                    <a:pt x="63409" y="2068290"/>
                  </a:lnTo>
                  <a:lnTo>
                    <a:pt x="30408" y="2046041"/>
                  </a:lnTo>
                  <a:lnTo>
                    <a:pt x="8158" y="2013039"/>
                  </a:lnTo>
                  <a:lnTo>
                    <a:pt x="0" y="1972627"/>
                  </a:lnTo>
                  <a:lnTo>
                    <a:pt x="0" y="103822"/>
                  </a:lnTo>
                </a:path>
              </a:pathLst>
            </a:custGeom>
            <a:ln w="3809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296393" y="315468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2503959" y="3199129"/>
            <a:ext cx="2339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735" algn="l"/>
              </a:tabLst>
            </a:pPr>
            <a:r>
              <a:rPr dirty="0" baseline="1322" sz="3150" spc="-75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baseline="1322" sz="315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Hash</a:t>
            </a:r>
            <a:r>
              <a:rPr dirty="0" sz="24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252525"/>
                </a:solidFill>
                <a:latin typeface="Calibri"/>
                <a:cs typeface="Calibri"/>
              </a:rPr>
              <a:t>trim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83693" y="3830827"/>
            <a:ext cx="3432810" cy="61785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185"/>
              </a:spcBef>
            </a:pP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SHA-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r>
              <a:rPr dirty="0" sz="195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hash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made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locally;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only</a:t>
            </a:r>
            <a:r>
              <a:rPr dirty="0" sz="195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the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first 5 characters go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onward.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1600" y="5692139"/>
            <a:ext cx="15535910" cy="3154680"/>
          </a:xfrm>
          <a:custGeom>
            <a:avLst/>
            <a:gdLst/>
            <a:ahLst/>
            <a:cxnLst/>
            <a:rect l="l" t="t" r="r" b="b"/>
            <a:pathLst>
              <a:path w="15535910" h="3154679">
                <a:moveTo>
                  <a:pt x="15382494" y="3154679"/>
                </a:moveTo>
                <a:lnTo>
                  <a:pt x="157734" y="3154679"/>
                </a:lnTo>
                <a:lnTo>
                  <a:pt x="107862" y="3146642"/>
                </a:lnTo>
                <a:lnTo>
                  <a:pt x="64561" y="3124258"/>
                </a:lnTo>
                <a:lnTo>
                  <a:pt x="30422" y="3090119"/>
                </a:lnTo>
                <a:lnTo>
                  <a:pt x="8037" y="3046817"/>
                </a:lnTo>
                <a:lnTo>
                  <a:pt x="0" y="2996945"/>
                </a:lnTo>
                <a:lnTo>
                  <a:pt x="0" y="157734"/>
                </a:lnTo>
                <a:lnTo>
                  <a:pt x="8037" y="107862"/>
                </a:lnTo>
                <a:lnTo>
                  <a:pt x="30422" y="64561"/>
                </a:lnTo>
                <a:lnTo>
                  <a:pt x="64561" y="30422"/>
                </a:lnTo>
                <a:lnTo>
                  <a:pt x="107862" y="8037"/>
                </a:lnTo>
                <a:lnTo>
                  <a:pt x="157734" y="0"/>
                </a:lnTo>
                <a:lnTo>
                  <a:pt x="15382494" y="0"/>
                </a:lnTo>
                <a:lnTo>
                  <a:pt x="15432365" y="8037"/>
                </a:lnTo>
                <a:lnTo>
                  <a:pt x="15475666" y="30422"/>
                </a:lnTo>
                <a:lnTo>
                  <a:pt x="15509805" y="64561"/>
                </a:lnTo>
                <a:lnTo>
                  <a:pt x="15532189" y="107862"/>
                </a:lnTo>
                <a:lnTo>
                  <a:pt x="15535848" y="130567"/>
                </a:lnTo>
                <a:lnTo>
                  <a:pt x="15535848" y="3024112"/>
                </a:lnTo>
                <a:lnTo>
                  <a:pt x="15509805" y="3090119"/>
                </a:lnTo>
                <a:lnTo>
                  <a:pt x="15475666" y="3124258"/>
                </a:lnTo>
                <a:lnTo>
                  <a:pt x="15432365" y="3146642"/>
                </a:lnTo>
                <a:lnTo>
                  <a:pt x="15382494" y="31546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33219" y="5751067"/>
            <a:ext cx="2518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585858"/>
                </a:solidFill>
                <a:latin typeface="Calibri"/>
                <a:cs typeface="Calibri"/>
              </a:rPr>
              <a:t>ON</a:t>
            </a:r>
            <a:r>
              <a:rPr dirty="0" sz="1800" spc="-1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800" spc="-1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585858"/>
                </a:solidFill>
                <a:latin typeface="Calibri"/>
                <a:cs typeface="Calibri"/>
              </a:rPr>
              <a:t>SERVER</a:t>
            </a:r>
            <a:r>
              <a:rPr dirty="0" sz="1800" spc="-10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800" spc="-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585858"/>
                </a:solidFill>
                <a:latin typeface="Calibri"/>
                <a:cs typeface="Calibri"/>
              </a:rPr>
              <a:t>HIBP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049398" y="6280784"/>
            <a:ext cx="4171950" cy="2114550"/>
            <a:chOff x="2049398" y="6280784"/>
            <a:chExt cx="4171950" cy="2114550"/>
          </a:xfrm>
        </p:grpSpPr>
        <p:sp>
          <p:nvSpPr>
            <p:cNvPr id="42" name="object 42"/>
            <p:cNvSpPr/>
            <p:nvPr/>
          </p:nvSpPr>
          <p:spPr>
            <a:xfrm>
              <a:off x="2068449" y="629983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4030027" y="2076450"/>
                  </a:moveTo>
                  <a:lnTo>
                    <a:pt x="103822" y="2076450"/>
                  </a:lnTo>
                  <a:lnTo>
                    <a:pt x="63409" y="2068291"/>
                  </a:lnTo>
                  <a:lnTo>
                    <a:pt x="30408" y="2046041"/>
                  </a:lnTo>
                  <a:lnTo>
                    <a:pt x="8158" y="2013040"/>
                  </a:lnTo>
                  <a:lnTo>
                    <a:pt x="0" y="1972627"/>
                  </a:lnTo>
                  <a:lnTo>
                    <a:pt x="0" y="103822"/>
                  </a:ln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40" y="8158"/>
                  </a:lnTo>
                  <a:lnTo>
                    <a:pt x="4103441" y="30408"/>
                  </a:lnTo>
                  <a:lnTo>
                    <a:pt x="4125691" y="63409"/>
                  </a:lnTo>
                  <a:lnTo>
                    <a:pt x="4133850" y="103822"/>
                  </a:lnTo>
                  <a:lnTo>
                    <a:pt x="4133850" y="1972627"/>
                  </a:lnTo>
                  <a:lnTo>
                    <a:pt x="4125691" y="2013040"/>
                  </a:lnTo>
                  <a:lnTo>
                    <a:pt x="4103441" y="2046041"/>
                  </a:lnTo>
                  <a:lnTo>
                    <a:pt x="4070440" y="2068291"/>
                  </a:lnTo>
                  <a:lnTo>
                    <a:pt x="4030027" y="207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068448" y="629983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0" y="103822"/>
                  </a:move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39" y="8158"/>
                  </a:lnTo>
                  <a:lnTo>
                    <a:pt x="4103441" y="30408"/>
                  </a:lnTo>
                  <a:lnTo>
                    <a:pt x="4125690" y="63409"/>
                  </a:lnTo>
                  <a:lnTo>
                    <a:pt x="4133849" y="103822"/>
                  </a:lnTo>
                  <a:lnTo>
                    <a:pt x="4133849" y="1972627"/>
                  </a:lnTo>
                  <a:lnTo>
                    <a:pt x="4125690" y="2013040"/>
                  </a:lnTo>
                  <a:lnTo>
                    <a:pt x="4103441" y="2046041"/>
                  </a:lnTo>
                  <a:lnTo>
                    <a:pt x="4070439" y="2068291"/>
                  </a:lnTo>
                  <a:lnTo>
                    <a:pt x="4030027" y="2076449"/>
                  </a:lnTo>
                  <a:lnTo>
                    <a:pt x="103822" y="2076449"/>
                  </a:lnTo>
                  <a:lnTo>
                    <a:pt x="63409" y="2068290"/>
                  </a:lnTo>
                  <a:lnTo>
                    <a:pt x="30408" y="2046041"/>
                  </a:lnTo>
                  <a:lnTo>
                    <a:pt x="8158" y="2013039"/>
                  </a:lnTo>
                  <a:lnTo>
                    <a:pt x="0" y="1972627"/>
                  </a:lnTo>
                  <a:lnTo>
                    <a:pt x="0" y="103822"/>
                  </a:lnTo>
                </a:path>
              </a:pathLst>
            </a:custGeom>
            <a:ln w="3809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283713" y="651510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2491279" y="6588125"/>
            <a:ext cx="1606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25393" y="6559550"/>
            <a:ext cx="22561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Enforce</a:t>
            </a:r>
            <a:r>
              <a:rPr dirty="0" sz="2400" spc="-6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5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252525"/>
                </a:solidFill>
                <a:latin typeface="Calibri"/>
                <a:cs typeface="Calibri"/>
              </a:rPr>
              <a:t>store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055739" y="6280784"/>
            <a:ext cx="4171950" cy="2114550"/>
            <a:chOff x="7055739" y="6280784"/>
            <a:chExt cx="4171950" cy="2114550"/>
          </a:xfrm>
        </p:grpSpPr>
        <p:sp>
          <p:nvSpPr>
            <p:cNvPr id="35" name="object 35"/>
            <p:cNvSpPr/>
            <p:nvPr/>
          </p:nvSpPr>
          <p:spPr>
            <a:xfrm>
              <a:off x="7074789" y="629983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4030027" y="2076450"/>
                  </a:moveTo>
                  <a:lnTo>
                    <a:pt x="103822" y="2076450"/>
                  </a:lnTo>
                  <a:lnTo>
                    <a:pt x="63409" y="2068291"/>
                  </a:lnTo>
                  <a:lnTo>
                    <a:pt x="30408" y="2046041"/>
                  </a:lnTo>
                  <a:lnTo>
                    <a:pt x="8158" y="2013040"/>
                  </a:lnTo>
                  <a:lnTo>
                    <a:pt x="0" y="1972627"/>
                  </a:lnTo>
                  <a:lnTo>
                    <a:pt x="0" y="103822"/>
                  </a:ln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40" y="8158"/>
                  </a:lnTo>
                  <a:lnTo>
                    <a:pt x="4103441" y="30408"/>
                  </a:lnTo>
                  <a:lnTo>
                    <a:pt x="4125691" y="63409"/>
                  </a:lnTo>
                  <a:lnTo>
                    <a:pt x="4133850" y="103822"/>
                  </a:lnTo>
                  <a:lnTo>
                    <a:pt x="4133850" y="1972627"/>
                  </a:lnTo>
                  <a:lnTo>
                    <a:pt x="4125691" y="2013040"/>
                  </a:lnTo>
                  <a:lnTo>
                    <a:pt x="4103441" y="2046041"/>
                  </a:lnTo>
                  <a:lnTo>
                    <a:pt x="4070440" y="2068291"/>
                  </a:lnTo>
                  <a:lnTo>
                    <a:pt x="4030027" y="207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074789" y="629983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0" y="103822"/>
                  </a:move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6" y="0"/>
                  </a:lnTo>
                  <a:lnTo>
                    <a:pt x="4070439" y="8158"/>
                  </a:lnTo>
                  <a:lnTo>
                    <a:pt x="4103440" y="30408"/>
                  </a:lnTo>
                  <a:lnTo>
                    <a:pt x="4125690" y="63409"/>
                  </a:lnTo>
                  <a:lnTo>
                    <a:pt x="4133849" y="103822"/>
                  </a:lnTo>
                  <a:lnTo>
                    <a:pt x="4133849" y="1972627"/>
                  </a:lnTo>
                  <a:lnTo>
                    <a:pt x="4125690" y="2013040"/>
                  </a:lnTo>
                  <a:lnTo>
                    <a:pt x="4103441" y="2046041"/>
                  </a:lnTo>
                  <a:lnTo>
                    <a:pt x="4070439" y="2068291"/>
                  </a:lnTo>
                  <a:lnTo>
                    <a:pt x="4030026" y="2076449"/>
                  </a:lnTo>
                  <a:lnTo>
                    <a:pt x="103822" y="2076449"/>
                  </a:lnTo>
                  <a:lnTo>
                    <a:pt x="63409" y="2068290"/>
                  </a:lnTo>
                  <a:lnTo>
                    <a:pt x="30408" y="2046041"/>
                  </a:lnTo>
                  <a:lnTo>
                    <a:pt x="8158" y="2013039"/>
                  </a:lnTo>
                  <a:lnTo>
                    <a:pt x="0" y="1972627"/>
                  </a:lnTo>
                  <a:lnTo>
                    <a:pt x="0" y="103822"/>
                  </a:lnTo>
                </a:path>
              </a:pathLst>
            </a:custGeom>
            <a:ln w="3809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290053" y="651510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497619" y="6588125"/>
            <a:ext cx="1606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31733" y="6559550"/>
            <a:ext cx="2626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Compare</a:t>
            </a:r>
            <a:r>
              <a:rPr dirty="0" sz="2400" spc="-6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400" spc="-6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decide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062079" y="6280784"/>
            <a:ext cx="4171950" cy="2114550"/>
            <a:chOff x="12062079" y="6280784"/>
            <a:chExt cx="4171950" cy="2114550"/>
          </a:xfrm>
        </p:grpSpPr>
        <p:sp>
          <p:nvSpPr>
            <p:cNvPr id="28" name="object 28"/>
            <p:cNvSpPr/>
            <p:nvPr/>
          </p:nvSpPr>
          <p:spPr>
            <a:xfrm>
              <a:off x="12081129" y="629983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4030027" y="2076450"/>
                  </a:moveTo>
                  <a:lnTo>
                    <a:pt x="103822" y="2076450"/>
                  </a:lnTo>
                  <a:lnTo>
                    <a:pt x="63409" y="2068291"/>
                  </a:lnTo>
                  <a:lnTo>
                    <a:pt x="30408" y="2046041"/>
                  </a:lnTo>
                  <a:lnTo>
                    <a:pt x="8158" y="2013040"/>
                  </a:lnTo>
                  <a:lnTo>
                    <a:pt x="0" y="1972627"/>
                  </a:lnTo>
                  <a:lnTo>
                    <a:pt x="0" y="103822"/>
                  </a:ln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7" y="0"/>
                  </a:lnTo>
                  <a:lnTo>
                    <a:pt x="4070440" y="8158"/>
                  </a:lnTo>
                  <a:lnTo>
                    <a:pt x="4103441" y="30408"/>
                  </a:lnTo>
                  <a:lnTo>
                    <a:pt x="4125691" y="63409"/>
                  </a:lnTo>
                  <a:lnTo>
                    <a:pt x="4133850" y="103822"/>
                  </a:lnTo>
                  <a:lnTo>
                    <a:pt x="4133850" y="1972627"/>
                  </a:lnTo>
                  <a:lnTo>
                    <a:pt x="4125691" y="2013040"/>
                  </a:lnTo>
                  <a:lnTo>
                    <a:pt x="4103441" y="2046041"/>
                  </a:lnTo>
                  <a:lnTo>
                    <a:pt x="4070440" y="2068291"/>
                  </a:lnTo>
                  <a:lnTo>
                    <a:pt x="4030027" y="207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081129" y="6299834"/>
              <a:ext cx="4133850" cy="2076450"/>
            </a:xfrm>
            <a:custGeom>
              <a:avLst/>
              <a:gdLst/>
              <a:ahLst/>
              <a:cxnLst/>
              <a:rect l="l" t="t" r="r" b="b"/>
              <a:pathLst>
                <a:path w="4133850" h="2076450">
                  <a:moveTo>
                    <a:pt x="0" y="103822"/>
                  </a:moveTo>
                  <a:lnTo>
                    <a:pt x="8158" y="63409"/>
                  </a:lnTo>
                  <a:lnTo>
                    <a:pt x="30408" y="30408"/>
                  </a:lnTo>
                  <a:lnTo>
                    <a:pt x="63409" y="8158"/>
                  </a:lnTo>
                  <a:lnTo>
                    <a:pt x="103822" y="0"/>
                  </a:lnTo>
                  <a:lnTo>
                    <a:pt x="4030026" y="0"/>
                  </a:lnTo>
                  <a:lnTo>
                    <a:pt x="4070439" y="8158"/>
                  </a:lnTo>
                  <a:lnTo>
                    <a:pt x="4103440" y="30408"/>
                  </a:lnTo>
                  <a:lnTo>
                    <a:pt x="4125690" y="63409"/>
                  </a:lnTo>
                  <a:lnTo>
                    <a:pt x="4133849" y="103822"/>
                  </a:lnTo>
                  <a:lnTo>
                    <a:pt x="4133849" y="1972627"/>
                  </a:lnTo>
                  <a:lnTo>
                    <a:pt x="4125690" y="2013040"/>
                  </a:lnTo>
                  <a:lnTo>
                    <a:pt x="4103440" y="2046041"/>
                  </a:lnTo>
                  <a:lnTo>
                    <a:pt x="4070439" y="2068291"/>
                  </a:lnTo>
                  <a:lnTo>
                    <a:pt x="4030026" y="2076449"/>
                  </a:lnTo>
                  <a:lnTo>
                    <a:pt x="103822" y="2076449"/>
                  </a:lnTo>
                  <a:lnTo>
                    <a:pt x="63409" y="2068290"/>
                  </a:lnTo>
                  <a:lnTo>
                    <a:pt x="30408" y="2046041"/>
                  </a:lnTo>
                  <a:lnTo>
                    <a:pt x="8158" y="2013039"/>
                  </a:lnTo>
                  <a:lnTo>
                    <a:pt x="0" y="1972627"/>
                  </a:lnTo>
                  <a:lnTo>
                    <a:pt x="0" y="103822"/>
                  </a:lnTo>
                </a:path>
              </a:pathLst>
            </a:custGeom>
            <a:ln w="3809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296393" y="651510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576071"/>
                  </a:moveTo>
                  <a:lnTo>
                    <a:pt x="241317" y="572301"/>
                  </a:lnTo>
                  <a:lnTo>
                    <a:pt x="196998" y="561386"/>
                  </a:lnTo>
                  <a:lnTo>
                    <a:pt x="155671" y="543919"/>
                  </a:lnTo>
                  <a:lnTo>
                    <a:pt x="117930" y="520494"/>
                  </a:lnTo>
                  <a:lnTo>
                    <a:pt x="84367" y="491704"/>
                  </a:lnTo>
                  <a:lnTo>
                    <a:pt x="55577" y="458141"/>
                  </a:lnTo>
                  <a:lnTo>
                    <a:pt x="32152" y="420400"/>
                  </a:lnTo>
                  <a:lnTo>
                    <a:pt x="14685" y="379073"/>
                  </a:lnTo>
                  <a:lnTo>
                    <a:pt x="3770" y="334754"/>
                  </a:lnTo>
                  <a:lnTo>
                    <a:pt x="0" y="288035"/>
                  </a:lnTo>
                  <a:lnTo>
                    <a:pt x="3770" y="241317"/>
                  </a:lnTo>
                  <a:lnTo>
                    <a:pt x="14685" y="196998"/>
                  </a:lnTo>
                  <a:lnTo>
                    <a:pt x="32152" y="155671"/>
                  </a:lnTo>
                  <a:lnTo>
                    <a:pt x="55577" y="117930"/>
                  </a:lnTo>
                  <a:lnTo>
                    <a:pt x="84367" y="84367"/>
                  </a:lnTo>
                  <a:lnTo>
                    <a:pt x="117930" y="55577"/>
                  </a:lnTo>
                  <a:lnTo>
                    <a:pt x="155671" y="32152"/>
                  </a:lnTo>
                  <a:lnTo>
                    <a:pt x="196998" y="14685"/>
                  </a:lnTo>
                  <a:lnTo>
                    <a:pt x="241317" y="3770"/>
                  </a:lnTo>
                  <a:lnTo>
                    <a:pt x="288035" y="0"/>
                  </a:lnTo>
                  <a:lnTo>
                    <a:pt x="334754" y="3770"/>
                  </a:lnTo>
                  <a:lnTo>
                    <a:pt x="379073" y="14685"/>
                  </a:lnTo>
                  <a:lnTo>
                    <a:pt x="420400" y="32152"/>
                  </a:lnTo>
                  <a:lnTo>
                    <a:pt x="458141" y="55577"/>
                  </a:lnTo>
                  <a:lnTo>
                    <a:pt x="491704" y="84367"/>
                  </a:lnTo>
                  <a:lnTo>
                    <a:pt x="520494" y="117930"/>
                  </a:lnTo>
                  <a:lnTo>
                    <a:pt x="543919" y="155671"/>
                  </a:lnTo>
                  <a:lnTo>
                    <a:pt x="561386" y="196998"/>
                  </a:lnTo>
                  <a:lnTo>
                    <a:pt x="572301" y="241317"/>
                  </a:lnTo>
                  <a:lnTo>
                    <a:pt x="576071" y="288035"/>
                  </a:lnTo>
                  <a:lnTo>
                    <a:pt x="572301" y="334754"/>
                  </a:lnTo>
                  <a:lnTo>
                    <a:pt x="561386" y="379073"/>
                  </a:lnTo>
                  <a:lnTo>
                    <a:pt x="543919" y="420400"/>
                  </a:lnTo>
                  <a:lnTo>
                    <a:pt x="520494" y="458141"/>
                  </a:lnTo>
                  <a:lnTo>
                    <a:pt x="491704" y="491704"/>
                  </a:lnTo>
                  <a:lnTo>
                    <a:pt x="458141" y="520494"/>
                  </a:lnTo>
                  <a:lnTo>
                    <a:pt x="420400" y="543919"/>
                  </a:lnTo>
                  <a:lnTo>
                    <a:pt x="379073" y="561386"/>
                  </a:lnTo>
                  <a:lnTo>
                    <a:pt x="334754" y="572301"/>
                  </a:lnTo>
                  <a:lnTo>
                    <a:pt x="288035" y="576071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2503959" y="6588125"/>
            <a:ext cx="1606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38073" y="6559550"/>
            <a:ext cx="175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Range</a:t>
            </a:r>
            <a:r>
              <a:rPr dirty="0" sz="2400" spc="-6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lookup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77353" y="7191247"/>
            <a:ext cx="3660775" cy="61785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185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Match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means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breached: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block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it.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No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match:</a:t>
            </a:r>
            <a:r>
              <a:rPr dirty="0" sz="19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apply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score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rules.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283693" y="7191247"/>
            <a:ext cx="3653154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30"/>
              </a:lnSpc>
              <a:spcBef>
                <a:spcPts val="100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Server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asks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HIBP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for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hashes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with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35"/>
              </a:lnSpc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that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prefix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95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gets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95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list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r>
              <a:rPr dirty="0" sz="195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suffixes.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239831" y="3947200"/>
            <a:ext cx="7966709" cy="3448050"/>
            <a:chOff x="6239831" y="3947200"/>
            <a:chExt cx="7966709" cy="3448050"/>
          </a:xfrm>
        </p:grpSpPr>
        <p:sp>
          <p:nvSpPr>
            <p:cNvPr id="49" name="object 49"/>
            <p:cNvSpPr/>
            <p:nvPr/>
          </p:nvSpPr>
          <p:spPr>
            <a:xfrm>
              <a:off x="6249437" y="3956725"/>
              <a:ext cx="730885" cy="39370"/>
            </a:xfrm>
            <a:custGeom>
              <a:avLst/>
              <a:gdLst/>
              <a:ahLst/>
              <a:cxnLst/>
              <a:rect l="l" t="t" r="r" b="b"/>
              <a:pathLst>
                <a:path w="730884" h="39370">
                  <a:moveTo>
                    <a:pt x="0" y="0"/>
                  </a:moveTo>
                  <a:lnTo>
                    <a:pt x="730665" y="39277"/>
                  </a:lnTo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988079" y="3967980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0" y="57067"/>
                  </a:moveTo>
                  <a:lnTo>
                    <a:pt x="3067" y="0"/>
                  </a:lnTo>
                  <a:lnTo>
                    <a:pt x="39578" y="30578"/>
                  </a:lnTo>
                  <a:lnTo>
                    <a:pt x="0" y="57067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988079" y="3967980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3067" y="0"/>
                  </a:moveTo>
                  <a:lnTo>
                    <a:pt x="39578" y="30578"/>
                  </a:lnTo>
                  <a:lnTo>
                    <a:pt x="0" y="57067"/>
                  </a:lnTo>
                  <a:lnTo>
                    <a:pt x="3067" y="0"/>
                  </a:lnTo>
                  <a:close/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1255777" y="3956725"/>
              <a:ext cx="730885" cy="39370"/>
            </a:xfrm>
            <a:custGeom>
              <a:avLst/>
              <a:gdLst/>
              <a:ahLst/>
              <a:cxnLst/>
              <a:rect l="l" t="t" r="r" b="b"/>
              <a:pathLst>
                <a:path w="730884" h="39370">
                  <a:moveTo>
                    <a:pt x="0" y="0"/>
                  </a:moveTo>
                  <a:lnTo>
                    <a:pt x="730665" y="39277"/>
                  </a:lnTo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1994420" y="3967980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0" y="57067"/>
                  </a:moveTo>
                  <a:lnTo>
                    <a:pt x="3067" y="0"/>
                  </a:lnTo>
                  <a:lnTo>
                    <a:pt x="39578" y="30578"/>
                  </a:lnTo>
                  <a:lnTo>
                    <a:pt x="0" y="57067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1994420" y="3967980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3067" y="0"/>
                  </a:moveTo>
                  <a:lnTo>
                    <a:pt x="39578" y="30578"/>
                  </a:lnTo>
                  <a:lnTo>
                    <a:pt x="0" y="57067"/>
                  </a:lnTo>
                  <a:lnTo>
                    <a:pt x="3067" y="0"/>
                  </a:lnTo>
                  <a:close/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4126935" y="5035585"/>
              <a:ext cx="40640" cy="1196975"/>
            </a:xfrm>
            <a:custGeom>
              <a:avLst/>
              <a:gdLst/>
              <a:ahLst/>
              <a:cxnLst/>
              <a:rect l="l" t="t" r="r" b="b"/>
              <a:pathLst>
                <a:path w="40640" h="1196975">
                  <a:moveTo>
                    <a:pt x="0" y="0"/>
                  </a:moveTo>
                  <a:lnTo>
                    <a:pt x="40606" y="1196946"/>
                  </a:lnTo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4139306" y="6241082"/>
              <a:ext cx="57150" cy="39370"/>
            </a:xfrm>
            <a:custGeom>
              <a:avLst/>
              <a:gdLst/>
              <a:ahLst/>
              <a:cxnLst/>
              <a:rect l="l" t="t" r="r" b="b"/>
              <a:pathLst>
                <a:path w="57150" h="39370">
                  <a:moveTo>
                    <a:pt x="0" y="1937"/>
                  </a:moveTo>
                  <a:lnTo>
                    <a:pt x="57117" y="0"/>
                  </a:lnTo>
                  <a:lnTo>
                    <a:pt x="29850" y="39046"/>
                  </a:lnTo>
                  <a:lnTo>
                    <a:pt x="0" y="1937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4139306" y="6241082"/>
              <a:ext cx="57150" cy="39370"/>
            </a:xfrm>
            <a:custGeom>
              <a:avLst/>
              <a:gdLst/>
              <a:ahLst/>
              <a:cxnLst/>
              <a:rect l="l" t="t" r="r" b="b"/>
              <a:pathLst>
                <a:path w="57150" h="39370">
                  <a:moveTo>
                    <a:pt x="57117" y="0"/>
                  </a:moveTo>
                  <a:lnTo>
                    <a:pt x="29850" y="39046"/>
                  </a:lnTo>
                  <a:lnTo>
                    <a:pt x="0" y="1937"/>
                  </a:lnTo>
                  <a:lnTo>
                    <a:pt x="57117" y="0"/>
                  </a:lnTo>
                  <a:close/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1303253" y="7317145"/>
              <a:ext cx="730885" cy="39370"/>
            </a:xfrm>
            <a:custGeom>
              <a:avLst/>
              <a:gdLst/>
              <a:ahLst/>
              <a:cxnLst/>
              <a:rect l="l" t="t" r="r" b="b"/>
              <a:pathLst>
                <a:path w="730884" h="39370">
                  <a:moveTo>
                    <a:pt x="730665" y="0"/>
                  </a:moveTo>
                  <a:lnTo>
                    <a:pt x="0" y="39277"/>
                  </a:lnTo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1255696" y="7328399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36511" y="0"/>
                  </a:moveTo>
                  <a:lnTo>
                    <a:pt x="39578" y="57067"/>
                  </a:lnTo>
                  <a:lnTo>
                    <a:pt x="0" y="30578"/>
                  </a:lnTo>
                  <a:lnTo>
                    <a:pt x="36511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1255696" y="7328399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39578" y="57067"/>
                  </a:moveTo>
                  <a:lnTo>
                    <a:pt x="0" y="30578"/>
                  </a:lnTo>
                  <a:lnTo>
                    <a:pt x="36511" y="0"/>
                  </a:lnTo>
                  <a:lnTo>
                    <a:pt x="39578" y="57067"/>
                  </a:lnTo>
                  <a:close/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296913" y="7317145"/>
              <a:ext cx="730885" cy="39370"/>
            </a:xfrm>
            <a:custGeom>
              <a:avLst/>
              <a:gdLst/>
              <a:ahLst/>
              <a:cxnLst/>
              <a:rect l="l" t="t" r="r" b="b"/>
              <a:pathLst>
                <a:path w="730884" h="39370">
                  <a:moveTo>
                    <a:pt x="730665" y="0"/>
                  </a:moveTo>
                  <a:lnTo>
                    <a:pt x="0" y="39277"/>
                  </a:lnTo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249356" y="7328399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36511" y="0"/>
                  </a:moveTo>
                  <a:lnTo>
                    <a:pt x="39578" y="57067"/>
                  </a:lnTo>
                  <a:lnTo>
                    <a:pt x="0" y="30578"/>
                  </a:lnTo>
                  <a:lnTo>
                    <a:pt x="36511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249356" y="7328399"/>
              <a:ext cx="40005" cy="57150"/>
            </a:xfrm>
            <a:custGeom>
              <a:avLst/>
              <a:gdLst/>
              <a:ahLst/>
              <a:cxnLst/>
              <a:rect l="l" t="t" r="r" b="b"/>
              <a:pathLst>
                <a:path w="40004" h="57150">
                  <a:moveTo>
                    <a:pt x="39578" y="57067"/>
                  </a:moveTo>
                  <a:lnTo>
                    <a:pt x="0" y="30578"/>
                  </a:lnTo>
                  <a:lnTo>
                    <a:pt x="36511" y="0"/>
                  </a:lnTo>
                  <a:lnTo>
                    <a:pt x="39578" y="57067"/>
                  </a:lnTo>
                  <a:close/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2271013" y="7191247"/>
            <a:ext cx="3606165" cy="61785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185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Argon2id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with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salt,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then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prompt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for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MFA</a:t>
            </a:r>
            <a:r>
              <a:rPr dirty="0" sz="195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dirty="0" sz="195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passkey.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62709" y="781799"/>
            <a:ext cx="643826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Lean</a:t>
            </a:r>
            <a:r>
              <a:rPr dirty="0" spc="-290"/>
              <a:t> </a:t>
            </a:r>
            <a:r>
              <a:rPr dirty="0" spc="-80"/>
              <a:t>Canvas</a:t>
            </a:r>
            <a:r>
              <a:rPr dirty="0" spc="-290"/>
              <a:t> </a:t>
            </a:r>
            <a:r>
              <a:rPr dirty="0" spc="-20"/>
              <a:t>Model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71600" y="2400299"/>
            <a:ext cx="3020695" cy="5005705"/>
            <a:chOff x="1371600" y="2400299"/>
            <a:chExt cx="3020695" cy="5005705"/>
          </a:xfrm>
        </p:grpSpPr>
        <p:sp>
          <p:nvSpPr>
            <p:cNvPr id="7" name="object 7"/>
            <p:cNvSpPr/>
            <p:nvPr/>
          </p:nvSpPr>
          <p:spPr>
            <a:xfrm>
              <a:off x="1371600" y="2400299"/>
              <a:ext cx="3020695" cy="5005705"/>
            </a:xfrm>
            <a:custGeom>
              <a:avLst/>
              <a:gdLst/>
              <a:ahLst/>
              <a:cxnLst/>
              <a:rect l="l" t="t" r="r" b="b"/>
              <a:pathLst>
                <a:path w="3020695" h="5005705">
                  <a:moveTo>
                    <a:pt x="2875799" y="5005278"/>
                  </a:moveTo>
                  <a:lnTo>
                    <a:pt x="144395" y="5005278"/>
                  </a:lnTo>
                  <a:lnTo>
                    <a:pt x="103323" y="4998648"/>
                  </a:lnTo>
                  <a:lnTo>
                    <a:pt x="61878" y="4977228"/>
                  </a:lnTo>
                  <a:lnTo>
                    <a:pt x="29180" y="4944556"/>
                  </a:lnTo>
                  <a:lnTo>
                    <a:pt x="7718" y="4903110"/>
                  </a:lnTo>
                  <a:lnTo>
                    <a:pt x="0" y="4855368"/>
                  </a:lnTo>
                  <a:lnTo>
                    <a:pt x="0" y="150971"/>
                  </a:lnTo>
                  <a:lnTo>
                    <a:pt x="7700" y="103266"/>
                  </a:lnTo>
                  <a:lnTo>
                    <a:pt x="29138" y="61824"/>
                  </a:lnTo>
                  <a:lnTo>
                    <a:pt x="61824" y="29138"/>
                  </a:lnTo>
                  <a:lnTo>
                    <a:pt x="103266" y="7700"/>
                  </a:lnTo>
                  <a:lnTo>
                    <a:pt x="150971" y="0"/>
                  </a:lnTo>
                  <a:lnTo>
                    <a:pt x="2869215" y="0"/>
                  </a:lnTo>
                  <a:lnTo>
                    <a:pt x="2916957" y="7700"/>
                  </a:lnTo>
                  <a:lnTo>
                    <a:pt x="2958403" y="29138"/>
                  </a:lnTo>
                  <a:lnTo>
                    <a:pt x="2991075" y="61824"/>
                  </a:lnTo>
                  <a:lnTo>
                    <a:pt x="3012496" y="103266"/>
                  </a:lnTo>
                  <a:lnTo>
                    <a:pt x="3020262" y="150971"/>
                  </a:lnTo>
                  <a:lnTo>
                    <a:pt x="3020262" y="4855368"/>
                  </a:lnTo>
                  <a:lnTo>
                    <a:pt x="3012486" y="4903110"/>
                  </a:lnTo>
                  <a:lnTo>
                    <a:pt x="2991047" y="4944556"/>
                  </a:lnTo>
                  <a:lnTo>
                    <a:pt x="2958362" y="4977228"/>
                  </a:lnTo>
                  <a:lnTo>
                    <a:pt x="2916920" y="4998648"/>
                  </a:lnTo>
                  <a:lnTo>
                    <a:pt x="2875799" y="5005278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4" y="2863769"/>
              <a:ext cx="66675" cy="66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4" y="3454319"/>
              <a:ext cx="66675" cy="666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4" y="4044869"/>
              <a:ext cx="66675" cy="666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96999" y="2431969"/>
            <a:ext cx="2947670" cy="206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 marL="365125" marR="5080">
              <a:lnSpc>
                <a:spcPts val="2330"/>
              </a:lnSpc>
              <a:spcBef>
                <a:spcPts val="55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Complexity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rules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do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not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stop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weak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passwords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Breached</a:t>
            </a:r>
            <a:r>
              <a:rPr dirty="0" sz="1950" spc="-8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passwords</a:t>
            </a:r>
            <a:r>
              <a:rPr dirty="0" sz="1950" spc="-8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pass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unnoticed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225"/>
              </a:lnSpc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"Too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weak"</a:t>
            </a:r>
            <a:r>
              <a:rPr dirty="0" sz="19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gives</a:t>
            </a:r>
            <a:r>
              <a:rPr dirty="0" sz="19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no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330"/>
              </a:lnSpc>
            </a:pP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guidance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1591" y="2400299"/>
            <a:ext cx="3018155" cy="2448560"/>
            <a:chOff x="4501591" y="2400299"/>
            <a:chExt cx="3018155" cy="2448560"/>
          </a:xfrm>
        </p:grpSpPr>
        <p:sp>
          <p:nvSpPr>
            <p:cNvPr id="14" name="object 14"/>
            <p:cNvSpPr/>
            <p:nvPr/>
          </p:nvSpPr>
          <p:spPr>
            <a:xfrm>
              <a:off x="4501591" y="2400299"/>
              <a:ext cx="3018155" cy="2448560"/>
            </a:xfrm>
            <a:custGeom>
              <a:avLst/>
              <a:gdLst/>
              <a:ahLst/>
              <a:cxnLst/>
              <a:rect l="l" t="t" r="r" b="b"/>
              <a:pathLst>
                <a:path w="3018154" h="2448560">
                  <a:moveTo>
                    <a:pt x="2897885" y="2448305"/>
                  </a:moveTo>
                  <a:lnTo>
                    <a:pt x="122396" y="2448305"/>
                  </a:lnTo>
                  <a:lnTo>
                    <a:pt x="74741" y="2438691"/>
                  </a:lnTo>
                  <a:lnTo>
                    <a:pt x="35837" y="2412468"/>
                  </a:lnTo>
                  <a:lnTo>
                    <a:pt x="9614" y="2373564"/>
                  </a:lnTo>
                  <a:lnTo>
                    <a:pt x="0" y="2325909"/>
                  </a:lnTo>
                  <a:lnTo>
                    <a:pt x="0" y="122396"/>
                  </a:lnTo>
                  <a:lnTo>
                    <a:pt x="9614" y="74741"/>
                  </a:lnTo>
                  <a:lnTo>
                    <a:pt x="35837" y="35837"/>
                  </a:lnTo>
                  <a:lnTo>
                    <a:pt x="74741" y="9614"/>
                  </a:lnTo>
                  <a:lnTo>
                    <a:pt x="122396" y="0"/>
                  </a:lnTo>
                  <a:lnTo>
                    <a:pt x="2897885" y="0"/>
                  </a:lnTo>
                  <a:lnTo>
                    <a:pt x="2945540" y="9614"/>
                  </a:lnTo>
                  <a:lnTo>
                    <a:pt x="2984444" y="35837"/>
                  </a:lnTo>
                  <a:lnTo>
                    <a:pt x="3010667" y="74741"/>
                  </a:lnTo>
                  <a:lnTo>
                    <a:pt x="3017679" y="109495"/>
                  </a:lnTo>
                  <a:lnTo>
                    <a:pt x="3017679" y="2338810"/>
                  </a:lnTo>
                  <a:lnTo>
                    <a:pt x="3010667" y="2373564"/>
                  </a:lnTo>
                  <a:lnTo>
                    <a:pt x="2984444" y="2412468"/>
                  </a:lnTo>
                  <a:lnTo>
                    <a:pt x="2945540" y="2438691"/>
                  </a:lnTo>
                  <a:lnTo>
                    <a:pt x="2897885" y="2448305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615" y="2863769"/>
              <a:ext cx="66675" cy="666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615" y="3159044"/>
              <a:ext cx="66675" cy="666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615" y="3454319"/>
              <a:ext cx="66675" cy="666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615" y="3749594"/>
              <a:ext cx="66675" cy="666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526991" y="2431969"/>
            <a:ext cx="2595880" cy="147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SOLUTION</a:t>
            </a:r>
            <a:endParaRPr sz="1800">
              <a:latin typeface="Calibri"/>
              <a:cs typeface="Calibri"/>
            </a:endParaRPr>
          </a:p>
          <a:p>
            <a:pPr marL="365125" marR="5080">
              <a:lnSpc>
                <a:spcPts val="2330"/>
              </a:lnSpc>
              <a:spcBef>
                <a:spcPts val="55"/>
              </a:spcBef>
            </a:pP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Attacker-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style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scoring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Private</a:t>
            </a:r>
            <a:r>
              <a:rPr dirty="0" sz="19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breach</a:t>
            </a:r>
            <a:r>
              <a:rPr dirty="0" sz="1950" spc="-5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check Context-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aware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checks Plain-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language</a:t>
            </a:r>
            <a:r>
              <a:rPr dirty="0" sz="1950" spc="-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fixes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3491" y="6395166"/>
            <a:ext cx="2561590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64"/>
              </a:lnSpc>
              <a:spcBef>
                <a:spcPts val="100"/>
              </a:spcBef>
            </a:pPr>
            <a:r>
              <a:rPr dirty="0" sz="1650" b="1">
                <a:solidFill>
                  <a:srgbClr val="585858"/>
                </a:solidFill>
                <a:latin typeface="Calibri"/>
                <a:cs typeface="Calibri"/>
              </a:rPr>
              <a:t>EXISTING </a:t>
            </a:r>
            <a:r>
              <a:rPr dirty="0" sz="1650" spc="-10" b="1">
                <a:solidFill>
                  <a:srgbClr val="585858"/>
                </a:solidFill>
                <a:latin typeface="Calibri"/>
                <a:cs typeface="Calibri"/>
              </a:rPr>
              <a:t>ALTERNATIVES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ts val="2100"/>
              </a:lnSpc>
              <a:spcBef>
                <a:spcPts val="105"/>
              </a:spcBef>
            </a:pP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Rule-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based</a:t>
            </a:r>
            <a:r>
              <a:rPr dirty="0" sz="18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meters,</a:t>
            </a:r>
            <a:r>
              <a:rPr dirty="0" sz="18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zxcvbn,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breach</a:t>
            </a:r>
            <a:r>
              <a:rPr dirty="0" sz="18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lookups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01591" y="4958333"/>
            <a:ext cx="3018155" cy="2448560"/>
            <a:chOff x="4501591" y="4958333"/>
            <a:chExt cx="3018155" cy="2448560"/>
          </a:xfrm>
        </p:grpSpPr>
        <p:sp>
          <p:nvSpPr>
            <p:cNvPr id="21" name="object 21"/>
            <p:cNvSpPr/>
            <p:nvPr/>
          </p:nvSpPr>
          <p:spPr>
            <a:xfrm>
              <a:off x="4501591" y="4958333"/>
              <a:ext cx="3018155" cy="2448560"/>
            </a:xfrm>
            <a:custGeom>
              <a:avLst/>
              <a:gdLst/>
              <a:ahLst/>
              <a:cxnLst/>
              <a:rect l="l" t="t" r="r" b="b"/>
              <a:pathLst>
                <a:path w="3018154" h="2448559">
                  <a:moveTo>
                    <a:pt x="2897885" y="2448305"/>
                  </a:moveTo>
                  <a:lnTo>
                    <a:pt x="122396" y="2448305"/>
                  </a:lnTo>
                  <a:lnTo>
                    <a:pt x="74741" y="2438691"/>
                  </a:lnTo>
                  <a:lnTo>
                    <a:pt x="35837" y="2412468"/>
                  </a:lnTo>
                  <a:lnTo>
                    <a:pt x="9614" y="2373564"/>
                  </a:lnTo>
                  <a:lnTo>
                    <a:pt x="0" y="2325910"/>
                  </a:lnTo>
                  <a:lnTo>
                    <a:pt x="0" y="122396"/>
                  </a:lnTo>
                  <a:lnTo>
                    <a:pt x="9614" y="74741"/>
                  </a:lnTo>
                  <a:lnTo>
                    <a:pt x="35837" y="35837"/>
                  </a:lnTo>
                  <a:lnTo>
                    <a:pt x="74741" y="9614"/>
                  </a:lnTo>
                  <a:lnTo>
                    <a:pt x="122396" y="0"/>
                  </a:lnTo>
                  <a:lnTo>
                    <a:pt x="2897885" y="0"/>
                  </a:lnTo>
                  <a:lnTo>
                    <a:pt x="2945540" y="9614"/>
                  </a:lnTo>
                  <a:lnTo>
                    <a:pt x="2984444" y="35837"/>
                  </a:lnTo>
                  <a:lnTo>
                    <a:pt x="3010667" y="74741"/>
                  </a:lnTo>
                  <a:lnTo>
                    <a:pt x="3017679" y="109495"/>
                  </a:lnTo>
                  <a:lnTo>
                    <a:pt x="3017679" y="2338810"/>
                  </a:lnTo>
                  <a:lnTo>
                    <a:pt x="3010667" y="2373564"/>
                  </a:lnTo>
                  <a:lnTo>
                    <a:pt x="2984444" y="2412468"/>
                  </a:lnTo>
                  <a:lnTo>
                    <a:pt x="2945540" y="2438691"/>
                  </a:lnTo>
                  <a:lnTo>
                    <a:pt x="2897885" y="2448305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615" y="5421803"/>
              <a:ext cx="66675" cy="6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615" y="6012353"/>
              <a:ext cx="66675" cy="6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615" y="6602903"/>
              <a:ext cx="66675" cy="6667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526991" y="4990003"/>
            <a:ext cx="2449195" cy="177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KEY</a:t>
            </a:r>
            <a:r>
              <a:rPr dirty="0" sz="1800" spc="-3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METRICS</a:t>
            </a:r>
            <a:endParaRPr sz="1800">
              <a:latin typeface="Calibri"/>
              <a:cs typeface="Calibri"/>
            </a:endParaRPr>
          </a:p>
          <a:p>
            <a:pPr marL="365125" marR="5080">
              <a:lnSpc>
                <a:spcPts val="2330"/>
              </a:lnSpc>
              <a:spcBef>
                <a:spcPts val="55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Breached</a:t>
            </a:r>
            <a:r>
              <a:rPr dirty="0" sz="1950" spc="-7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passwords blocked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235"/>
              </a:lnSpc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Average strength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at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325"/>
              </a:lnSpc>
            </a:pP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signup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330"/>
              </a:lnSpc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Apps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integrated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31582" y="2400299"/>
            <a:ext cx="3020695" cy="5005705"/>
          </a:xfrm>
          <a:custGeom>
            <a:avLst/>
            <a:gdLst/>
            <a:ahLst/>
            <a:cxnLst/>
            <a:rect l="l" t="t" r="r" b="b"/>
            <a:pathLst>
              <a:path w="3020695" h="5005705">
                <a:moveTo>
                  <a:pt x="2875799" y="5005278"/>
                </a:moveTo>
                <a:lnTo>
                  <a:pt x="144395" y="5005278"/>
                </a:lnTo>
                <a:lnTo>
                  <a:pt x="103323" y="4998648"/>
                </a:lnTo>
                <a:lnTo>
                  <a:pt x="61878" y="4977228"/>
                </a:lnTo>
                <a:lnTo>
                  <a:pt x="29180" y="4944556"/>
                </a:lnTo>
                <a:lnTo>
                  <a:pt x="7718" y="4903110"/>
                </a:lnTo>
                <a:lnTo>
                  <a:pt x="0" y="4855368"/>
                </a:lnTo>
                <a:lnTo>
                  <a:pt x="0" y="150971"/>
                </a:lnTo>
                <a:lnTo>
                  <a:pt x="7700" y="103266"/>
                </a:lnTo>
                <a:lnTo>
                  <a:pt x="29138" y="61824"/>
                </a:lnTo>
                <a:lnTo>
                  <a:pt x="61824" y="29138"/>
                </a:lnTo>
                <a:lnTo>
                  <a:pt x="103266" y="7700"/>
                </a:lnTo>
                <a:lnTo>
                  <a:pt x="150971" y="0"/>
                </a:lnTo>
                <a:lnTo>
                  <a:pt x="2869215" y="0"/>
                </a:lnTo>
                <a:lnTo>
                  <a:pt x="2916957" y="7700"/>
                </a:lnTo>
                <a:lnTo>
                  <a:pt x="2958403" y="29138"/>
                </a:lnTo>
                <a:lnTo>
                  <a:pt x="2991075" y="61824"/>
                </a:lnTo>
                <a:lnTo>
                  <a:pt x="3012495" y="103266"/>
                </a:lnTo>
                <a:lnTo>
                  <a:pt x="3020262" y="150971"/>
                </a:lnTo>
                <a:lnTo>
                  <a:pt x="3020262" y="4855368"/>
                </a:lnTo>
                <a:lnTo>
                  <a:pt x="3012486" y="4903110"/>
                </a:lnTo>
                <a:lnTo>
                  <a:pt x="2991047" y="4944556"/>
                </a:lnTo>
                <a:lnTo>
                  <a:pt x="2958362" y="4977228"/>
                </a:lnTo>
                <a:lnTo>
                  <a:pt x="2916920" y="4998648"/>
                </a:lnTo>
                <a:lnTo>
                  <a:pt x="2875799" y="5005278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656982" y="2431969"/>
            <a:ext cx="2868295" cy="2989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UNIQUE VALUE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PROPOSITION</a:t>
            </a:r>
            <a:endParaRPr sz="1800">
              <a:latin typeface="Calibri"/>
              <a:cs typeface="Calibri"/>
            </a:endParaRPr>
          </a:p>
          <a:p>
            <a:pPr marL="12700" marR="91440">
              <a:lnSpc>
                <a:spcPts val="2850"/>
              </a:lnSpc>
              <a:spcBef>
                <a:spcPts val="50"/>
              </a:spcBef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Tells</a:t>
            </a:r>
            <a:r>
              <a:rPr dirty="0" sz="2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people</a:t>
            </a:r>
            <a:r>
              <a:rPr dirty="0" sz="2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exactly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password</a:t>
            </a:r>
            <a:r>
              <a:rPr dirty="0" sz="2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guessable</a:t>
            </a:r>
            <a:r>
              <a:rPr dirty="0" sz="2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dirty="0" sz="2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fix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it,</a:t>
            </a:r>
            <a:r>
              <a:rPr dirty="0" sz="2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privately</a:t>
            </a:r>
            <a:r>
              <a:rPr dirty="0" sz="2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algn="just" marL="12700" marR="248285">
              <a:lnSpc>
                <a:spcPts val="2320"/>
              </a:lnSpc>
              <a:spcBef>
                <a:spcPts val="50"/>
              </a:spcBef>
            </a:pP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NIST-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aligned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strength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 you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9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 sign-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up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page.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761572" y="2400299"/>
            <a:ext cx="3018155" cy="2448560"/>
            <a:chOff x="10761572" y="2400299"/>
            <a:chExt cx="3018155" cy="2448560"/>
          </a:xfrm>
        </p:grpSpPr>
        <p:sp>
          <p:nvSpPr>
            <p:cNvPr id="29" name="object 29"/>
            <p:cNvSpPr/>
            <p:nvPr/>
          </p:nvSpPr>
          <p:spPr>
            <a:xfrm>
              <a:off x="10761572" y="2400299"/>
              <a:ext cx="3018155" cy="2448560"/>
            </a:xfrm>
            <a:custGeom>
              <a:avLst/>
              <a:gdLst/>
              <a:ahLst/>
              <a:cxnLst/>
              <a:rect l="l" t="t" r="r" b="b"/>
              <a:pathLst>
                <a:path w="3018155" h="2448560">
                  <a:moveTo>
                    <a:pt x="2897887" y="2448305"/>
                  </a:moveTo>
                  <a:lnTo>
                    <a:pt x="122396" y="2448305"/>
                  </a:lnTo>
                  <a:lnTo>
                    <a:pt x="74741" y="2438691"/>
                  </a:lnTo>
                  <a:lnTo>
                    <a:pt x="35838" y="2412468"/>
                  </a:lnTo>
                  <a:lnTo>
                    <a:pt x="9614" y="2373564"/>
                  </a:lnTo>
                  <a:lnTo>
                    <a:pt x="0" y="2325909"/>
                  </a:lnTo>
                  <a:lnTo>
                    <a:pt x="0" y="122396"/>
                  </a:lnTo>
                  <a:lnTo>
                    <a:pt x="9614" y="74741"/>
                  </a:lnTo>
                  <a:lnTo>
                    <a:pt x="35838" y="35837"/>
                  </a:lnTo>
                  <a:lnTo>
                    <a:pt x="74741" y="9614"/>
                  </a:lnTo>
                  <a:lnTo>
                    <a:pt x="122396" y="0"/>
                  </a:lnTo>
                  <a:lnTo>
                    <a:pt x="2897887" y="0"/>
                  </a:lnTo>
                  <a:lnTo>
                    <a:pt x="2945541" y="9614"/>
                  </a:lnTo>
                  <a:lnTo>
                    <a:pt x="2984444" y="35837"/>
                  </a:lnTo>
                  <a:lnTo>
                    <a:pt x="3010667" y="74741"/>
                  </a:lnTo>
                  <a:lnTo>
                    <a:pt x="3017679" y="109496"/>
                  </a:lnTo>
                  <a:lnTo>
                    <a:pt x="3017679" y="2338809"/>
                  </a:lnTo>
                  <a:lnTo>
                    <a:pt x="3010667" y="2373564"/>
                  </a:lnTo>
                  <a:lnTo>
                    <a:pt x="2984444" y="2412468"/>
                  </a:lnTo>
                  <a:lnTo>
                    <a:pt x="2945541" y="2438691"/>
                  </a:lnTo>
                  <a:lnTo>
                    <a:pt x="2897887" y="2448305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1598" y="2863769"/>
              <a:ext cx="66675" cy="6667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1598" y="3454319"/>
              <a:ext cx="66675" cy="666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1598" y="3749594"/>
              <a:ext cx="66675" cy="6667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0786973" y="2431969"/>
            <a:ext cx="2800985" cy="147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UNFAIR </a:t>
            </a: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ADVANTAGE</a:t>
            </a:r>
            <a:endParaRPr sz="1800">
              <a:latin typeface="Calibri"/>
              <a:cs typeface="Calibri"/>
            </a:endParaRPr>
          </a:p>
          <a:p>
            <a:pPr marL="365125" marR="310515">
              <a:lnSpc>
                <a:spcPts val="2330"/>
              </a:lnSpc>
              <a:spcBef>
                <a:spcPts val="55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Built</a:t>
            </a:r>
            <a:r>
              <a:rPr dirty="0" sz="19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proven</a:t>
            </a:r>
            <a:r>
              <a:rPr dirty="0" sz="19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open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components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235"/>
              </a:lnSpc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NIST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800-63B-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defaults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330"/>
              </a:lnSpc>
            </a:pP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Privacy-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first</a:t>
            </a:r>
            <a:r>
              <a:rPr dirty="0" sz="19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design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0761572" y="4958333"/>
            <a:ext cx="3018155" cy="2448560"/>
            <a:chOff x="10761572" y="4958333"/>
            <a:chExt cx="3018155" cy="2448560"/>
          </a:xfrm>
        </p:grpSpPr>
        <p:sp>
          <p:nvSpPr>
            <p:cNvPr id="35" name="object 35"/>
            <p:cNvSpPr/>
            <p:nvPr/>
          </p:nvSpPr>
          <p:spPr>
            <a:xfrm>
              <a:off x="10761572" y="4958333"/>
              <a:ext cx="3018155" cy="2448560"/>
            </a:xfrm>
            <a:custGeom>
              <a:avLst/>
              <a:gdLst/>
              <a:ahLst/>
              <a:cxnLst/>
              <a:rect l="l" t="t" r="r" b="b"/>
              <a:pathLst>
                <a:path w="3018155" h="2448559">
                  <a:moveTo>
                    <a:pt x="2897887" y="2448305"/>
                  </a:moveTo>
                  <a:lnTo>
                    <a:pt x="122396" y="2448305"/>
                  </a:lnTo>
                  <a:lnTo>
                    <a:pt x="74741" y="2438691"/>
                  </a:lnTo>
                  <a:lnTo>
                    <a:pt x="35838" y="2412468"/>
                  </a:lnTo>
                  <a:lnTo>
                    <a:pt x="9614" y="2373564"/>
                  </a:lnTo>
                  <a:lnTo>
                    <a:pt x="0" y="2325910"/>
                  </a:lnTo>
                  <a:lnTo>
                    <a:pt x="0" y="122396"/>
                  </a:lnTo>
                  <a:lnTo>
                    <a:pt x="9614" y="74741"/>
                  </a:lnTo>
                  <a:lnTo>
                    <a:pt x="35838" y="35837"/>
                  </a:lnTo>
                  <a:lnTo>
                    <a:pt x="74741" y="9614"/>
                  </a:lnTo>
                  <a:lnTo>
                    <a:pt x="122396" y="0"/>
                  </a:lnTo>
                  <a:lnTo>
                    <a:pt x="2897887" y="0"/>
                  </a:lnTo>
                  <a:lnTo>
                    <a:pt x="2945541" y="9614"/>
                  </a:lnTo>
                  <a:lnTo>
                    <a:pt x="2984444" y="35837"/>
                  </a:lnTo>
                  <a:lnTo>
                    <a:pt x="3010667" y="74741"/>
                  </a:lnTo>
                  <a:lnTo>
                    <a:pt x="3017679" y="109496"/>
                  </a:lnTo>
                  <a:lnTo>
                    <a:pt x="3017679" y="2338810"/>
                  </a:lnTo>
                  <a:lnTo>
                    <a:pt x="3010667" y="2373564"/>
                  </a:lnTo>
                  <a:lnTo>
                    <a:pt x="2984444" y="2412468"/>
                  </a:lnTo>
                  <a:lnTo>
                    <a:pt x="2945541" y="2438691"/>
                  </a:lnTo>
                  <a:lnTo>
                    <a:pt x="2897887" y="2448305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1598" y="5421803"/>
              <a:ext cx="66675" cy="6667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1598" y="5717078"/>
              <a:ext cx="66675" cy="6667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1598" y="6012353"/>
              <a:ext cx="66675" cy="6667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0786973" y="4990003"/>
            <a:ext cx="2402840" cy="1475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CHANNELS</a:t>
            </a:r>
            <a:endParaRPr sz="1800">
              <a:latin typeface="Calibri"/>
              <a:cs typeface="Calibri"/>
            </a:endParaRPr>
          </a:p>
          <a:p>
            <a:pPr marL="365125" marR="5080">
              <a:lnSpc>
                <a:spcPts val="2330"/>
              </a:lnSpc>
              <a:spcBef>
                <a:spcPts val="55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npm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GitHub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Docs</a:t>
            </a:r>
            <a:r>
              <a:rPr dirty="0" sz="19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1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tutorials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Campus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startup groups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891564" y="2400299"/>
            <a:ext cx="3020695" cy="5005705"/>
            <a:chOff x="13891564" y="2400299"/>
            <a:chExt cx="3020695" cy="5005705"/>
          </a:xfrm>
        </p:grpSpPr>
        <p:sp>
          <p:nvSpPr>
            <p:cNvPr id="41" name="object 41"/>
            <p:cNvSpPr/>
            <p:nvPr/>
          </p:nvSpPr>
          <p:spPr>
            <a:xfrm>
              <a:off x="13891564" y="2400299"/>
              <a:ext cx="3020695" cy="5005705"/>
            </a:xfrm>
            <a:custGeom>
              <a:avLst/>
              <a:gdLst/>
              <a:ahLst/>
              <a:cxnLst/>
              <a:rect l="l" t="t" r="r" b="b"/>
              <a:pathLst>
                <a:path w="3020694" h="5005705">
                  <a:moveTo>
                    <a:pt x="2875799" y="5005278"/>
                  </a:moveTo>
                  <a:lnTo>
                    <a:pt x="144395" y="5005278"/>
                  </a:lnTo>
                  <a:lnTo>
                    <a:pt x="103323" y="4998648"/>
                  </a:lnTo>
                  <a:lnTo>
                    <a:pt x="61878" y="4977228"/>
                  </a:lnTo>
                  <a:lnTo>
                    <a:pt x="29180" y="4944556"/>
                  </a:lnTo>
                  <a:lnTo>
                    <a:pt x="7719" y="4903110"/>
                  </a:lnTo>
                  <a:lnTo>
                    <a:pt x="0" y="4855368"/>
                  </a:lnTo>
                  <a:lnTo>
                    <a:pt x="0" y="150971"/>
                  </a:lnTo>
                  <a:lnTo>
                    <a:pt x="7700" y="103266"/>
                  </a:lnTo>
                  <a:lnTo>
                    <a:pt x="29139" y="61824"/>
                  </a:lnTo>
                  <a:lnTo>
                    <a:pt x="61825" y="29138"/>
                  </a:lnTo>
                  <a:lnTo>
                    <a:pt x="103266" y="7700"/>
                  </a:lnTo>
                  <a:lnTo>
                    <a:pt x="150971" y="0"/>
                  </a:lnTo>
                  <a:lnTo>
                    <a:pt x="2869215" y="0"/>
                  </a:lnTo>
                  <a:lnTo>
                    <a:pt x="2916957" y="7700"/>
                  </a:lnTo>
                  <a:lnTo>
                    <a:pt x="2958403" y="29138"/>
                  </a:lnTo>
                  <a:lnTo>
                    <a:pt x="2991075" y="61824"/>
                  </a:lnTo>
                  <a:lnTo>
                    <a:pt x="3012496" y="103266"/>
                  </a:lnTo>
                  <a:lnTo>
                    <a:pt x="3020262" y="150971"/>
                  </a:lnTo>
                  <a:lnTo>
                    <a:pt x="3020262" y="4855368"/>
                  </a:lnTo>
                  <a:lnTo>
                    <a:pt x="3012487" y="4903110"/>
                  </a:lnTo>
                  <a:lnTo>
                    <a:pt x="2991048" y="4944556"/>
                  </a:lnTo>
                  <a:lnTo>
                    <a:pt x="2958362" y="4977228"/>
                  </a:lnTo>
                  <a:lnTo>
                    <a:pt x="2916920" y="4998648"/>
                  </a:lnTo>
                  <a:lnTo>
                    <a:pt x="2875799" y="5005278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1588" y="2863769"/>
              <a:ext cx="66675" cy="6667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1588" y="3454319"/>
              <a:ext cx="66675" cy="6667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1588" y="4044869"/>
              <a:ext cx="66675" cy="6667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3916964" y="2431969"/>
            <a:ext cx="2844800" cy="206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CUSTOMER </a:t>
            </a: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SEGMENTS</a:t>
            </a:r>
            <a:endParaRPr sz="1800">
              <a:latin typeface="Calibri"/>
              <a:cs typeface="Calibri"/>
            </a:endParaRPr>
          </a:p>
          <a:p>
            <a:pPr marL="365125" marR="5080">
              <a:lnSpc>
                <a:spcPts val="2330"/>
              </a:lnSpc>
              <a:spcBef>
                <a:spcPts val="55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small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web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apps</a:t>
            </a:r>
            <a:endParaRPr sz="1950">
              <a:latin typeface="Calibri"/>
              <a:cs typeface="Calibri"/>
            </a:endParaRPr>
          </a:p>
          <a:p>
            <a:pPr marL="365125">
              <a:lnSpc>
                <a:spcPts val="2235"/>
              </a:lnSpc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Campus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small-</a:t>
            </a:r>
            <a:endParaRPr sz="1950">
              <a:latin typeface="Calibri"/>
              <a:cs typeface="Calibri"/>
            </a:endParaRPr>
          </a:p>
          <a:p>
            <a:pPr marL="365125" marR="391795">
              <a:lnSpc>
                <a:spcPts val="2330"/>
              </a:lnSpc>
              <a:spcBef>
                <a:spcPts val="80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business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IT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admins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Everyday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users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via</a:t>
            </a:r>
            <a:r>
              <a:rPr dirty="0" sz="1950" spc="-2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50">
                <a:solidFill>
                  <a:srgbClr val="252525"/>
                </a:solidFill>
                <a:latin typeface="Calibri"/>
                <a:cs typeface="Calibri"/>
              </a:rPr>
              <a:t>a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hosted</a:t>
            </a:r>
            <a:r>
              <a:rPr dirty="0" sz="1950" spc="-3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checker</a:t>
            </a:r>
            <a:r>
              <a:rPr dirty="0" sz="1950" spc="-3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page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043455" y="6397069"/>
            <a:ext cx="2141855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64"/>
              </a:lnSpc>
              <a:spcBef>
                <a:spcPts val="100"/>
              </a:spcBef>
            </a:pPr>
            <a:r>
              <a:rPr dirty="0" sz="1650" b="1">
                <a:solidFill>
                  <a:srgbClr val="585858"/>
                </a:solidFill>
                <a:latin typeface="Calibri"/>
                <a:cs typeface="Calibri"/>
              </a:rPr>
              <a:t>EARLY </a:t>
            </a:r>
            <a:r>
              <a:rPr dirty="0" sz="1650" spc="-10" b="1">
                <a:solidFill>
                  <a:srgbClr val="585858"/>
                </a:solidFill>
                <a:latin typeface="Calibri"/>
                <a:cs typeface="Calibri"/>
              </a:rPr>
              <a:t>ADOPTERS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ts val="2100"/>
              </a:lnSpc>
              <a:spcBef>
                <a:spcPts val="105"/>
              </a:spcBef>
            </a:pP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Student-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built</a:t>
            </a:r>
            <a:r>
              <a:rPr dirty="0" sz="18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apps</a:t>
            </a:r>
            <a:r>
              <a:rPr dirty="0" sz="18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85858"/>
                </a:solidFill>
                <a:latin typeface="Calibri"/>
                <a:cs typeface="Calibri"/>
              </a:rPr>
              <a:t>and </a:t>
            </a:r>
            <a:r>
              <a:rPr dirty="0" sz="1800">
                <a:solidFill>
                  <a:srgbClr val="585858"/>
                </a:solidFill>
                <a:latin typeface="Calibri"/>
                <a:cs typeface="Calibri"/>
              </a:rPr>
              <a:t>campus</a:t>
            </a:r>
            <a:r>
              <a:rPr dirty="0" sz="18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Calibri"/>
                <a:cs typeface="Calibri"/>
              </a:rPr>
              <a:t>portals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371600" y="7516367"/>
            <a:ext cx="7715250" cy="1330960"/>
            <a:chOff x="1371600" y="7516367"/>
            <a:chExt cx="7715250" cy="1330960"/>
          </a:xfrm>
        </p:grpSpPr>
        <p:sp>
          <p:nvSpPr>
            <p:cNvPr id="48" name="object 48"/>
            <p:cNvSpPr/>
            <p:nvPr/>
          </p:nvSpPr>
          <p:spPr>
            <a:xfrm>
              <a:off x="1371600" y="7516367"/>
              <a:ext cx="7715250" cy="1330960"/>
            </a:xfrm>
            <a:custGeom>
              <a:avLst/>
              <a:gdLst/>
              <a:ahLst/>
              <a:cxnLst/>
              <a:rect l="l" t="t" r="r" b="b"/>
              <a:pathLst>
                <a:path w="7715250" h="1330959">
                  <a:moveTo>
                    <a:pt x="7648764" y="1330451"/>
                  </a:moveTo>
                  <a:lnTo>
                    <a:pt x="66484" y="1330451"/>
                  </a:lnTo>
                  <a:lnTo>
                    <a:pt x="40651" y="1325234"/>
                  </a:lnTo>
                  <a:lnTo>
                    <a:pt x="19507" y="1310997"/>
                  </a:lnTo>
                  <a:lnTo>
                    <a:pt x="5244" y="1289866"/>
                  </a:lnTo>
                  <a:lnTo>
                    <a:pt x="0" y="1263967"/>
                  </a:lnTo>
                  <a:lnTo>
                    <a:pt x="0" y="66484"/>
                  </a:lnTo>
                  <a:lnTo>
                    <a:pt x="5231" y="40625"/>
                  </a:lnTo>
                  <a:lnTo>
                    <a:pt x="19490" y="19490"/>
                  </a:lnTo>
                  <a:lnTo>
                    <a:pt x="40625" y="5231"/>
                  </a:lnTo>
                  <a:lnTo>
                    <a:pt x="66484" y="0"/>
                  </a:lnTo>
                  <a:lnTo>
                    <a:pt x="7648764" y="0"/>
                  </a:lnTo>
                  <a:lnTo>
                    <a:pt x="7674623" y="5231"/>
                  </a:lnTo>
                  <a:lnTo>
                    <a:pt x="7695758" y="19490"/>
                  </a:lnTo>
                  <a:lnTo>
                    <a:pt x="7710018" y="40625"/>
                  </a:lnTo>
                  <a:lnTo>
                    <a:pt x="7715249" y="66484"/>
                  </a:lnTo>
                  <a:lnTo>
                    <a:pt x="7715249" y="1263967"/>
                  </a:lnTo>
                  <a:lnTo>
                    <a:pt x="7710018" y="1289866"/>
                  </a:lnTo>
                  <a:lnTo>
                    <a:pt x="7695758" y="1310997"/>
                  </a:lnTo>
                  <a:lnTo>
                    <a:pt x="7674623" y="1325234"/>
                  </a:lnTo>
                  <a:lnTo>
                    <a:pt x="7648764" y="1330451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4" y="7979836"/>
              <a:ext cx="66675" cy="66674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396999" y="7548036"/>
            <a:ext cx="711390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COST </a:t>
            </a: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STRUCTURE</a:t>
            </a:r>
            <a:endParaRPr sz="1800">
              <a:latin typeface="Calibri"/>
              <a:cs typeface="Calibri"/>
            </a:endParaRPr>
          </a:p>
          <a:p>
            <a:pPr marL="365125">
              <a:lnSpc>
                <a:spcPts val="2310"/>
              </a:lnSpc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Hosting,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security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audit,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usability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testing,</a:t>
            </a:r>
            <a:r>
              <a:rPr dirty="0" sz="1950" spc="-45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community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4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marketing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196578" y="7516367"/>
            <a:ext cx="7715250" cy="1330960"/>
            <a:chOff x="9196578" y="7516367"/>
            <a:chExt cx="7715250" cy="1330960"/>
          </a:xfrm>
        </p:grpSpPr>
        <p:sp>
          <p:nvSpPr>
            <p:cNvPr id="52" name="object 52"/>
            <p:cNvSpPr/>
            <p:nvPr/>
          </p:nvSpPr>
          <p:spPr>
            <a:xfrm>
              <a:off x="9196578" y="7516367"/>
              <a:ext cx="7715250" cy="1330960"/>
            </a:xfrm>
            <a:custGeom>
              <a:avLst/>
              <a:gdLst/>
              <a:ahLst/>
              <a:cxnLst/>
              <a:rect l="l" t="t" r="r" b="b"/>
              <a:pathLst>
                <a:path w="7715250" h="1330959">
                  <a:moveTo>
                    <a:pt x="7648765" y="1330451"/>
                  </a:moveTo>
                  <a:lnTo>
                    <a:pt x="66484" y="1330451"/>
                  </a:lnTo>
                  <a:lnTo>
                    <a:pt x="40651" y="1325234"/>
                  </a:lnTo>
                  <a:lnTo>
                    <a:pt x="19507" y="1310997"/>
                  </a:lnTo>
                  <a:lnTo>
                    <a:pt x="5244" y="1289866"/>
                  </a:lnTo>
                  <a:lnTo>
                    <a:pt x="0" y="1263967"/>
                  </a:lnTo>
                  <a:lnTo>
                    <a:pt x="0" y="66484"/>
                  </a:lnTo>
                  <a:lnTo>
                    <a:pt x="5231" y="40625"/>
                  </a:lnTo>
                  <a:lnTo>
                    <a:pt x="19490" y="19490"/>
                  </a:lnTo>
                  <a:lnTo>
                    <a:pt x="40625" y="5231"/>
                  </a:lnTo>
                  <a:lnTo>
                    <a:pt x="66484" y="0"/>
                  </a:lnTo>
                  <a:lnTo>
                    <a:pt x="7648765" y="0"/>
                  </a:lnTo>
                  <a:lnTo>
                    <a:pt x="7674623" y="5231"/>
                  </a:lnTo>
                  <a:lnTo>
                    <a:pt x="7695759" y="19490"/>
                  </a:lnTo>
                  <a:lnTo>
                    <a:pt x="7710018" y="40625"/>
                  </a:lnTo>
                  <a:lnTo>
                    <a:pt x="7715249" y="66484"/>
                  </a:lnTo>
                  <a:lnTo>
                    <a:pt x="7715249" y="1263967"/>
                  </a:lnTo>
                  <a:lnTo>
                    <a:pt x="7710018" y="1289866"/>
                  </a:lnTo>
                  <a:lnTo>
                    <a:pt x="7695759" y="1310997"/>
                  </a:lnTo>
                  <a:lnTo>
                    <a:pt x="7674623" y="1325234"/>
                  </a:lnTo>
                  <a:lnTo>
                    <a:pt x="7648765" y="1330451"/>
                  </a:lnTo>
                  <a:close/>
                </a:path>
              </a:pathLst>
            </a:custGeom>
            <a:solidFill>
              <a:srgbClr val="FA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6602" y="7979836"/>
              <a:ext cx="66675" cy="66674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9221977" y="7548036"/>
            <a:ext cx="6800215" cy="884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REVENUE </a:t>
            </a: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  <a:p>
            <a:pPr marL="365125" marR="5080">
              <a:lnSpc>
                <a:spcPts val="2330"/>
              </a:lnSpc>
              <a:spcBef>
                <a:spcPts val="55"/>
              </a:spcBef>
            </a:pP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Free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open-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source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core;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paid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hosted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API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dashboard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per</a:t>
            </a:r>
            <a:r>
              <a:rPr dirty="0" sz="1950" spc="-20">
                <a:solidFill>
                  <a:srgbClr val="252525"/>
                </a:solidFill>
                <a:latin typeface="Calibri"/>
                <a:cs typeface="Calibri"/>
              </a:rPr>
              <a:t> app; </a:t>
            </a:r>
            <a:r>
              <a:rPr dirty="0" sz="1950">
                <a:solidFill>
                  <a:srgbClr val="252525"/>
                </a:solidFill>
                <a:latin typeface="Calibri"/>
                <a:cs typeface="Calibri"/>
              </a:rPr>
              <a:t>institution </a:t>
            </a:r>
            <a:r>
              <a:rPr dirty="0" sz="1950" spc="-10">
                <a:solidFill>
                  <a:srgbClr val="252525"/>
                </a:solidFill>
                <a:latin typeface="Calibri"/>
                <a:cs typeface="Calibri"/>
              </a:rPr>
              <a:t>licences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39849" y="1004049"/>
          <a:ext cx="8493125" cy="7722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7055"/>
                <a:gridCol w="1499234"/>
              </a:tblGrid>
              <a:tr h="1164590">
                <a:tc>
                  <a:txBody>
                    <a:bodyPr/>
                    <a:lstStyle/>
                    <a:p>
                      <a:pPr marL="34925">
                        <a:lnSpc>
                          <a:spcPts val="6270"/>
                        </a:lnSpc>
                      </a:pPr>
                      <a:r>
                        <a:rPr dirty="0" sz="6600" spc="-95">
                          <a:latin typeface="Calibri"/>
                          <a:cs typeface="Calibri"/>
                        </a:rPr>
                        <a:t>Capital</a:t>
                      </a:r>
                      <a:r>
                        <a:rPr dirty="0" sz="66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6600" spc="-10">
                          <a:latin typeface="Calibri"/>
                          <a:cs typeface="Calibri"/>
                        </a:rPr>
                        <a:t>(Financial)</a:t>
                      </a:r>
                      <a:endParaRPr sz="66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96646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dirty="0" sz="27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Estimated</a:t>
                      </a:r>
                      <a:r>
                        <a:rPr dirty="0" sz="2700" spc="-7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seed</a:t>
                      </a:r>
                      <a:r>
                        <a:rPr dirty="0" sz="2700" spc="-7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budget,</a:t>
                      </a:r>
                      <a:r>
                        <a:rPr dirty="0" sz="2700" spc="-7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12</a:t>
                      </a:r>
                      <a:r>
                        <a:rPr dirty="0" sz="2700" spc="-7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months:</a:t>
                      </a:r>
                      <a:r>
                        <a:rPr dirty="0" sz="2700" spc="-65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BF0000"/>
                          </a:solidFill>
                          <a:latin typeface="Calibri"/>
                          <a:cs typeface="Calibri"/>
                        </a:rPr>
                        <a:t>₹5,00,000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240665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96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15"/>
                        </a:spcBef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dirty="0" sz="21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21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100" spc="-2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30505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1815"/>
                        </a:spcBef>
                      </a:pPr>
                      <a:r>
                        <a:rPr dirty="0" sz="2100" spc="-1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₹1,50,000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30505"/>
                </a:tc>
              </a:tr>
              <a:tr h="91884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r>
                        <a:rPr dirty="0" sz="2100" spc="-4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100" spc="-4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community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 spc="-1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₹1,00,000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</a:tr>
              <a:tr h="91884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Contingency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 spc="-1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₹1,00,000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</a:tr>
              <a:tr h="91884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Hosting</a:t>
                      </a:r>
                      <a:r>
                        <a:rPr dirty="0" sz="210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100" spc="-3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infrastructure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 spc="-1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₹60,000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</a:tr>
              <a:tr h="91884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2100" spc="-4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100" spc="-4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usability</a:t>
                      </a:r>
                      <a:r>
                        <a:rPr dirty="0" sz="2100" spc="-4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 spc="-1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₹50,000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</a:tr>
              <a:tr h="10261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r>
                        <a:rPr dirty="0" sz="21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100" spc="-25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licences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ts val="1960"/>
                        </a:lnSpc>
                        <a:spcBef>
                          <a:spcPts val="1455"/>
                        </a:spcBef>
                      </a:pPr>
                      <a:r>
                        <a:rPr dirty="0" sz="165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Planning</a:t>
                      </a:r>
                      <a:r>
                        <a:rPr dirty="0" sz="1650" spc="-5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estimates,</a:t>
                      </a:r>
                      <a:r>
                        <a:rPr dirty="0" sz="1650" spc="-5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650" spc="-5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650" spc="-5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validated</a:t>
                      </a:r>
                      <a:r>
                        <a:rPr dirty="0" sz="1650" spc="-5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650" spc="-5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pilot</a:t>
                      </a:r>
                      <a:r>
                        <a:rPr dirty="0" sz="1650" spc="-5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 i="1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users.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2039"/>
                        </a:spcBef>
                      </a:pPr>
                      <a:r>
                        <a:rPr dirty="0" sz="2100" spc="-10" b="1">
                          <a:solidFill>
                            <a:srgbClr val="252525"/>
                          </a:solidFill>
                          <a:latin typeface="Calibri"/>
                          <a:cs typeface="Calibri"/>
                        </a:rPr>
                        <a:t>₹40,000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259079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143500" y="3332987"/>
            <a:ext cx="3291840" cy="466725"/>
          </a:xfrm>
          <a:custGeom>
            <a:avLst/>
            <a:gdLst/>
            <a:ahLst/>
            <a:cxnLst/>
            <a:rect l="l" t="t" r="r" b="b"/>
            <a:pathLst>
              <a:path w="3291840" h="466725">
                <a:moveTo>
                  <a:pt x="3198590" y="466344"/>
                </a:moveTo>
                <a:lnTo>
                  <a:pt x="93249" y="466344"/>
                </a:lnTo>
                <a:lnTo>
                  <a:pt x="56940" y="459020"/>
                </a:lnTo>
                <a:lnTo>
                  <a:pt x="27301" y="439042"/>
                </a:lnTo>
                <a:lnTo>
                  <a:pt x="7323" y="409403"/>
                </a:lnTo>
                <a:lnTo>
                  <a:pt x="0" y="373094"/>
                </a:lnTo>
                <a:lnTo>
                  <a:pt x="0" y="93249"/>
                </a:lnTo>
                <a:lnTo>
                  <a:pt x="7323" y="56940"/>
                </a:lnTo>
                <a:lnTo>
                  <a:pt x="27301" y="27301"/>
                </a:lnTo>
                <a:lnTo>
                  <a:pt x="56940" y="7323"/>
                </a:lnTo>
                <a:lnTo>
                  <a:pt x="93249" y="0"/>
                </a:lnTo>
                <a:lnTo>
                  <a:pt x="3198590" y="0"/>
                </a:lnTo>
                <a:lnTo>
                  <a:pt x="3234899" y="7323"/>
                </a:lnTo>
                <a:lnTo>
                  <a:pt x="3264539" y="27301"/>
                </a:lnTo>
                <a:lnTo>
                  <a:pt x="3284516" y="56940"/>
                </a:lnTo>
                <a:lnTo>
                  <a:pt x="3291840" y="93249"/>
                </a:lnTo>
                <a:lnTo>
                  <a:pt x="3291840" y="373094"/>
                </a:lnTo>
                <a:lnTo>
                  <a:pt x="3284516" y="409403"/>
                </a:lnTo>
                <a:lnTo>
                  <a:pt x="3264539" y="439042"/>
                </a:lnTo>
                <a:lnTo>
                  <a:pt x="3234899" y="459020"/>
                </a:lnTo>
                <a:lnTo>
                  <a:pt x="3198590" y="466344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43500" y="4251959"/>
            <a:ext cx="2194560" cy="466725"/>
          </a:xfrm>
          <a:custGeom>
            <a:avLst/>
            <a:gdLst/>
            <a:ahLst/>
            <a:cxnLst/>
            <a:rect l="l" t="t" r="r" b="b"/>
            <a:pathLst>
              <a:path w="2194559" h="466725">
                <a:moveTo>
                  <a:pt x="2101310" y="466344"/>
                </a:moveTo>
                <a:lnTo>
                  <a:pt x="93249" y="466344"/>
                </a:lnTo>
                <a:lnTo>
                  <a:pt x="56940" y="459020"/>
                </a:lnTo>
                <a:lnTo>
                  <a:pt x="27301" y="439042"/>
                </a:lnTo>
                <a:lnTo>
                  <a:pt x="7323" y="409403"/>
                </a:lnTo>
                <a:lnTo>
                  <a:pt x="0" y="373094"/>
                </a:lnTo>
                <a:lnTo>
                  <a:pt x="0" y="93249"/>
                </a:lnTo>
                <a:lnTo>
                  <a:pt x="7323" y="56940"/>
                </a:lnTo>
                <a:lnTo>
                  <a:pt x="27301" y="27301"/>
                </a:lnTo>
                <a:lnTo>
                  <a:pt x="56940" y="7323"/>
                </a:lnTo>
                <a:lnTo>
                  <a:pt x="93249" y="0"/>
                </a:lnTo>
                <a:lnTo>
                  <a:pt x="2101310" y="0"/>
                </a:lnTo>
                <a:lnTo>
                  <a:pt x="2137619" y="7323"/>
                </a:lnTo>
                <a:lnTo>
                  <a:pt x="2167259" y="27301"/>
                </a:lnTo>
                <a:lnTo>
                  <a:pt x="2187236" y="56940"/>
                </a:lnTo>
                <a:lnTo>
                  <a:pt x="2194560" y="93249"/>
                </a:lnTo>
                <a:lnTo>
                  <a:pt x="2194560" y="373094"/>
                </a:lnTo>
                <a:lnTo>
                  <a:pt x="2187236" y="409403"/>
                </a:lnTo>
                <a:lnTo>
                  <a:pt x="2167259" y="439042"/>
                </a:lnTo>
                <a:lnTo>
                  <a:pt x="2137619" y="459020"/>
                </a:lnTo>
                <a:lnTo>
                  <a:pt x="2101310" y="466344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43500" y="5170932"/>
            <a:ext cx="2194560" cy="466725"/>
          </a:xfrm>
          <a:custGeom>
            <a:avLst/>
            <a:gdLst/>
            <a:ahLst/>
            <a:cxnLst/>
            <a:rect l="l" t="t" r="r" b="b"/>
            <a:pathLst>
              <a:path w="2194559" h="466725">
                <a:moveTo>
                  <a:pt x="2101310" y="466344"/>
                </a:moveTo>
                <a:lnTo>
                  <a:pt x="93249" y="466344"/>
                </a:lnTo>
                <a:lnTo>
                  <a:pt x="56940" y="459020"/>
                </a:lnTo>
                <a:lnTo>
                  <a:pt x="27301" y="439042"/>
                </a:lnTo>
                <a:lnTo>
                  <a:pt x="7323" y="409403"/>
                </a:lnTo>
                <a:lnTo>
                  <a:pt x="0" y="373094"/>
                </a:lnTo>
                <a:lnTo>
                  <a:pt x="0" y="93249"/>
                </a:lnTo>
                <a:lnTo>
                  <a:pt x="7323" y="56940"/>
                </a:lnTo>
                <a:lnTo>
                  <a:pt x="27301" y="27301"/>
                </a:lnTo>
                <a:lnTo>
                  <a:pt x="56940" y="7323"/>
                </a:lnTo>
                <a:lnTo>
                  <a:pt x="93249" y="0"/>
                </a:lnTo>
                <a:lnTo>
                  <a:pt x="2101310" y="0"/>
                </a:lnTo>
                <a:lnTo>
                  <a:pt x="2137619" y="7323"/>
                </a:lnTo>
                <a:lnTo>
                  <a:pt x="2167259" y="27301"/>
                </a:lnTo>
                <a:lnTo>
                  <a:pt x="2187236" y="56940"/>
                </a:lnTo>
                <a:lnTo>
                  <a:pt x="2194560" y="93249"/>
                </a:lnTo>
                <a:lnTo>
                  <a:pt x="2194560" y="373094"/>
                </a:lnTo>
                <a:lnTo>
                  <a:pt x="2187236" y="409403"/>
                </a:lnTo>
                <a:lnTo>
                  <a:pt x="2167259" y="439042"/>
                </a:lnTo>
                <a:lnTo>
                  <a:pt x="2137619" y="459020"/>
                </a:lnTo>
                <a:lnTo>
                  <a:pt x="2101310" y="466344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43500" y="6089903"/>
            <a:ext cx="1316990" cy="466725"/>
          </a:xfrm>
          <a:custGeom>
            <a:avLst/>
            <a:gdLst/>
            <a:ahLst/>
            <a:cxnLst/>
            <a:rect l="l" t="t" r="r" b="b"/>
            <a:pathLst>
              <a:path w="1316989" h="466725">
                <a:moveTo>
                  <a:pt x="1223486" y="466344"/>
                </a:moveTo>
                <a:lnTo>
                  <a:pt x="93249" y="466344"/>
                </a:lnTo>
                <a:lnTo>
                  <a:pt x="56940" y="459020"/>
                </a:lnTo>
                <a:lnTo>
                  <a:pt x="27301" y="439042"/>
                </a:lnTo>
                <a:lnTo>
                  <a:pt x="7323" y="409403"/>
                </a:lnTo>
                <a:lnTo>
                  <a:pt x="0" y="373094"/>
                </a:lnTo>
                <a:lnTo>
                  <a:pt x="0" y="93249"/>
                </a:lnTo>
                <a:lnTo>
                  <a:pt x="7323" y="56940"/>
                </a:lnTo>
                <a:lnTo>
                  <a:pt x="27301" y="27301"/>
                </a:lnTo>
                <a:lnTo>
                  <a:pt x="56940" y="7323"/>
                </a:lnTo>
                <a:lnTo>
                  <a:pt x="93249" y="0"/>
                </a:lnTo>
                <a:lnTo>
                  <a:pt x="1223486" y="0"/>
                </a:lnTo>
                <a:lnTo>
                  <a:pt x="1259795" y="7323"/>
                </a:lnTo>
                <a:lnTo>
                  <a:pt x="1289434" y="27301"/>
                </a:lnTo>
                <a:lnTo>
                  <a:pt x="1309412" y="56940"/>
                </a:lnTo>
                <a:lnTo>
                  <a:pt x="1316736" y="93249"/>
                </a:lnTo>
                <a:lnTo>
                  <a:pt x="1316736" y="373094"/>
                </a:lnTo>
                <a:lnTo>
                  <a:pt x="1309412" y="409403"/>
                </a:lnTo>
                <a:lnTo>
                  <a:pt x="1289434" y="439042"/>
                </a:lnTo>
                <a:lnTo>
                  <a:pt x="1259795" y="459020"/>
                </a:lnTo>
                <a:lnTo>
                  <a:pt x="1223486" y="466344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43500" y="7008876"/>
            <a:ext cx="1096645" cy="466725"/>
          </a:xfrm>
          <a:custGeom>
            <a:avLst/>
            <a:gdLst/>
            <a:ahLst/>
            <a:cxnLst/>
            <a:rect l="l" t="t" r="r" b="b"/>
            <a:pathLst>
              <a:path w="1096645" h="466725">
                <a:moveTo>
                  <a:pt x="1004030" y="466343"/>
                </a:moveTo>
                <a:lnTo>
                  <a:pt x="93250" y="466343"/>
                </a:lnTo>
                <a:lnTo>
                  <a:pt x="56940" y="459020"/>
                </a:lnTo>
                <a:lnTo>
                  <a:pt x="27301" y="439043"/>
                </a:lnTo>
                <a:lnTo>
                  <a:pt x="7323" y="409404"/>
                </a:lnTo>
                <a:lnTo>
                  <a:pt x="0" y="373094"/>
                </a:lnTo>
                <a:lnTo>
                  <a:pt x="0" y="93250"/>
                </a:lnTo>
                <a:lnTo>
                  <a:pt x="7323" y="56940"/>
                </a:lnTo>
                <a:lnTo>
                  <a:pt x="27301" y="27301"/>
                </a:lnTo>
                <a:lnTo>
                  <a:pt x="56940" y="7323"/>
                </a:lnTo>
                <a:lnTo>
                  <a:pt x="93250" y="0"/>
                </a:lnTo>
                <a:lnTo>
                  <a:pt x="1004030" y="0"/>
                </a:lnTo>
                <a:lnTo>
                  <a:pt x="1040340" y="7323"/>
                </a:lnTo>
                <a:lnTo>
                  <a:pt x="1069979" y="27301"/>
                </a:lnTo>
                <a:lnTo>
                  <a:pt x="1089956" y="56940"/>
                </a:lnTo>
                <a:lnTo>
                  <a:pt x="1096637" y="90061"/>
                </a:lnTo>
                <a:lnTo>
                  <a:pt x="1096637" y="376282"/>
                </a:lnTo>
                <a:lnTo>
                  <a:pt x="1089956" y="409404"/>
                </a:lnTo>
                <a:lnTo>
                  <a:pt x="1069979" y="439043"/>
                </a:lnTo>
                <a:lnTo>
                  <a:pt x="1040340" y="459020"/>
                </a:lnTo>
                <a:lnTo>
                  <a:pt x="1004030" y="466343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43500" y="7927847"/>
            <a:ext cx="878205" cy="466725"/>
          </a:xfrm>
          <a:custGeom>
            <a:avLst/>
            <a:gdLst/>
            <a:ahLst/>
            <a:cxnLst/>
            <a:rect l="l" t="t" r="r" b="b"/>
            <a:pathLst>
              <a:path w="878204" h="466725">
                <a:moveTo>
                  <a:pt x="784574" y="466344"/>
                </a:moveTo>
                <a:lnTo>
                  <a:pt x="93249" y="466344"/>
                </a:lnTo>
                <a:lnTo>
                  <a:pt x="56940" y="459020"/>
                </a:lnTo>
                <a:lnTo>
                  <a:pt x="27301" y="439042"/>
                </a:lnTo>
                <a:lnTo>
                  <a:pt x="7323" y="409403"/>
                </a:lnTo>
                <a:lnTo>
                  <a:pt x="0" y="373094"/>
                </a:lnTo>
                <a:lnTo>
                  <a:pt x="0" y="93249"/>
                </a:lnTo>
                <a:lnTo>
                  <a:pt x="7323" y="56940"/>
                </a:lnTo>
                <a:lnTo>
                  <a:pt x="27301" y="27301"/>
                </a:lnTo>
                <a:lnTo>
                  <a:pt x="56940" y="7323"/>
                </a:lnTo>
                <a:lnTo>
                  <a:pt x="93249" y="0"/>
                </a:lnTo>
                <a:lnTo>
                  <a:pt x="784574" y="0"/>
                </a:lnTo>
                <a:lnTo>
                  <a:pt x="820883" y="7323"/>
                </a:lnTo>
                <a:lnTo>
                  <a:pt x="850522" y="27301"/>
                </a:lnTo>
                <a:lnTo>
                  <a:pt x="870500" y="56940"/>
                </a:lnTo>
                <a:lnTo>
                  <a:pt x="877824" y="93249"/>
                </a:lnTo>
                <a:lnTo>
                  <a:pt x="877824" y="373094"/>
                </a:lnTo>
                <a:lnTo>
                  <a:pt x="870500" y="409403"/>
                </a:lnTo>
                <a:lnTo>
                  <a:pt x="850522" y="439042"/>
                </a:lnTo>
                <a:lnTo>
                  <a:pt x="820883" y="459020"/>
                </a:lnTo>
                <a:lnTo>
                  <a:pt x="784574" y="466344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972799" y="2400300"/>
            <a:ext cx="5939155" cy="6443980"/>
          </a:xfrm>
          <a:custGeom>
            <a:avLst/>
            <a:gdLst/>
            <a:ahLst/>
            <a:cxnLst/>
            <a:rect l="l" t="t" r="r" b="b"/>
            <a:pathLst>
              <a:path w="5939155" h="6443980">
                <a:moveTo>
                  <a:pt x="5679906" y="6443463"/>
                </a:moveTo>
                <a:lnTo>
                  <a:pt x="259121" y="6443463"/>
                </a:lnTo>
                <a:lnTo>
                  <a:pt x="248817" y="6442632"/>
                </a:lnTo>
                <a:lnTo>
                  <a:pt x="203118" y="6431378"/>
                </a:lnTo>
                <a:lnTo>
                  <a:pt x="160506" y="6413369"/>
                </a:lnTo>
                <a:lnTo>
                  <a:pt x="121592" y="6389217"/>
                </a:lnTo>
                <a:lnTo>
                  <a:pt x="86987" y="6359532"/>
                </a:lnTo>
                <a:lnTo>
                  <a:pt x="57302" y="6324927"/>
                </a:lnTo>
                <a:lnTo>
                  <a:pt x="33150" y="6286012"/>
                </a:lnTo>
                <a:lnTo>
                  <a:pt x="15141" y="6243400"/>
                </a:lnTo>
                <a:lnTo>
                  <a:pt x="3887" y="6197702"/>
                </a:lnTo>
                <a:lnTo>
                  <a:pt x="0" y="6149530"/>
                </a:lnTo>
                <a:lnTo>
                  <a:pt x="0" y="296989"/>
                </a:lnTo>
                <a:lnTo>
                  <a:pt x="3887" y="248816"/>
                </a:lnTo>
                <a:lnTo>
                  <a:pt x="15141" y="203118"/>
                </a:lnTo>
                <a:lnTo>
                  <a:pt x="33150" y="160506"/>
                </a:lnTo>
                <a:lnTo>
                  <a:pt x="57302" y="121592"/>
                </a:lnTo>
                <a:lnTo>
                  <a:pt x="86987" y="86987"/>
                </a:lnTo>
                <a:lnTo>
                  <a:pt x="121592" y="57302"/>
                </a:lnTo>
                <a:lnTo>
                  <a:pt x="160506" y="33149"/>
                </a:lnTo>
                <a:lnTo>
                  <a:pt x="203118" y="15140"/>
                </a:lnTo>
                <a:lnTo>
                  <a:pt x="248817" y="3887"/>
                </a:lnTo>
                <a:lnTo>
                  <a:pt x="296989" y="0"/>
                </a:lnTo>
                <a:lnTo>
                  <a:pt x="5642038" y="0"/>
                </a:lnTo>
                <a:lnTo>
                  <a:pt x="5690211" y="3887"/>
                </a:lnTo>
                <a:lnTo>
                  <a:pt x="5735909" y="15140"/>
                </a:lnTo>
                <a:lnTo>
                  <a:pt x="5778521" y="33149"/>
                </a:lnTo>
                <a:lnTo>
                  <a:pt x="5817435" y="57302"/>
                </a:lnTo>
                <a:lnTo>
                  <a:pt x="5852040" y="86987"/>
                </a:lnTo>
                <a:lnTo>
                  <a:pt x="5881725" y="121592"/>
                </a:lnTo>
                <a:lnTo>
                  <a:pt x="5905877" y="160506"/>
                </a:lnTo>
                <a:lnTo>
                  <a:pt x="5923886" y="203118"/>
                </a:lnTo>
                <a:lnTo>
                  <a:pt x="5935140" y="248816"/>
                </a:lnTo>
                <a:lnTo>
                  <a:pt x="5939027" y="296989"/>
                </a:lnTo>
                <a:lnTo>
                  <a:pt x="5939027" y="6149530"/>
                </a:lnTo>
                <a:lnTo>
                  <a:pt x="5935140" y="6197702"/>
                </a:lnTo>
                <a:lnTo>
                  <a:pt x="5923886" y="6243400"/>
                </a:lnTo>
                <a:lnTo>
                  <a:pt x="5905877" y="6286012"/>
                </a:lnTo>
                <a:lnTo>
                  <a:pt x="5881725" y="6324927"/>
                </a:lnTo>
                <a:lnTo>
                  <a:pt x="5852040" y="6359532"/>
                </a:lnTo>
                <a:lnTo>
                  <a:pt x="5817435" y="6389217"/>
                </a:lnTo>
                <a:lnTo>
                  <a:pt x="5778521" y="6413369"/>
                </a:lnTo>
                <a:lnTo>
                  <a:pt x="5735909" y="6431378"/>
                </a:lnTo>
                <a:lnTo>
                  <a:pt x="5690211" y="6442632"/>
                </a:lnTo>
                <a:lnTo>
                  <a:pt x="5679906" y="6443463"/>
                </a:lnTo>
                <a:close/>
              </a:path>
            </a:pathLst>
          </a:custGeom>
          <a:solidFill>
            <a:srgbClr val="F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371578" y="2623819"/>
            <a:ext cx="4938395" cy="390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BF0000"/>
                </a:solidFill>
                <a:latin typeface="Calibri"/>
                <a:cs typeface="Calibri"/>
              </a:rPr>
              <a:t>REVENUE MODEL </a:t>
            </a:r>
            <a:r>
              <a:rPr dirty="0" sz="1800" spc="-10" b="1">
                <a:solidFill>
                  <a:srgbClr val="BF0000"/>
                </a:solidFill>
                <a:latin typeface="Calibri"/>
                <a:cs typeface="Calibri"/>
              </a:rPr>
              <a:t>(ASSUMED)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20" b="1">
                <a:solidFill>
                  <a:srgbClr val="252525"/>
                </a:solidFill>
                <a:latin typeface="Calibri"/>
                <a:cs typeface="Calibri"/>
              </a:rPr>
              <a:t>Free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Open-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source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core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hosted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checker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page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Developer</a:t>
            </a:r>
            <a:r>
              <a:rPr dirty="0" sz="2400" spc="-10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252525"/>
                </a:solidFill>
                <a:latin typeface="Calibri"/>
                <a:cs typeface="Calibri"/>
              </a:rPr>
              <a:t>plan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330"/>
              </a:lnSpc>
              <a:spcBef>
                <a:spcPts val="130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₹999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per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app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per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month: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hosted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API,</a:t>
            </a:r>
            <a:r>
              <a:rPr dirty="0" sz="195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dashboard,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breach</a:t>
            </a:r>
            <a:r>
              <a:rPr dirty="0" sz="1950" spc="-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re-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check</a:t>
            </a:r>
            <a:r>
              <a:rPr dirty="0" sz="195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alerts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252525"/>
                </a:solidFill>
                <a:latin typeface="Calibri"/>
                <a:cs typeface="Calibri"/>
              </a:rPr>
              <a:t>Institution</a:t>
            </a:r>
            <a:r>
              <a:rPr dirty="0" sz="2400" spc="-10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Calibri"/>
                <a:cs typeface="Calibri"/>
              </a:rPr>
              <a:t>licence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₹25,000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per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year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per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campus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dirty="0" sz="195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85858"/>
                </a:solidFill>
                <a:latin typeface="Calibri"/>
                <a:cs typeface="Calibri"/>
              </a:rPr>
              <a:t>small</a:t>
            </a:r>
            <a:r>
              <a:rPr dirty="0" sz="19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585858"/>
                </a:solidFill>
                <a:latin typeface="Calibri"/>
                <a:cs typeface="Calibri"/>
              </a:rPr>
              <a:t>business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384278" y="7132319"/>
            <a:ext cx="5114290" cy="1440180"/>
          </a:xfrm>
          <a:custGeom>
            <a:avLst/>
            <a:gdLst/>
            <a:ahLst/>
            <a:cxnLst/>
            <a:rect l="l" t="t" r="r" b="b"/>
            <a:pathLst>
              <a:path w="5114290" h="1440179">
                <a:moveTo>
                  <a:pt x="5044059" y="1440179"/>
                </a:moveTo>
                <a:lnTo>
                  <a:pt x="72009" y="1440179"/>
                </a:lnTo>
                <a:lnTo>
                  <a:pt x="43961" y="1434527"/>
                </a:lnTo>
                <a:lnTo>
                  <a:pt x="21074" y="1419105"/>
                </a:lnTo>
                <a:lnTo>
                  <a:pt x="5652" y="1396219"/>
                </a:lnTo>
                <a:lnTo>
                  <a:pt x="0" y="1368171"/>
                </a:lnTo>
                <a:lnTo>
                  <a:pt x="0" y="72009"/>
                </a:lnTo>
                <a:lnTo>
                  <a:pt x="5652" y="43960"/>
                </a:lnTo>
                <a:lnTo>
                  <a:pt x="21074" y="21074"/>
                </a:lnTo>
                <a:lnTo>
                  <a:pt x="43961" y="5652"/>
                </a:lnTo>
                <a:lnTo>
                  <a:pt x="72009" y="0"/>
                </a:lnTo>
                <a:lnTo>
                  <a:pt x="5044059" y="0"/>
                </a:lnTo>
                <a:lnTo>
                  <a:pt x="5072107" y="5652"/>
                </a:lnTo>
                <a:lnTo>
                  <a:pt x="5094994" y="21074"/>
                </a:lnTo>
                <a:lnTo>
                  <a:pt x="5110416" y="43960"/>
                </a:lnTo>
                <a:lnTo>
                  <a:pt x="5113763" y="60571"/>
                </a:lnTo>
                <a:lnTo>
                  <a:pt x="5113763" y="1379608"/>
                </a:lnTo>
                <a:lnTo>
                  <a:pt x="5110416" y="1396219"/>
                </a:lnTo>
                <a:lnTo>
                  <a:pt x="5094994" y="1419105"/>
                </a:lnTo>
                <a:lnTo>
                  <a:pt x="5072107" y="1434527"/>
                </a:lnTo>
                <a:lnTo>
                  <a:pt x="5044059" y="144017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409678" y="7488965"/>
            <a:ext cx="4269740" cy="671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dirty="0" sz="2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paying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≈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₹12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lakh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year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₹999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₹11,98,800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Roadmap/Timeline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55714" y="2846705"/>
            <a:ext cx="1539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Months</a:t>
            </a:r>
            <a:r>
              <a:rPr dirty="0" sz="2400" spc="-8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1–</a:t>
            </a:r>
            <a:r>
              <a:rPr dirty="0" sz="2400" spc="-50" b="1">
                <a:solidFill>
                  <a:srgbClr val="BF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3760" y="2846705"/>
            <a:ext cx="1539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Months</a:t>
            </a:r>
            <a:r>
              <a:rPr dirty="0" sz="2400" spc="-8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3–</a:t>
            </a:r>
            <a:r>
              <a:rPr dirty="0" sz="2400" spc="-50" b="1">
                <a:solidFill>
                  <a:srgbClr val="BF0000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71806" y="2846705"/>
            <a:ext cx="1539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Months</a:t>
            </a:r>
            <a:r>
              <a:rPr dirty="0" sz="2400" spc="-8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5–</a:t>
            </a:r>
            <a:r>
              <a:rPr dirty="0" sz="2400" spc="-50" b="1">
                <a:solidFill>
                  <a:srgbClr val="BF0000"/>
                </a:solidFill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79851" y="2846705"/>
            <a:ext cx="1539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Months</a:t>
            </a:r>
            <a:r>
              <a:rPr dirty="0" sz="2400" spc="-8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7–</a:t>
            </a:r>
            <a:r>
              <a:rPr dirty="0" sz="2400" spc="-50" b="1">
                <a:solidFill>
                  <a:srgbClr val="BF0000"/>
                </a:solidFill>
                <a:latin typeface="Calibri"/>
                <a:cs typeface="Calibri"/>
              </a:rPr>
              <a:t>9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433413" y="2846705"/>
            <a:ext cx="1849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Months</a:t>
            </a:r>
            <a:r>
              <a:rPr dirty="0" sz="2400" spc="-8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10–</a:t>
            </a:r>
            <a:r>
              <a:rPr dirty="0" sz="2400" spc="-25" b="1">
                <a:solidFill>
                  <a:srgbClr val="BF0000"/>
                </a:solidFill>
                <a:latin typeface="Calibri"/>
                <a:cs typeface="Calibri"/>
              </a:rPr>
              <a:t>12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14142" y="3703320"/>
            <a:ext cx="12882245" cy="822960"/>
            <a:chOff x="2514142" y="3703320"/>
            <a:chExt cx="12882245" cy="822960"/>
          </a:xfrm>
        </p:grpSpPr>
        <p:sp>
          <p:nvSpPr>
            <p:cNvPr id="7" name="object 7"/>
            <p:cNvSpPr/>
            <p:nvPr/>
          </p:nvSpPr>
          <p:spPr>
            <a:xfrm>
              <a:off x="2906574" y="4076819"/>
              <a:ext cx="12470765" cy="76200"/>
            </a:xfrm>
            <a:custGeom>
              <a:avLst/>
              <a:gdLst/>
              <a:ahLst/>
              <a:cxnLst/>
              <a:rect l="l" t="t" r="r" b="b"/>
              <a:pathLst>
                <a:path w="12470765" h="76200">
                  <a:moveTo>
                    <a:pt x="0" y="0"/>
                  </a:moveTo>
                  <a:lnTo>
                    <a:pt x="12470278" y="75959"/>
                  </a:lnTo>
                </a:path>
              </a:pathLst>
            </a:custGeom>
            <a:ln w="38099">
              <a:solidFill>
                <a:srgbClr val="E6B8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514142" y="370332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79" y="822959"/>
                  </a:moveTo>
                  <a:lnTo>
                    <a:pt x="363490" y="820191"/>
                  </a:lnTo>
                  <a:lnTo>
                    <a:pt x="317127" y="812093"/>
                  </a:lnTo>
                  <a:lnTo>
                    <a:pt x="272699" y="798972"/>
                  </a:lnTo>
                  <a:lnTo>
                    <a:pt x="230516" y="781138"/>
                  </a:lnTo>
                  <a:lnTo>
                    <a:pt x="190884" y="758900"/>
                  </a:lnTo>
                  <a:lnTo>
                    <a:pt x="154115" y="732566"/>
                  </a:lnTo>
                  <a:lnTo>
                    <a:pt x="120515" y="702444"/>
                  </a:lnTo>
                  <a:lnTo>
                    <a:pt x="90393" y="668844"/>
                  </a:lnTo>
                  <a:lnTo>
                    <a:pt x="64059" y="632074"/>
                  </a:lnTo>
                  <a:lnTo>
                    <a:pt x="41821" y="592443"/>
                  </a:lnTo>
                  <a:lnTo>
                    <a:pt x="23987" y="550260"/>
                  </a:lnTo>
                  <a:lnTo>
                    <a:pt x="10866" y="505832"/>
                  </a:lnTo>
                  <a:lnTo>
                    <a:pt x="2768" y="459469"/>
                  </a:lnTo>
                  <a:lnTo>
                    <a:pt x="0" y="411479"/>
                  </a:lnTo>
                  <a:lnTo>
                    <a:pt x="2768" y="363490"/>
                  </a:lnTo>
                  <a:lnTo>
                    <a:pt x="10866" y="317127"/>
                  </a:lnTo>
                  <a:lnTo>
                    <a:pt x="23987" y="272699"/>
                  </a:lnTo>
                  <a:lnTo>
                    <a:pt x="41821" y="230516"/>
                  </a:lnTo>
                  <a:lnTo>
                    <a:pt x="64059" y="190884"/>
                  </a:lnTo>
                  <a:lnTo>
                    <a:pt x="90393" y="154115"/>
                  </a:lnTo>
                  <a:lnTo>
                    <a:pt x="120515" y="120515"/>
                  </a:lnTo>
                  <a:lnTo>
                    <a:pt x="154115" y="90393"/>
                  </a:lnTo>
                  <a:lnTo>
                    <a:pt x="190884" y="64059"/>
                  </a:lnTo>
                  <a:lnTo>
                    <a:pt x="230516" y="41821"/>
                  </a:lnTo>
                  <a:lnTo>
                    <a:pt x="272699" y="23987"/>
                  </a:lnTo>
                  <a:lnTo>
                    <a:pt x="317127" y="10866"/>
                  </a:lnTo>
                  <a:lnTo>
                    <a:pt x="363490" y="2768"/>
                  </a:lnTo>
                  <a:lnTo>
                    <a:pt x="411479" y="0"/>
                  </a:lnTo>
                  <a:lnTo>
                    <a:pt x="459469" y="2768"/>
                  </a:lnTo>
                  <a:lnTo>
                    <a:pt x="505832" y="10866"/>
                  </a:lnTo>
                  <a:lnTo>
                    <a:pt x="550260" y="23987"/>
                  </a:lnTo>
                  <a:lnTo>
                    <a:pt x="592443" y="41821"/>
                  </a:lnTo>
                  <a:lnTo>
                    <a:pt x="632074" y="64059"/>
                  </a:lnTo>
                  <a:lnTo>
                    <a:pt x="668844" y="90393"/>
                  </a:lnTo>
                  <a:lnTo>
                    <a:pt x="702444" y="120515"/>
                  </a:lnTo>
                  <a:lnTo>
                    <a:pt x="732566" y="154115"/>
                  </a:lnTo>
                  <a:lnTo>
                    <a:pt x="758900" y="190884"/>
                  </a:lnTo>
                  <a:lnTo>
                    <a:pt x="781138" y="230516"/>
                  </a:lnTo>
                  <a:lnTo>
                    <a:pt x="798972" y="272699"/>
                  </a:lnTo>
                  <a:lnTo>
                    <a:pt x="812093" y="317127"/>
                  </a:lnTo>
                  <a:lnTo>
                    <a:pt x="820191" y="363490"/>
                  </a:lnTo>
                  <a:lnTo>
                    <a:pt x="822959" y="411479"/>
                  </a:lnTo>
                  <a:lnTo>
                    <a:pt x="820191" y="459469"/>
                  </a:lnTo>
                  <a:lnTo>
                    <a:pt x="812093" y="505832"/>
                  </a:lnTo>
                  <a:lnTo>
                    <a:pt x="798972" y="550260"/>
                  </a:lnTo>
                  <a:lnTo>
                    <a:pt x="781138" y="592443"/>
                  </a:lnTo>
                  <a:lnTo>
                    <a:pt x="758900" y="632074"/>
                  </a:lnTo>
                  <a:lnTo>
                    <a:pt x="732566" y="668844"/>
                  </a:lnTo>
                  <a:lnTo>
                    <a:pt x="702444" y="702444"/>
                  </a:lnTo>
                  <a:lnTo>
                    <a:pt x="668844" y="732566"/>
                  </a:lnTo>
                  <a:lnTo>
                    <a:pt x="632074" y="758900"/>
                  </a:lnTo>
                  <a:lnTo>
                    <a:pt x="592443" y="781138"/>
                  </a:lnTo>
                  <a:lnTo>
                    <a:pt x="550260" y="798972"/>
                  </a:lnTo>
                  <a:lnTo>
                    <a:pt x="505832" y="812093"/>
                  </a:lnTo>
                  <a:lnTo>
                    <a:pt x="459469" y="820191"/>
                  </a:lnTo>
                  <a:lnTo>
                    <a:pt x="411479" y="822959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825887" y="3843019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22187" y="370332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411479" y="822959"/>
                </a:moveTo>
                <a:lnTo>
                  <a:pt x="363490" y="820191"/>
                </a:lnTo>
                <a:lnTo>
                  <a:pt x="317127" y="812093"/>
                </a:lnTo>
                <a:lnTo>
                  <a:pt x="272699" y="798972"/>
                </a:lnTo>
                <a:lnTo>
                  <a:pt x="230516" y="781138"/>
                </a:lnTo>
                <a:lnTo>
                  <a:pt x="190884" y="758900"/>
                </a:lnTo>
                <a:lnTo>
                  <a:pt x="154115" y="732566"/>
                </a:lnTo>
                <a:lnTo>
                  <a:pt x="120515" y="702444"/>
                </a:lnTo>
                <a:lnTo>
                  <a:pt x="90393" y="668844"/>
                </a:lnTo>
                <a:lnTo>
                  <a:pt x="64059" y="632074"/>
                </a:lnTo>
                <a:lnTo>
                  <a:pt x="41821" y="592443"/>
                </a:lnTo>
                <a:lnTo>
                  <a:pt x="23987" y="550260"/>
                </a:lnTo>
                <a:lnTo>
                  <a:pt x="10866" y="505832"/>
                </a:lnTo>
                <a:lnTo>
                  <a:pt x="2768" y="459469"/>
                </a:lnTo>
                <a:lnTo>
                  <a:pt x="0" y="411479"/>
                </a:lnTo>
                <a:lnTo>
                  <a:pt x="2768" y="363490"/>
                </a:lnTo>
                <a:lnTo>
                  <a:pt x="10866" y="317127"/>
                </a:lnTo>
                <a:lnTo>
                  <a:pt x="23987" y="272699"/>
                </a:lnTo>
                <a:lnTo>
                  <a:pt x="41821" y="230516"/>
                </a:lnTo>
                <a:lnTo>
                  <a:pt x="64059" y="190884"/>
                </a:lnTo>
                <a:lnTo>
                  <a:pt x="90393" y="154115"/>
                </a:lnTo>
                <a:lnTo>
                  <a:pt x="120515" y="120515"/>
                </a:lnTo>
                <a:lnTo>
                  <a:pt x="154115" y="90393"/>
                </a:lnTo>
                <a:lnTo>
                  <a:pt x="190884" y="64059"/>
                </a:lnTo>
                <a:lnTo>
                  <a:pt x="230516" y="41821"/>
                </a:lnTo>
                <a:lnTo>
                  <a:pt x="272699" y="23987"/>
                </a:lnTo>
                <a:lnTo>
                  <a:pt x="317127" y="10866"/>
                </a:lnTo>
                <a:lnTo>
                  <a:pt x="363490" y="2768"/>
                </a:lnTo>
                <a:lnTo>
                  <a:pt x="411479" y="0"/>
                </a:lnTo>
                <a:lnTo>
                  <a:pt x="459469" y="2768"/>
                </a:lnTo>
                <a:lnTo>
                  <a:pt x="505832" y="10866"/>
                </a:lnTo>
                <a:lnTo>
                  <a:pt x="550259" y="23987"/>
                </a:lnTo>
                <a:lnTo>
                  <a:pt x="592443" y="41821"/>
                </a:lnTo>
                <a:lnTo>
                  <a:pt x="632074" y="64059"/>
                </a:lnTo>
                <a:lnTo>
                  <a:pt x="668844" y="90393"/>
                </a:lnTo>
                <a:lnTo>
                  <a:pt x="702444" y="120515"/>
                </a:lnTo>
                <a:lnTo>
                  <a:pt x="732566" y="154115"/>
                </a:lnTo>
                <a:lnTo>
                  <a:pt x="758900" y="190884"/>
                </a:lnTo>
                <a:lnTo>
                  <a:pt x="781138" y="230516"/>
                </a:lnTo>
                <a:lnTo>
                  <a:pt x="798972" y="272699"/>
                </a:lnTo>
                <a:lnTo>
                  <a:pt x="812092" y="317127"/>
                </a:lnTo>
                <a:lnTo>
                  <a:pt x="820191" y="363490"/>
                </a:lnTo>
                <a:lnTo>
                  <a:pt x="822959" y="411479"/>
                </a:lnTo>
                <a:lnTo>
                  <a:pt x="820191" y="459469"/>
                </a:lnTo>
                <a:lnTo>
                  <a:pt x="812092" y="505832"/>
                </a:lnTo>
                <a:lnTo>
                  <a:pt x="798972" y="550260"/>
                </a:lnTo>
                <a:lnTo>
                  <a:pt x="781138" y="592443"/>
                </a:lnTo>
                <a:lnTo>
                  <a:pt x="758900" y="632074"/>
                </a:lnTo>
                <a:lnTo>
                  <a:pt x="732566" y="668844"/>
                </a:lnTo>
                <a:lnTo>
                  <a:pt x="702444" y="702444"/>
                </a:lnTo>
                <a:lnTo>
                  <a:pt x="668844" y="732566"/>
                </a:lnTo>
                <a:lnTo>
                  <a:pt x="632074" y="758900"/>
                </a:lnTo>
                <a:lnTo>
                  <a:pt x="592443" y="781138"/>
                </a:lnTo>
                <a:lnTo>
                  <a:pt x="550259" y="798972"/>
                </a:lnTo>
                <a:lnTo>
                  <a:pt x="505832" y="812093"/>
                </a:lnTo>
                <a:lnTo>
                  <a:pt x="459469" y="820191"/>
                </a:lnTo>
                <a:lnTo>
                  <a:pt x="411479" y="82295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33933" y="3843019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30233" y="370332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59" h="822960">
                <a:moveTo>
                  <a:pt x="411479" y="822959"/>
                </a:moveTo>
                <a:lnTo>
                  <a:pt x="363490" y="820191"/>
                </a:lnTo>
                <a:lnTo>
                  <a:pt x="317127" y="812093"/>
                </a:lnTo>
                <a:lnTo>
                  <a:pt x="272699" y="798972"/>
                </a:lnTo>
                <a:lnTo>
                  <a:pt x="230516" y="781138"/>
                </a:lnTo>
                <a:lnTo>
                  <a:pt x="190884" y="758900"/>
                </a:lnTo>
                <a:lnTo>
                  <a:pt x="154115" y="732566"/>
                </a:lnTo>
                <a:lnTo>
                  <a:pt x="120515" y="702444"/>
                </a:lnTo>
                <a:lnTo>
                  <a:pt x="90393" y="668844"/>
                </a:lnTo>
                <a:lnTo>
                  <a:pt x="64059" y="632074"/>
                </a:lnTo>
                <a:lnTo>
                  <a:pt x="41821" y="592443"/>
                </a:lnTo>
                <a:lnTo>
                  <a:pt x="23987" y="550260"/>
                </a:lnTo>
                <a:lnTo>
                  <a:pt x="10866" y="505832"/>
                </a:lnTo>
                <a:lnTo>
                  <a:pt x="2768" y="459469"/>
                </a:lnTo>
                <a:lnTo>
                  <a:pt x="0" y="411479"/>
                </a:lnTo>
                <a:lnTo>
                  <a:pt x="2768" y="363490"/>
                </a:lnTo>
                <a:lnTo>
                  <a:pt x="10866" y="317127"/>
                </a:lnTo>
                <a:lnTo>
                  <a:pt x="23987" y="272699"/>
                </a:lnTo>
                <a:lnTo>
                  <a:pt x="41821" y="230516"/>
                </a:lnTo>
                <a:lnTo>
                  <a:pt x="64059" y="190884"/>
                </a:lnTo>
                <a:lnTo>
                  <a:pt x="90393" y="154115"/>
                </a:lnTo>
                <a:lnTo>
                  <a:pt x="120515" y="120515"/>
                </a:lnTo>
                <a:lnTo>
                  <a:pt x="154115" y="90393"/>
                </a:lnTo>
                <a:lnTo>
                  <a:pt x="190884" y="64059"/>
                </a:lnTo>
                <a:lnTo>
                  <a:pt x="230516" y="41821"/>
                </a:lnTo>
                <a:lnTo>
                  <a:pt x="272699" y="23987"/>
                </a:lnTo>
                <a:lnTo>
                  <a:pt x="317127" y="10866"/>
                </a:lnTo>
                <a:lnTo>
                  <a:pt x="363490" y="2768"/>
                </a:lnTo>
                <a:lnTo>
                  <a:pt x="411479" y="0"/>
                </a:lnTo>
                <a:lnTo>
                  <a:pt x="459469" y="2768"/>
                </a:lnTo>
                <a:lnTo>
                  <a:pt x="505832" y="10866"/>
                </a:lnTo>
                <a:lnTo>
                  <a:pt x="550260" y="23987"/>
                </a:lnTo>
                <a:lnTo>
                  <a:pt x="592443" y="41821"/>
                </a:lnTo>
                <a:lnTo>
                  <a:pt x="632074" y="64059"/>
                </a:lnTo>
                <a:lnTo>
                  <a:pt x="668844" y="90393"/>
                </a:lnTo>
                <a:lnTo>
                  <a:pt x="702444" y="120515"/>
                </a:lnTo>
                <a:lnTo>
                  <a:pt x="732566" y="154115"/>
                </a:lnTo>
                <a:lnTo>
                  <a:pt x="758900" y="190884"/>
                </a:lnTo>
                <a:lnTo>
                  <a:pt x="781138" y="230516"/>
                </a:lnTo>
                <a:lnTo>
                  <a:pt x="798972" y="272699"/>
                </a:lnTo>
                <a:lnTo>
                  <a:pt x="812093" y="317127"/>
                </a:lnTo>
                <a:lnTo>
                  <a:pt x="820191" y="363490"/>
                </a:lnTo>
                <a:lnTo>
                  <a:pt x="822959" y="411479"/>
                </a:lnTo>
                <a:lnTo>
                  <a:pt x="820191" y="459469"/>
                </a:lnTo>
                <a:lnTo>
                  <a:pt x="812093" y="505832"/>
                </a:lnTo>
                <a:lnTo>
                  <a:pt x="798972" y="550260"/>
                </a:lnTo>
                <a:lnTo>
                  <a:pt x="781138" y="592443"/>
                </a:lnTo>
                <a:lnTo>
                  <a:pt x="758900" y="632074"/>
                </a:lnTo>
                <a:lnTo>
                  <a:pt x="732566" y="668844"/>
                </a:lnTo>
                <a:lnTo>
                  <a:pt x="702444" y="702444"/>
                </a:lnTo>
                <a:lnTo>
                  <a:pt x="668844" y="732566"/>
                </a:lnTo>
                <a:lnTo>
                  <a:pt x="632074" y="758900"/>
                </a:lnTo>
                <a:lnTo>
                  <a:pt x="592443" y="781138"/>
                </a:lnTo>
                <a:lnTo>
                  <a:pt x="550260" y="798972"/>
                </a:lnTo>
                <a:lnTo>
                  <a:pt x="505832" y="812093"/>
                </a:lnTo>
                <a:lnTo>
                  <a:pt x="459469" y="820191"/>
                </a:lnTo>
                <a:lnTo>
                  <a:pt x="411479" y="82295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041979" y="3843019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38278" y="370332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59" h="822960">
                <a:moveTo>
                  <a:pt x="411479" y="822959"/>
                </a:moveTo>
                <a:lnTo>
                  <a:pt x="363490" y="820191"/>
                </a:lnTo>
                <a:lnTo>
                  <a:pt x="317127" y="812093"/>
                </a:lnTo>
                <a:lnTo>
                  <a:pt x="272699" y="798972"/>
                </a:lnTo>
                <a:lnTo>
                  <a:pt x="230516" y="781138"/>
                </a:lnTo>
                <a:lnTo>
                  <a:pt x="190884" y="758900"/>
                </a:lnTo>
                <a:lnTo>
                  <a:pt x="154115" y="732566"/>
                </a:lnTo>
                <a:lnTo>
                  <a:pt x="120515" y="702444"/>
                </a:lnTo>
                <a:lnTo>
                  <a:pt x="90393" y="668844"/>
                </a:lnTo>
                <a:lnTo>
                  <a:pt x="64059" y="632074"/>
                </a:lnTo>
                <a:lnTo>
                  <a:pt x="41821" y="592443"/>
                </a:lnTo>
                <a:lnTo>
                  <a:pt x="23987" y="550260"/>
                </a:lnTo>
                <a:lnTo>
                  <a:pt x="10866" y="505832"/>
                </a:lnTo>
                <a:lnTo>
                  <a:pt x="2768" y="459469"/>
                </a:lnTo>
                <a:lnTo>
                  <a:pt x="0" y="411479"/>
                </a:lnTo>
                <a:lnTo>
                  <a:pt x="2768" y="363490"/>
                </a:lnTo>
                <a:lnTo>
                  <a:pt x="10866" y="317127"/>
                </a:lnTo>
                <a:lnTo>
                  <a:pt x="23987" y="272699"/>
                </a:lnTo>
                <a:lnTo>
                  <a:pt x="41821" y="230516"/>
                </a:lnTo>
                <a:lnTo>
                  <a:pt x="64059" y="190884"/>
                </a:lnTo>
                <a:lnTo>
                  <a:pt x="90393" y="154115"/>
                </a:lnTo>
                <a:lnTo>
                  <a:pt x="120515" y="120515"/>
                </a:lnTo>
                <a:lnTo>
                  <a:pt x="154115" y="90393"/>
                </a:lnTo>
                <a:lnTo>
                  <a:pt x="190884" y="64059"/>
                </a:lnTo>
                <a:lnTo>
                  <a:pt x="230516" y="41821"/>
                </a:lnTo>
                <a:lnTo>
                  <a:pt x="272699" y="23987"/>
                </a:lnTo>
                <a:lnTo>
                  <a:pt x="317127" y="10866"/>
                </a:lnTo>
                <a:lnTo>
                  <a:pt x="363490" y="2768"/>
                </a:lnTo>
                <a:lnTo>
                  <a:pt x="411479" y="0"/>
                </a:lnTo>
                <a:lnTo>
                  <a:pt x="459469" y="2768"/>
                </a:lnTo>
                <a:lnTo>
                  <a:pt x="505832" y="10866"/>
                </a:lnTo>
                <a:lnTo>
                  <a:pt x="550260" y="23987"/>
                </a:lnTo>
                <a:lnTo>
                  <a:pt x="592443" y="41821"/>
                </a:lnTo>
                <a:lnTo>
                  <a:pt x="632075" y="64059"/>
                </a:lnTo>
                <a:lnTo>
                  <a:pt x="668845" y="90393"/>
                </a:lnTo>
                <a:lnTo>
                  <a:pt x="702445" y="120515"/>
                </a:lnTo>
                <a:lnTo>
                  <a:pt x="732566" y="154115"/>
                </a:lnTo>
                <a:lnTo>
                  <a:pt x="758900" y="190884"/>
                </a:lnTo>
                <a:lnTo>
                  <a:pt x="781139" y="230516"/>
                </a:lnTo>
                <a:lnTo>
                  <a:pt x="798973" y="272699"/>
                </a:lnTo>
                <a:lnTo>
                  <a:pt x="812093" y="317127"/>
                </a:lnTo>
                <a:lnTo>
                  <a:pt x="820192" y="363490"/>
                </a:lnTo>
                <a:lnTo>
                  <a:pt x="822960" y="411479"/>
                </a:lnTo>
                <a:lnTo>
                  <a:pt x="820192" y="459469"/>
                </a:lnTo>
                <a:lnTo>
                  <a:pt x="812093" y="505832"/>
                </a:lnTo>
                <a:lnTo>
                  <a:pt x="798973" y="550260"/>
                </a:lnTo>
                <a:lnTo>
                  <a:pt x="781139" y="592443"/>
                </a:lnTo>
                <a:lnTo>
                  <a:pt x="758900" y="632074"/>
                </a:lnTo>
                <a:lnTo>
                  <a:pt x="732566" y="668844"/>
                </a:lnTo>
                <a:lnTo>
                  <a:pt x="702445" y="702444"/>
                </a:lnTo>
                <a:lnTo>
                  <a:pt x="668845" y="732566"/>
                </a:lnTo>
                <a:lnTo>
                  <a:pt x="632075" y="758900"/>
                </a:lnTo>
                <a:lnTo>
                  <a:pt x="592443" y="781138"/>
                </a:lnTo>
                <a:lnTo>
                  <a:pt x="550260" y="798972"/>
                </a:lnTo>
                <a:lnTo>
                  <a:pt x="505832" y="812093"/>
                </a:lnTo>
                <a:lnTo>
                  <a:pt x="459469" y="820191"/>
                </a:lnTo>
                <a:lnTo>
                  <a:pt x="411479" y="82295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150024" y="3843019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4946324" y="370332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59" h="822960">
                <a:moveTo>
                  <a:pt x="411479" y="822959"/>
                </a:moveTo>
                <a:lnTo>
                  <a:pt x="363490" y="820191"/>
                </a:lnTo>
                <a:lnTo>
                  <a:pt x="317127" y="812093"/>
                </a:lnTo>
                <a:lnTo>
                  <a:pt x="272699" y="798972"/>
                </a:lnTo>
                <a:lnTo>
                  <a:pt x="230516" y="781138"/>
                </a:lnTo>
                <a:lnTo>
                  <a:pt x="190884" y="758900"/>
                </a:lnTo>
                <a:lnTo>
                  <a:pt x="154115" y="732566"/>
                </a:lnTo>
                <a:lnTo>
                  <a:pt x="120515" y="702444"/>
                </a:lnTo>
                <a:lnTo>
                  <a:pt x="90393" y="668844"/>
                </a:lnTo>
                <a:lnTo>
                  <a:pt x="64059" y="632074"/>
                </a:lnTo>
                <a:lnTo>
                  <a:pt x="41821" y="592443"/>
                </a:lnTo>
                <a:lnTo>
                  <a:pt x="23987" y="550260"/>
                </a:lnTo>
                <a:lnTo>
                  <a:pt x="10866" y="505832"/>
                </a:lnTo>
                <a:lnTo>
                  <a:pt x="2768" y="459469"/>
                </a:lnTo>
                <a:lnTo>
                  <a:pt x="0" y="411479"/>
                </a:lnTo>
                <a:lnTo>
                  <a:pt x="2768" y="363490"/>
                </a:lnTo>
                <a:lnTo>
                  <a:pt x="10866" y="317127"/>
                </a:lnTo>
                <a:lnTo>
                  <a:pt x="23987" y="272699"/>
                </a:lnTo>
                <a:lnTo>
                  <a:pt x="41821" y="230516"/>
                </a:lnTo>
                <a:lnTo>
                  <a:pt x="64059" y="190884"/>
                </a:lnTo>
                <a:lnTo>
                  <a:pt x="90393" y="154115"/>
                </a:lnTo>
                <a:lnTo>
                  <a:pt x="120515" y="120515"/>
                </a:lnTo>
                <a:lnTo>
                  <a:pt x="154115" y="90393"/>
                </a:lnTo>
                <a:lnTo>
                  <a:pt x="190884" y="64059"/>
                </a:lnTo>
                <a:lnTo>
                  <a:pt x="230516" y="41821"/>
                </a:lnTo>
                <a:lnTo>
                  <a:pt x="272699" y="23987"/>
                </a:lnTo>
                <a:lnTo>
                  <a:pt x="317127" y="10866"/>
                </a:lnTo>
                <a:lnTo>
                  <a:pt x="363490" y="2768"/>
                </a:lnTo>
                <a:lnTo>
                  <a:pt x="411479" y="0"/>
                </a:lnTo>
                <a:lnTo>
                  <a:pt x="459469" y="2768"/>
                </a:lnTo>
                <a:lnTo>
                  <a:pt x="505832" y="10866"/>
                </a:lnTo>
                <a:lnTo>
                  <a:pt x="550260" y="23987"/>
                </a:lnTo>
                <a:lnTo>
                  <a:pt x="592443" y="41821"/>
                </a:lnTo>
                <a:lnTo>
                  <a:pt x="632074" y="64059"/>
                </a:lnTo>
                <a:lnTo>
                  <a:pt x="668844" y="90393"/>
                </a:lnTo>
                <a:lnTo>
                  <a:pt x="702444" y="120515"/>
                </a:lnTo>
                <a:lnTo>
                  <a:pt x="732566" y="154115"/>
                </a:lnTo>
                <a:lnTo>
                  <a:pt x="758900" y="190884"/>
                </a:lnTo>
                <a:lnTo>
                  <a:pt x="781138" y="230516"/>
                </a:lnTo>
                <a:lnTo>
                  <a:pt x="798972" y="272699"/>
                </a:lnTo>
                <a:lnTo>
                  <a:pt x="812093" y="317127"/>
                </a:lnTo>
                <a:lnTo>
                  <a:pt x="820191" y="363490"/>
                </a:lnTo>
                <a:lnTo>
                  <a:pt x="822959" y="411479"/>
                </a:lnTo>
                <a:lnTo>
                  <a:pt x="820191" y="459469"/>
                </a:lnTo>
                <a:lnTo>
                  <a:pt x="812093" y="505832"/>
                </a:lnTo>
                <a:lnTo>
                  <a:pt x="798972" y="550260"/>
                </a:lnTo>
                <a:lnTo>
                  <a:pt x="781138" y="592443"/>
                </a:lnTo>
                <a:lnTo>
                  <a:pt x="758900" y="632074"/>
                </a:lnTo>
                <a:lnTo>
                  <a:pt x="732566" y="668844"/>
                </a:lnTo>
                <a:lnTo>
                  <a:pt x="702444" y="702444"/>
                </a:lnTo>
                <a:lnTo>
                  <a:pt x="668844" y="732566"/>
                </a:lnTo>
                <a:lnTo>
                  <a:pt x="632074" y="758900"/>
                </a:lnTo>
                <a:lnTo>
                  <a:pt x="592443" y="781138"/>
                </a:lnTo>
                <a:lnTo>
                  <a:pt x="550260" y="798972"/>
                </a:lnTo>
                <a:lnTo>
                  <a:pt x="505832" y="812093"/>
                </a:lnTo>
                <a:lnTo>
                  <a:pt x="459469" y="820191"/>
                </a:lnTo>
                <a:lnTo>
                  <a:pt x="411479" y="82295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5258070" y="3843019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0867" y="4799329"/>
            <a:ext cx="2429510" cy="144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550" spc="-10" b="1">
                <a:solidFill>
                  <a:srgbClr val="252525"/>
                </a:solidFill>
                <a:latin typeface="Calibri"/>
                <a:cs typeface="Calibri"/>
              </a:rPr>
              <a:t>Prototype</a:t>
            </a:r>
            <a:endParaRPr sz="255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  <a:spcBef>
                <a:spcPts val="15"/>
              </a:spcBef>
            </a:pP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50-line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JS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demo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20">
                <a:solidFill>
                  <a:srgbClr val="585858"/>
                </a:solidFill>
                <a:latin typeface="Calibri"/>
                <a:cs typeface="Calibri"/>
              </a:rPr>
              <a:t>with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zxcvbn</a:t>
            </a:r>
            <a:r>
              <a:rPr dirty="0" sz="22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22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breach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range</a:t>
            </a:r>
            <a:r>
              <a:rPr dirty="0" sz="225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check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9638" y="4799329"/>
            <a:ext cx="2727960" cy="1444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-635">
              <a:lnSpc>
                <a:spcPct val="100200"/>
              </a:lnSpc>
              <a:spcBef>
                <a:spcPts val="90"/>
              </a:spcBef>
            </a:pP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Test</a:t>
            </a:r>
            <a:r>
              <a:rPr dirty="0" sz="25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dirty="0" sz="2550" spc="-2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spc="-10" b="1">
                <a:solidFill>
                  <a:srgbClr val="252525"/>
                </a:solidFill>
                <a:latin typeface="Calibri"/>
                <a:cs typeface="Calibri"/>
              </a:rPr>
              <a:t>users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Usability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tests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with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585858"/>
                </a:solidFill>
                <a:latin typeface="Calibri"/>
                <a:cs typeface="Calibri"/>
              </a:rPr>
              <a:t>30–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r>
              <a:rPr dirty="0" sz="225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students;</a:t>
            </a:r>
            <a:r>
              <a:rPr dirty="0" sz="225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refine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feedback</a:t>
            </a:r>
            <a:r>
              <a:rPr dirty="0" sz="2250" spc="-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wording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43156" y="4799329"/>
            <a:ext cx="2797175" cy="110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Package</a:t>
            </a:r>
            <a:r>
              <a:rPr dirty="0" sz="2550" spc="-9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spc="-25" b="1">
                <a:solidFill>
                  <a:srgbClr val="252525"/>
                </a:solidFill>
                <a:latin typeface="Calibri"/>
                <a:cs typeface="Calibri"/>
              </a:rPr>
              <a:t>it</a:t>
            </a:r>
            <a:endParaRPr sz="255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15"/>
              </a:spcBef>
            </a:pP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npm</a:t>
            </a:r>
            <a:r>
              <a:rPr dirty="0" sz="225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widget,</a:t>
            </a:r>
            <a:r>
              <a:rPr dirty="0" sz="225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hosted</a:t>
            </a:r>
            <a:r>
              <a:rPr dirty="0" sz="225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585858"/>
                </a:solidFill>
                <a:latin typeface="Calibri"/>
                <a:cs typeface="Calibri"/>
              </a:rPr>
              <a:t>API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22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documentation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70697" y="4799329"/>
            <a:ext cx="2758440" cy="1444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80365">
              <a:lnSpc>
                <a:spcPct val="100200"/>
              </a:lnSpc>
              <a:spcBef>
                <a:spcPts val="90"/>
              </a:spcBef>
            </a:pP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Pilot</a:t>
            </a:r>
            <a:r>
              <a:rPr dirty="0" sz="25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dirty="0" sz="2550" spc="-2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550" spc="-10" b="1">
                <a:solidFill>
                  <a:srgbClr val="252525"/>
                </a:solidFill>
                <a:latin typeface="Calibri"/>
                <a:cs typeface="Calibri"/>
              </a:rPr>
              <a:t>audit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Three</a:t>
            </a:r>
            <a:r>
              <a:rPr dirty="0" sz="22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pilot</a:t>
            </a:r>
            <a:r>
              <a:rPr dirty="0" sz="22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apps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dirty="0" sz="22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585858"/>
                </a:solidFill>
                <a:latin typeface="Calibri"/>
                <a:cs typeface="Calibri"/>
              </a:rPr>
              <a:t>an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independent</a:t>
            </a:r>
            <a:r>
              <a:rPr dirty="0" sz="2250" spc="-1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security</a:t>
            </a:r>
            <a:endParaRPr sz="2250">
              <a:latin typeface="Calibri"/>
              <a:cs typeface="Calibri"/>
            </a:endParaRPr>
          </a:p>
          <a:p>
            <a:pPr marL="987425">
              <a:lnSpc>
                <a:spcPct val="100000"/>
              </a:lnSpc>
            </a:pP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review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049139" y="4799329"/>
            <a:ext cx="2617470" cy="1444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00200"/>
              </a:lnSpc>
              <a:spcBef>
                <a:spcPts val="90"/>
              </a:spcBef>
            </a:pPr>
            <a:r>
              <a:rPr dirty="0" sz="2550" b="1">
                <a:solidFill>
                  <a:srgbClr val="252525"/>
                </a:solidFill>
                <a:latin typeface="Calibri"/>
                <a:cs typeface="Calibri"/>
              </a:rPr>
              <a:t>Launch paid </a:t>
            </a:r>
            <a:r>
              <a:rPr dirty="0" sz="2550" spc="-20" b="1">
                <a:solidFill>
                  <a:srgbClr val="252525"/>
                </a:solidFill>
                <a:latin typeface="Calibri"/>
                <a:cs typeface="Calibri"/>
              </a:rPr>
              <a:t>plan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Dashboard,</a:t>
            </a:r>
            <a:r>
              <a:rPr dirty="0" sz="2250" spc="-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breach</a:t>
            </a:r>
            <a:r>
              <a:rPr dirty="0" sz="2250" spc="-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585858"/>
                </a:solidFill>
                <a:latin typeface="Calibri"/>
                <a:cs typeface="Calibri"/>
              </a:rPr>
              <a:t>re-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check</a:t>
            </a:r>
            <a:r>
              <a:rPr dirty="0" sz="225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alerts,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MFA</a:t>
            </a:r>
            <a:r>
              <a:rPr dirty="0" sz="225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585858"/>
                </a:solidFill>
                <a:latin typeface="Calibri"/>
                <a:cs typeface="Calibri"/>
              </a:rPr>
              <a:t>and </a:t>
            </a:r>
            <a:r>
              <a:rPr dirty="0" sz="2250">
                <a:solidFill>
                  <a:srgbClr val="585858"/>
                </a:solidFill>
                <a:latin typeface="Calibri"/>
                <a:cs typeface="Calibri"/>
              </a:rPr>
              <a:t>passkey </a:t>
            </a:r>
            <a:r>
              <a:rPr dirty="0" sz="2250" spc="-10">
                <a:solidFill>
                  <a:srgbClr val="585858"/>
                </a:solidFill>
                <a:latin typeface="Calibri"/>
                <a:cs typeface="Calibri"/>
              </a:rPr>
              <a:t>prompts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71600" y="7818119"/>
            <a:ext cx="15539085" cy="1028700"/>
          </a:xfrm>
          <a:custGeom>
            <a:avLst/>
            <a:gdLst/>
            <a:ahLst/>
            <a:cxnLst/>
            <a:rect l="l" t="t" r="r" b="b"/>
            <a:pathLst>
              <a:path w="15539085" h="1028700">
                <a:moveTo>
                  <a:pt x="15488792" y="1028700"/>
                </a:moveTo>
                <a:lnTo>
                  <a:pt x="51435" y="1028700"/>
                </a:lnTo>
                <a:lnTo>
                  <a:pt x="31423" y="1024654"/>
                </a:lnTo>
                <a:lnTo>
                  <a:pt x="15073" y="1013626"/>
                </a:lnTo>
                <a:lnTo>
                  <a:pt x="4045" y="997276"/>
                </a:lnTo>
                <a:lnTo>
                  <a:pt x="0" y="977265"/>
                </a:lnTo>
                <a:lnTo>
                  <a:pt x="0" y="51435"/>
                </a:lnTo>
                <a:lnTo>
                  <a:pt x="4045" y="31423"/>
                </a:lnTo>
                <a:lnTo>
                  <a:pt x="15073" y="15073"/>
                </a:lnTo>
                <a:lnTo>
                  <a:pt x="31423" y="4045"/>
                </a:lnTo>
                <a:lnTo>
                  <a:pt x="51435" y="0"/>
                </a:lnTo>
                <a:lnTo>
                  <a:pt x="15488792" y="0"/>
                </a:lnTo>
                <a:lnTo>
                  <a:pt x="15508804" y="4045"/>
                </a:lnTo>
                <a:lnTo>
                  <a:pt x="15525154" y="15073"/>
                </a:lnTo>
                <a:lnTo>
                  <a:pt x="15536182" y="31423"/>
                </a:lnTo>
                <a:lnTo>
                  <a:pt x="15538995" y="45340"/>
                </a:lnTo>
                <a:lnTo>
                  <a:pt x="15538995" y="983359"/>
                </a:lnTo>
                <a:lnTo>
                  <a:pt x="15536182" y="997276"/>
                </a:lnTo>
                <a:lnTo>
                  <a:pt x="15525154" y="1013626"/>
                </a:lnTo>
                <a:lnTo>
                  <a:pt x="15508804" y="1024654"/>
                </a:lnTo>
                <a:lnTo>
                  <a:pt x="15488792" y="102870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580755" y="8062594"/>
            <a:ext cx="1112202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7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ask:</a:t>
            </a:r>
            <a:r>
              <a:rPr dirty="0" sz="27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₹5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lakh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seed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funding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three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pilot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partners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(campus</a:t>
            </a:r>
            <a:r>
              <a:rPr dirty="0" sz="2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startup</a:t>
            </a:r>
            <a:r>
              <a:rPr dirty="0" sz="2700" spc="-10">
                <a:solidFill>
                  <a:srgbClr val="FFFFFF"/>
                </a:solidFill>
                <a:latin typeface="Calibri"/>
                <a:cs typeface="Calibri"/>
              </a:rPr>
              <a:t> apps)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43" y="9321926"/>
            <a:ext cx="18292445" cy="961390"/>
            <a:chOff x="-4743" y="9321926"/>
            <a:chExt cx="18292445" cy="961390"/>
          </a:xfrm>
        </p:grpSpPr>
        <p:sp>
          <p:nvSpPr>
            <p:cNvPr id="4" name="object 4"/>
            <p:cNvSpPr/>
            <p:nvPr/>
          </p:nvSpPr>
          <p:spPr>
            <a:xfrm>
              <a:off x="837" y="9331414"/>
              <a:ext cx="18286730" cy="951865"/>
            </a:xfrm>
            <a:custGeom>
              <a:avLst/>
              <a:gdLst/>
              <a:ahLst/>
              <a:cxnLst/>
              <a:rect l="l" t="t" r="r" b="b"/>
              <a:pathLst>
                <a:path w="18286730" h="951865">
                  <a:moveTo>
                    <a:pt x="18286324" y="951815"/>
                  </a:moveTo>
                  <a:lnTo>
                    <a:pt x="0" y="951815"/>
                  </a:lnTo>
                  <a:lnTo>
                    <a:pt x="0" y="0"/>
                  </a:lnTo>
                  <a:lnTo>
                    <a:pt x="18286324" y="0"/>
                  </a:lnTo>
                  <a:lnTo>
                    <a:pt x="18286324" y="951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326670"/>
              <a:ext cx="18282920" cy="951865"/>
            </a:xfrm>
            <a:custGeom>
              <a:avLst/>
              <a:gdLst/>
              <a:ahLst/>
              <a:cxnLst/>
              <a:rect l="l" t="t" r="r" b="b"/>
              <a:pathLst>
                <a:path w="18282920" h="951865">
                  <a:moveTo>
                    <a:pt x="0" y="951815"/>
                  </a:moveTo>
                  <a:lnTo>
                    <a:pt x="18282400" y="951815"/>
                  </a:lnTo>
                  <a:lnTo>
                    <a:pt x="18282400" y="0"/>
                  </a:lnTo>
                  <a:lnTo>
                    <a:pt x="0" y="0"/>
                  </a:lnTo>
                </a:path>
              </a:pathLst>
            </a:custGeom>
            <a:ln w="9487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14"/>
              <a:t>DTIE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639143" y="9643070"/>
            <a:ext cx="205740" cy="424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75"/>
              </a:lnSpc>
            </a:pPr>
            <a:r>
              <a:rPr dirty="0" spc="-160"/>
              <a:t>Department</a:t>
            </a:r>
            <a:r>
              <a:rPr dirty="0" spc="-290"/>
              <a:t> </a:t>
            </a:r>
            <a:r>
              <a:rPr dirty="0" spc="-100"/>
              <a:t>of</a:t>
            </a:r>
            <a:r>
              <a:rPr dirty="0" spc="-285"/>
              <a:t> </a:t>
            </a:r>
            <a:r>
              <a:rPr dirty="0" spc="-145"/>
              <a:t>Multi</a:t>
            </a:r>
            <a:r>
              <a:rPr dirty="0" spc="-290"/>
              <a:t> </a:t>
            </a:r>
            <a:r>
              <a:rPr dirty="0" spc="-165"/>
              <a:t>Disciplinary</a:t>
            </a:r>
            <a:r>
              <a:rPr dirty="0" spc="-285"/>
              <a:t> </a:t>
            </a:r>
            <a:r>
              <a:rPr dirty="0" spc="-160"/>
              <a:t>Innovation</a:t>
            </a:r>
            <a:r>
              <a:rPr dirty="0" spc="-285"/>
              <a:t> </a:t>
            </a:r>
            <a:r>
              <a:rPr dirty="0" spc="-25"/>
              <a:t>&amp;</a:t>
            </a:r>
            <a:r>
              <a:rPr dirty="0" spc="-290"/>
              <a:t> </a:t>
            </a:r>
            <a:r>
              <a:rPr dirty="0" spc="-145"/>
              <a:t>Entrepreneurship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Lahiri B</dc:creator>
  <cp:keywords>DAHXtO9x2fc,BAGvdL0QP8Y</cp:keywords>
  <dc:title>VISION A world where no one loses an account to a password they were told was strong. Strength should mean hard to guess, not hard to type.</dc:title>
  <dcterms:created xsi:type="dcterms:W3CDTF">2026-10-11T17:56:32Z</dcterms:created>
  <dcterms:modified xsi:type="dcterms:W3CDTF">2026-10-11T17:56:32Z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2026-10-11T00:00:00Z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2026-10-11T00:00:00Z</vt:filetime>
  </property>
  <property fmtid="{D5CDD505-2E9C-101B-9397-08002B2CF9AE}" pid="6" name="Producer">
    <vt:lpwstr>Canva</vt:lpwstr>
  </property>
</Properties>
</file>